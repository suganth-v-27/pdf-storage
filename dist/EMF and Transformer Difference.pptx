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97" r:id="rId3"/>
    <p:sldId id="303" r:id="rId4"/>
    <p:sldId id="315" r:id="rId5"/>
    <p:sldId id="316" r:id="rId6"/>
    <p:sldId id="317" r:id="rId7"/>
    <p:sldId id="318" r:id="rId8"/>
    <p:sldId id="293" r:id="rId9"/>
    <p:sldId id="292" r:id="rId10"/>
    <p:sldId id="291" r:id="rId11"/>
    <p:sldId id="259" r:id="rId12"/>
    <p:sldId id="260" r:id="rId14"/>
    <p:sldId id="261" r:id="rId15"/>
    <p:sldId id="584" r:id="rId16"/>
    <p:sldId id="587" r:id="rId17"/>
    <p:sldId id="588" r:id="rId18"/>
    <p:sldId id="590" r:id="rId19"/>
    <p:sldId id="1575" r:id="rId20"/>
    <p:sldId id="265" r:id="rId21"/>
    <p:sldId id="266" r:id="rId22"/>
    <p:sldId id="267" r:id="rId23"/>
    <p:sldId id="314" r:id="rId24"/>
    <p:sldId id="311" r:id="rId25"/>
    <p:sldId id="269" r:id="rId26"/>
    <p:sldId id="270" r:id="rId27"/>
    <p:sldId id="271" r:id="rId28"/>
    <p:sldId id="312" r:id="rId29"/>
    <p:sldId id="645" r:id="rId30"/>
    <p:sldId id="646" r:id="rId31"/>
    <p:sldId id="647" r:id="rId32"/>
    <p:sldId id="1576" r:id="rId33"/>
    <p:sldId id="1577" r:id="rId34"/>
    <p:sldId id="1578" r:id="rId35"/>
    <p:sldId id="1579" r:id="rId36"/>
    <p:sldId id="1587" r:id="rId37"/>
    <p:sldId id="1582" r:id="rId38"/>
    <p:sldId id="1583" r:id="rId39"/>
    <p:sldId id="1581" r:id="rId40"/>
    <p:sldId id="1584" r:id="rId41"/>
    <p:sldId id="1585" r:id="rId42"/>
    <p:sldId id="1586" r:id="rId43"/>
    <p:sldId id="1580" r:id="rId44"/>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203"/>
    <p:restoredTop sz="86820"/>
  </p:normalViewPr>
  <p:slideViewPr>
    <p:cSldViewPr snapToGrid="0" showGuides="1">
      <p:cViewPr varScale="1">
        <p:scale>
          <a:sx n="74" d="100"/>
          <a:sy n="74" d="100"/>
        </p:scale>
        <p:origin x="1733" y="77"/>
      </p:cViewPr>
      <p:guideLst>
        <p:guide orient="horz" pos="2160"/>
        <p:guide pos="287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16.wmf"/><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493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2493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2"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2493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2493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2493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en-US" sz="1200" b="0" dirty="0"/>
            </a:fld>
            <a:endParaRPr lang="en-US" altLang="en-US"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b="0" dirty="0"/>
            </a:fld>
            <a:endParaRPr lang="en-US" altLang="en-US" sz="1200" b="0" dirty="0"/>
          </a:p>
        </p:txBody>
      </p:sp>
      <p:sp>
        <p:nvSpPr>
          <p:cNvPr id="13315" name="Rectangle 2"/>
          <p:cNvSpPr>
            <a:spLocks noRot="1" noTextEdit="1"/>
          </p:cNvSpPr>
          <p:nvPr>
            <p:ph type="sldImg"/>
          </p:nvPr>
        </p:nvSpPr>
        <p:spPr>
          <a:ln/>
        </p:spPr>
      </p:sp>
      <p:sp>
        <p:nvSpPr>
          <p:cNvPr id="13316" name="Rectangle 3"/>
          <p:cNvSpPr>
            <a:spLocks noGrp="1"/>
          </p:cNvSpPr>
          <p:nvPr>
            <p:ph type="body" idx="1"/>
          </p:nvPr>
        </p:nvSpPr>
        <p:spPr>
          <a:ln/>
        </p:spPr>
        <p:txBody>
          <a:bodyPr wrap="square" lIns="91440" tIns="45720" rIns="91440" bIns="45720" anchor="t" anchorCtr="0"/>
          <a:p>
            <a:pPr lvl="0" eaLnBrk="1" hangingPunct="1"/>
            <a:r>
              <a:rPr lang="en-US" altLang="en-US" dirty="0"/>
              <a:t>Figure 29-1. Faraday’s experiment to induce an emf.</a:t>
            </a:r>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b="0" dirty="0"/>
            </a:fld>
            <a:endParaRPr lang="en-US" altLang="en-US" sz="1200" b="0" dirty="0"/>
          </a:p>
        </p:txBody>
      </p:sp>
      <p:sp>
        <p:nvSpPr>
          <p:cNvPr id="15363" name="Rectangle 2"/>
          <p:cNvSpPr>
            <a:spLocks noRot="1" noTextEdit="1"/>
          </p:cNvSpPr>
          <p:nvPr>
            <p:ph type="sldImg"/>
          </p:nvPr>
        </p:nvSpPr>
        <p:spPr>
          <a:ln/>
        </p:spPr>
      </p:sp>
      <p:sp>
        <p:nvSpPr>
          <p:cNvPr id="15364" name="Rectangle 3"/>
          <p:cNvSpPr>
            <a:spLocks noGrp="1"/>
          </p:cNvSpPr>
          <p:nvPr>
            <p:ph type="body" idx="1"/>
          </p:nvPr>
        </p:nvSpPr>
        <p:spPr>
          <a:ln/>
        </p:spPr>
        <p:txBody>
          <a:bodyPr wrap="square" lIns="91440" tIns="45720" rIns="91440" bIns="45720" anchor="t" anchorCtr="0"/>
          <a:p>
            <a:pPr lvl="0" eaLnBrk="1" hangingPunct="1"/>
            <a:r>
              <a:rPr lang="en-US" altLang="en-US" dirty="0"/>
              <a:t>Figure 29-2. (a) A current is induced when a magnet is moved toward a coil, momentarily increasing the magnetic field through the coil. (b) The induced current is opposite when the magnet is moved away from the coil ( decreases). Note that the galvanometer zero is at the center of the scale and the needle deflects left or right, depending on the direction of the current. In (c), no current is induced if the magnet does not move relative to the coil. It is the relative motion that counts here: the magnet can be held steady and the coil moved, which also induces an emf.</a:t>
            </a:r>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Rot="1" noTextEdit="1"/>
          </p:cNvSpPr>
          <p:nvPr>
            <p:ph type="sldImg"/>
          </p:nvPr>
        </p:nvSpPr>
        <p:spPr>
          <a:ln/>
        </p:spPr>
      </p:sp>
      <p:sp>
        <p:nvSpPr>
          <p:cNvPr id="22531" name="Rectangle 3"/>
          <p:cNvSpPr/>
          <p:nvPr>
            <p:ph type="body" idx="1"/>
          </p:nvPr>
        </p:nvSpPr>
        <p:spPr>
          <a:ln/>
        </p:spPr>
        <p:txBody>
          <a:bodyPr wrap="square" lIns="91440" tIns="45720" rIns="91440" bIns="45720" anchor="t" anchorCtr="0"/>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b="0" dirty="0"/>
            </a:fld>
            <a:endParaRPr lang="en-US" altLang="en-US" sz="1200" b="0" dirty="0"/>
          </a:p>
        </p:txBody>
      </p:sp>
      <p:sp>
        <p:nvSpPr>
          <p:cNvPr id="25603" name="Rectangle 2"/>
          <p:cNvSpPr>
            <a:spLocks noRot="1" noTextEdit="1"/>
          </p:cNvSpPr>
          <p:nvPr>
            <p:ph type="sldImg"/>
          </p:nvPr>
        </p:nvSpPr>
        <p:spPr>
          <a:ln/>
        </p:spPr>
      </p:sp>
      <p:sp>
        <p:nvSpPr>
          <p:cNvPr id="25604" name="Rectangle 3"/>
          <p:cNvSpPr>
            <a:spLocks noGrp="1"/>
          </p:cNvSpPr>
          <p:nvPr>
            <p:ph type="body" idx="1"/>
          </p:nvPr>
        </p:nvSpPr>
        <p:spPr>
          <a:ln/>
        </p:spPr>
        <p:txBody>
          <a:bodyPr wrap="square" lIns="91440" tIns="45720" rIns="91440" bIns="45720" anchor="t" anchorCtr="0"/>
          <a:p>
            <a:pPr lvl="0" eaLnBrk="1" hangingPunct="1"/>
            <a:r>
              <a:rPr lang="en-US" altLang="en-US" dirty="0"/>
              <a:t>Figure 29-6. A current can be induced by changing the area of the coil, even though </a:t>
            </a:r>
            <a:r>
              <a:rPr lang="en-US" altLang="en-US" i="1" dirty="0"/>
              <a:t>B </a:t>
            </a:r>
            <a:r>
              <a:rPr lang="en-US" altLang="en-US" dirty="0"/>
              <a:t>doesn’t change. Here the area is reduced by pulling on its sides: the </a:t>
            </a:r>
            <a:r>
              <a:rPr lang="en-US" altLang="en-US" i="1" dirty="0"/>
              <a:t>flux </a:t>
            </a:r>
            <a:r>
              <a:rPr lang="en-US" altLang="en-US" dirty="0"/>
              <a:t>through the coil is reduced as we go from (a) to (b). Here the brief induced current acts in the direction shown so as to try to maintain the original flux (</a:t>
            </a:r>
            <a:r>
              <a:rPr lang="el-GR" altLang="en-US" dirty="0">
                <a:cs typeface="Arial" panose="020B0604020202020204" pitchFamily="34" charset="0"/>
              </a:rPr>
              <a:t>Φ</a:t>
            </a:r>
            <a:r>
              <a:rPr lang="en-US" altLang="en-US" dirty="0">
                <a:cs typeface="Arial" panose="020B0604020202020204" pitchFamily="34" charset="0"/>
              </a:rPr>
              <a:t> = BA)</a:t>
            </a:r>
            <a:r>
              <a:rPr lang="en-US" altLang="en-US" dirty="0"/>
              <a:t> by producing its own magnetic field into the page. That is, as the area </a:t>
            </a:r>
            <a:r>
              <a:rPr lang="en-US" altLang="en-US" i="1" dirty="0"/>
              <a:t>A </a:t>
            </a:r>
            <a:r>
              <a:rPr lang="en-US" altLang="en-US" dirty="0"/>
              <a:t>decreases, the current acts to increase </a:t>
            </a:r>
            <a:r>
              <a:rPr lang="en-US" altLang="en-US" i="1" dirty="0"/>
              <a:t>B </a:t>
            </a:r>
            <a:r>
              <a:rPr lang="en-US" altLang="en-US" dirty="0"/>
              <a:t>in the original (inward) direction.</a:t>
            </a: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b="0" dirty="0"/>
            </a:fld>
            <a:endParaRPr lang="en-US" altLang="en-US" sz="1200" b="0" dirty="0"/>
          </a:p>
        </p:txBody>
      </p:sp>
      <p:sp>
        <p:nvSpPr>
          <p:cNvPr id="27651" name="Rectangle 2"/>
          <p:cNvSpPr>
            <a:spLocks noRot="1" noTextEdit="1"/>
          </p:cNvSpPr>
          <p:nvPr>
            <p:ph type="sldImg"/>
          </p:nvPr>
        </p:nvSpPr>
        <p:spPr>
          <a:ln/>
        </p:spPr>
      </p:sp>
      <p:sp>
        <p:nvSpPr>
          <p:cNvPr id="27652" name="Rectangle 3"/>
          <p:cNvSpPr>
            <a:spLocks noGrp="1"/>
          </p:cNvSpPr>
          <p:nvPr>
            <p:ph type="body" idx="1"/>
          </p:nvPr>
        </p:nvSpPr>
        <p:spPr>
          <a:ln/>
        </p:spPr>
        <p:txBody>
          <a:bodyPr wrap="square" lIns="91440" tIns="45720" rIns="91440" bIns="45720" anchor="t" anchorCtr="0"/>
          <a:p>
            <a:pPr lvl="0" eaLnBrk="1" hangingPunct="1"/>
            <a:r>
              <a:rPr lang="en-US" altLang="en-US" dirty="0"/>
              <a:t>Figure 29-7. A current can be induced by rotating a coil in a magnetic field. The flux through the coil changes from (a) to (b) because </a:t>
            </a:r>
            <a:r>
              <a:rPr lang="el-GR" altLang="en-US" dirty="0">
                <a:latin typeface="Times New Roman" panose="02020603050405020304" pitchFamily="18" charset="0"/>
                <a:cs typeface="Times New Roman" panose="02020603050405020304" pitchFamily="18" charset="0"/>
              </a:rPr>
              <a:t>θ</a:t>
            </a:r>
            <a:r>
              <a:rPr lang="en-US" altLang="en-US" dirty="0"/>
              <a:t> (in Eq. 29–1a, </a:t>
            </a:r>
            <a:r>
              <a:rPr lang="el-GR" altLang="en-US" dirty="0">
                <a:cs typeface="Arial" panose="020B0604020202020204" pitchFamily="34" charset="0"/>
              </a:rPr>
              <a:t>Φ</a:t>
            </a:r>
            <a:r>
              <a:rPr lang="en-US" altLang="en-US" dirty="0">
                <a:cs typeface="Arial" panose="020B0604020202020204" pitchFamily="34" charset="0"/>
              </a:rPr>
              <a:t> = BA cos </a:t>
            </a:r>
            <a:r>
              <a:rPr lang="el-GR" altLang="en-US" dirty="0">
                <a:latin typeface="Times New Roman" panose="02020603050405020304" pitchFamily="18" charset="0"/>
                <a:cs typeface="Times New Roman" panose="02020603050405020304" pitchFamily="18" charset="0"/>
              </a:rPr>
              <a:t>θ</a:t>
            </a:r>
            <a:r>
              <a:rPr lang="en-US" altLang="en-US" dirty="0">
                <a:latin typeface="Times New Roman" panose="02020603050405020304" pitchFamily="18" charset="0"/>
                <a:cs typeface="Times New Roman" panose="02020603050405020304" pitchFamily="18" charset="0"/>
              </a:rPr>
              <a:t>)</a:t>
            </a:r>
            <a:r>
              <a:rPr lang="en-US" altLang="en-US" dirty="0"/>
              <a:t> went from 0° (cos </a:t>
            </a:r>
            <a:r>
              <a:rPr lang="el-GR" altLang="en-US" dirty="0">
                <a:latin typeface="Times New Roman" panose="02020603050405020304" pitchFamily="18" charset="0"/>
                <a:cs typeface="Times New Roman" panose="02020603050405020304" pitchFamily="18" charset="0"/>
              </a:rPr>
              <a:t>θ</a:t>
            </a:r>
            <a:r>
              <a:rPr lang="en-US" altLang="en-US" dirty="0"/>
              <a:t> = 1) to 90° (cos </a:t>
            </a:r>
            <a:r>
              <a:rPr lang="el-GR" altLang="en-US" dirty="0">
                <a:latin typeface="Times New Roman" panose="02020603050405020304" pitchFamily="18" charset="0"/>
                <a:cs typeface="Times New Roman" panose="02020603050405020304" pitchFamily="18" charset="0"/>
              </a:rPr>
              <a:t>θ</a:t>
            </a:r>
            <a:r>
              <a:rPr lang="en-US" altLang="en-US" dirty="0"/>
              <a:t> = 0).</a:t>
            </a:r>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b="0" dirty="0"/>
            </a:fld>
            <a:endParaRPr lang="en-US" altLang="en-US" sz="1200" b="0" dirty="0"/>
          </a:p>
        </p:txBody>
      </p:sp>
      <p:sp>
        <p:nvSpPr>
          <p:cNvPr id="30723" name="Rectangle 2"/>
          <p:cNvSpPr>
            <a:spLocks noRot="1" noTextEdit="1"/>
          </p:cNvSpPr>
          <p:nvPr>
            <p:ph type="sldImg"/>
          </p:nvPr>
        </p:nvSpPr>
        <p:spPr>
          <a:ln/>
        </p:spPr>
      </p:sp>
      <p:sp>
        <p:nvSpPr>
          <p:cNvPr id="30724" name="Rectangle 3"/>
          <p:cNvSpPr>
            <a:spLocks noGrp="1"/>
          </p:cNvSpPr>
          <p:nvPr>
            <p:ph type="body" idx="1"/>
          </p:nvPr>
        </p:nvSpPr>
        <p:spPr>
          <a:ln/>
        </p:spPr>
        <p:txBody>
          <a:bodyPr wrap="square" lIns="91440" tIns="45720" rIns="91440" bIns="45720" anchor="t" anchorCtr="0"/>
          <a:p>
            <a:pPr lvl="0" eaLnBrk="1" hangingPunct="1"/>
            <a:r>
              <a:rPr lang="en-US" altLang="en-US" dirty="0"/>
              <a:t>Solution: a. The flux goes from BA to zero in 0.100 s, so </a:t>
            </a:r>
            <a:r>
              <a:rPr lang="en-US" altLang="en-US" dirty="0">
                <a:sym typeface="Symbol" panose="05050102010706020507" pitchFamily="18" charset="2"/>
              </a:rPr>
              <a:t>  </a:t>
            </a:r>
            <a:r>
              <a:rPr lang="el-GR" altLang="en-US" dirty="0">
                <a:latin typeface="Times New Roman" panose="02020603050405020304" pitchFamily="18" charset="0"/>
                <a:cs typeface="Times New Roman" panose="02020603050405020304" pitchFamily="18" charset="0"/>
              </a:rPr>
              <a:t>Φ</a:t>
            </a:r>
            <a:r>
              <a:rPr lang="el-GR" altLang="en-US" b="1" baseline="-25000" dirty="0">
                <a:latin typeface="Times New Roman" panose="02020603050405020304" pitchFamily="18" charset="0"/>
                <a:cs typeface="Times New Roman" panose="02020603050405020304" pitchFamily="18" charset="0"/>
              </a:rPr>
              <a:t>B</a:t>
            </a:r>
            <a:r>
              <a:rPr lang="en-US" altLang="en-US" dirty="0">
                <a:cs typeface="Arial" panose="020B0604020202020204" pitchFamily="34" charset="0"/>
              </a:rPr>
              <a:t>/</a:t>
            </a:r>
            <a:r>
              <a:rPr lang="en-US" altLang="en-US" dirty="0">
                <a:cs typeface="Arial" panose="020B0604020202020204" pitchFamily="34" charset="0"/>
                <a:sym typeface="Symbol" panose="05050102010706020507" pitchFamily="18" charset="2"/>
              </a:rPr>
              <a:t>  </a:t>
            </a:r>
            <a:r>
              <a:rPr lang="en-US" altLang="en-US" dirty="0">
                <a:cs typeface="Arial" panose="020B0604020202020204" pitchFamily="34" charset="0"/>
              </a:rPr>
              <a:t>t = BA/t = -1.50 x 10</a:t>
            </a:r>
            <a:r>
              <a:rPr lang="en-US" altLang="en-US" baseline="30000" dirty="0">
                <a:cs typeface="Arial" panose="020B0604020202020204" pitchFamily="34" charset="0"/>
              </a:rPr>
              <a:t>-2</a:t>
            </a:r>
            <a:r>
              <a:rPr lang="en-US" altLang="en-US" dirty="0">
                <a:cs typeface="Arial" panose="020B0604020202020204" pitchFamily="34" charset="0"/>
              </a:rPr>
              <a:t> Wb/s.</a:t>
            </a:r>
            <a:endParaRPr lang="en-US" altLang="en-US" dirty="0">
              <a:cs typeface="Arial" panose="020B0604020202020204" pitchFamily="34" charset="0"/>
            </a:endParaRPr>
          </a:p>
          <a:p>
            <a:pPr lvl="0" eaLnBrk="1" hangingPunct="1"/>
            <a:r>
              <a:rPr lang="en-US" altLang="en-US" dirty="0">
                <a:cs typeface="Arial" panose="020B0604020202020204" pitchFamily="34" charset="0"/>
              </a:rPr>
              <a:t>b. The emf is –N </a:t>
            </a:r>
            <a:r>
              <a:rPr lang="en-US" altLang="en-US" dirty="0">
                <a:sym typeface="Symbol" panose="05050102010706020507" pitchFamily="18" charset="2"/>
              </a:rPr>
              <a:t>  </a:t>
            </a:r>
            <a:r>
              <a:rPr lang="el-GR" altLang="en-US" dirty="0">
                <a:latin typeface="Times New Roman" panose="02020603050405020304" pitchFamily="18" charset="0"/>
                <a:cs typeface="Times New Roman" panose="02020603050405020304" pitchFamily="18" charset="0"/>
              </a:rPr>
              <a:t>Φ</a:t>
            </a:r>
            <a:r>
              <a:rPr lang="el-GR" altLang="en-US" b="1" baseline="-25000" dirty="0">
                <a:latin typeface="Times New Roman" panose="02020603050405020304" pitchFamily="18" charset="0"/>
                <a:cs typeface="Times New Roman" panose="02020603050405020304" pitchFamily="18" charset="0"/>
              </a:rPr>
              <a:t>B</a:t>
            </a:r>
            <a:r>
              <a:rPr lang="en-US" altLang="en-US" dirty="0">
                <a:cs typeface="Arial" panose="020B0604020202020204" pitchFamily="34" charset="0"/>
              </a:rPr>
              <a:t>/</a:t>
            </a:r>
            <a:r>
              <a:rPr lang="en-US" altLang="en-US" dirty="0">
                <a:cs typeface="Arial" panose="020B0604020202020204" pitchFamily="34" charset="0"/>
                <a:sym typeface="Symbol" panose="05050102010706020507" pitchFamily="18" charset="2"/>
              </a:rPr>
              <a:t>  d</a:t>
            </a:r>
            <a:r>
              <a:rPr lang="en-US" altLang="en-US" dirty="0">
                <a:cs typeface="Arial" panose="020B0604020202020204" pitchFamily="34" charset="0"/>
              </a:rPr>
              <a:t>t = 1.50 V. The current is emf/R = 15.0 mA.</a:t>
            </a:r>
            <a:endParaRPr lang="en-US" altLang="en-US" dirty="0">
              <a:cs typeface="Arial" panose="020B0604020202020204" pitchFamily="34" charset="0"/>
            </a:endParaRPr>
          </a:p>
          <a:p>
            <a:pPr lvl="0" eaLnBrk="1" hangingPunct="1"/>
            <a:r>
              <a:rPr lang="en-US" altLang="en-US" dirty="0">
                <a:cs typeface="Arial" panose="020B0604020202020204" pitchFamily="34" charset="0"/>
              </a:rPr>
              <a:t>c. E = Pt = I</a:t>
            </a:r>
            <a:r>
              <a:rPr lang="en-US" altLang="en-US" baseline="30000" dirty="0">
                <a:cs typeface="Arial" panose="020B0604020202020204" pitchFamily="34" charset="0"/>
              </a:rPr>
              <a:t>2</a:t>
            </a:r>
            <a:r>
              <a:rPr lang="en-US" altLang="en-US" dirty="0">
                <a:cs typeface="Arial" panose="020B0604020202020204" pitchFamily="34" charset="0"/>
              </a:rPr>
              <a:t>Rt = 2.25 x 10</a:t>
            </a:r>
            <a:r>
              <a:rPr lang="en-US" altLang="en-US" baseline="30000" dirty="0">
                <a:cs typeface="Arial" panose="020B0604020202020204" pitchFamily="34" charset="0"/>
              </a:rPr>
              <a:t>-3</a:t>
            </a:r>
            <a:r>
              <a:rPr lang="en-US" altLang="en-US" dirty="0">
                <a:cs typeface="Arial" panose="020B0604020202020204" pitchFamily="34" charset="0"/>
              </a:rPr>
              <a:t> J.</a:t>
            </a:r>
            <a:endParaRPr lang="en-US" altLang="en-US" dirty="0">
              <a:cs typeface="Arial" panose="020B0604020202020204" pitchFamily="34" charset="0"/>
            </a:endParaRPr>
          </a:p>
          <a:p>
            <a:pPr lvl="0" eaLnBrk="1" hangingPunct="1"/>
            <a:r>
              <a:rPr lang="en-US" altLang="en-US" dirty="0">
                <a:cs typeface="Arial" panose="020B0604020202020204" pitchFamily="34" charset="0"/>
              </a:rPr>
              <a:t>d. F = W/d = 0.0450 N.</a:t>
            </a:r>
            <a:endParaRPr lang="el-GR" altLang="en-US" dirty="0">
              <a:ea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b="0" dirty="0"/>
            </a:fld>
            <a:endParaRPr lang="en-US" altLang="en-US" sz="1200" b="0" dirty="0"/>
          </a:p>
        </p:txBody>
      </p:sp>
      <p:sp>
        <p:nvSpPr>
          <p:cNvPr id="32771" name="Rectangle 2"/>
          <p:cNvSpPr>
            <a:spLocks noRot="1" noTextEdit="1"/>
          </p:cNvSpPr>
          <p:nvPr>
            <p:ph type="sldImg"/>
          </p:nvPr>
        </p:nvSpPr>
        <p:spPr>
          <a:ln/>
        </p:spPr>
      </p:sp>
      <p:sp>
        <p:nvSpPr>
          <p:cNvPr id="32772" name="Rectangle 3"/>
          <p:cNvSpPr>
            <a:spLocks noGrp="1"/>
          </p:cNvSpPr>
          <p:nvPr>
            <p:ph type="body" idx="1"/>
          </p:nvPr>
        </p:nvSpPr>
        <p:spPr>
          <a:ln/>
        </p:spPr>
        <p:txBody>
          <a:bodyPr wrap="square" lIns="91440" tIns="45720" rIns="91440" bIns="45720" anchor="t" anchorCtr="0"/>
          <a:p>
            <a:pPr lvl="0" eaLnBrk="1" hangingPunct="1"/>
            <a:r>
              <a:rPr lang="en-US" altLang="en-US" dirty="0"/>
              <a:t>Figure 29-12a. A conducting rod is moved to the right on a U-shaped conductor in a uniform magnetic field B that points out of the page. The induced current is clockwise.</a:t>
            </a:r>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b="0" dirty="0"/>
            </a:fld>
            <a:endParaRPr lang="en-US" altLang="en-US" sz="1200" b="0" dirty="0"/>
          </a:p>
        </p:txBody>
      </p:sp>
      <p:sp>
        <p:nvSpPr>
          <p:cNvPr id="34819" name="Rectangle 2"/>
          <p:cNvSpPr>
            <a:spLocks noRot="1" noTextEdit="1"/>
          </p:cNvSpPr>
          <p:nvPr>
            <p:ph type="sldImg"/>
          </p:nvPr>
        </p:nvSpPr>
        <p:spPr>
          <a:ln/>
        </p:spPr>
      </p:sp>
      <p:sp>
        <p:nvSpPr>
          <p:cNvPr id="34820" name="Rectangle 3"/>
          <p:cNvSpPr>
            <a:spLocks noGrp="1"/>
          </p:cNvSpPr>
          <p:nvPr>
            <p:ph type="body" idx="1"/>
          </p:nvPr>
        </p:nvSpPr>
        <p:spPr>
          <a:ln/>
        </p:spPr>
        <p:txBody>
          <a:bodyPr wrap="square" lIns="91440" tIns="45720" rIns="91440" bIns="45720" anchor="t" anchorCtr="0"/>
          <a:p>
            <a:pPr lvl="0" eaLnBrk="1" hangingPunct="1"/>
            <a:r>
              <a:rPr lang="en-US" altLang="en-US" dirty="0"/>
              <a:t>Figure 29-12b. Upward force on an electron in the metal rod (moving to the right) due to B pointing out of the page.</a:t>
            </a:r>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b="0" dirty="0"/>
            </a:fld>
            <a:endParaRPr lang="en-US" altLang="en-US" sz="1200" b="0" dirty="0"/>
          </a:p>
        </p:txBody>
      </p:sp>
      <p:sp>
        <p:nvSpPr>
          <p:cNvPr id="36867" name="Rectangle 2"/>
          <p:cNvSpPr>
            <a:spLocks noRot="1" noTextEdit="1"/>
          </p:cNvSpPr>
          <p:nvPr>
            <p:ph type="sldImg"/>
          </p:nvPr>
        </p:nvSpPr>
        <p:spPr>
          <a:ln/>
        </p:spPr>
      </p:sp>
      <p:sp>
        <p:nvSpPr>
          <p:cNvPr id="36868" name="Rectangle 3"/>
          <p:cNvSpPr>
            <a:spLocks noGrp="1"/>
          </p:cNvSpPr>
          <p:nvPr>
            <p:ph type="body" idx="1"/>
          </p:nvPr>
        </p:nvSpPr>
        <p:spPr>
          <a:ln/>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b="0" dirty="0"/>
            </a:fld>
            <a:endParaRPr lang="en-US" altLang="en-US" sz="1200" b="0" dirty="0"/>
          </a:p>
        </p:txBody>
      </p:sp>
      <p:sp>
        <p:nvSpPr>
          <p:cNvPr id="38915" name="Rectangle 2"/>
          <p:cNvSpPr>
            <a:spLocks noRot="1" noTextEdit="1"/>
          </p:cNvSpPr>
          <p:nvPr>
            <p:ph type="sldImg"/>
          </p:nvPr>
        </p:nvSpPr>
        <p:spPr>
          <a:ln/>
        </p:spPr>
      </p:sp>
      <p:sp>
        <p:nvSpPr>
          <p:cNvPr id="38916" name="Rectangle 3"/>
          <p:cNvSpPr>
            <a:spLocks noGrp="1"/>
          </p:cNvSpPr>
          <p:nvPr>
            <p:ph type="body" idx="1"/>
          </p:nvPr>
        </p:nvSpPr>
        <p:spPr>
          <a:ln/>
        </p:spPr>
        <p:txBody>
          <a:bodyPr wrap="square" lIns="91440" tIns="45720" rIns="91440" bIns="45720" anchor="t" anchorCtr="0"/>
          <a:p>
            <a:pPr lvl="0" eaLnBrk="1" hangingPunct="1"/>
            <a:r>
              <a:rPr lang="en-US" altLang="en-US" dirty="0"/>
              <a:t>Solution: E = Blv = 1 V.</a:t>
            </a:r>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ln/>
        </p:spPr>
        <p:txBody>
          <a:bodyPr wrap="square" lIns="91440" tIns="45720" rIns="91440" bIns="45720" anchor="t" anchorCtr="0"/>
          <a:p>
            <a:pPr lvl="0"/>
            <a:endParaRPr dirty="0"/>
          </a:p>
        </p:txBody>
      </p:sp>
      <p:sp>
        <p:nvSpPr>
          <p:cNvPr id="50180"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en-US" altLang="en-US" sz="1200" b="0" dirty="0"/>
            </a:fld>
            <a:endParaRPr lang="en-US" altLang="en-US" sz="1200" b="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0"/>
            <a:ext cx="2057400" cy="6176963"/>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0"/>
            <a:ext cx="6019800" cy="6176963"/>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0"/>
            <a:ext cx="8229600" cy="8382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1027" name="Rectangle 7"/>
          <p:cNvSpPr>
            <a:spLocks noGrp="1" noChangeArrowheads="1"/>
          </p:cNvSpPr>
          <p:nvPr/>
        </p:nvSpPr>
        <p:spPr bwMode="auto">
          <a:xfrm>
            <a:off x="9525" y="6661150"/>
            <a:ext cx="3859213" cy="196850"/>
          </a:xfrm>
          <a:prstGeom prst="rect">
            <a:avLst/>
          </a:prstGeom>
          <a:noFill/>
          <a:ln>
            <a:noFill/>
          </a:ln>
          <a:effectLst/>
        </p:spPr>
        <p:txBody>
          <a:bodyPr/>
          <a:lstStyle>
            <a:lvl1pPr>
              <a:defRPr sz="2800" b="1">
                <a:solidFill>
                  <a:schemeClr val="tx1"/>
                </a:solidFill>
                <a:latin typeface="Arial" panose="020B0604020202020204" pitchFamily="34" charset="0"/>
              </a:defRPr>
            </a:lvl1pPr>
            <a:lvl2pPr marL="742950" indent="-285750">
              <a:defRPr sz="2800" b="1">
                <a:solidFill>
                  <a:schemeClr val="tx1"/>
                </a:solidFill>
                <a:latin typeface="Arial" panose="020B0604020202020204" pitchFamily="34" charset="0"/>
              </a:defRPr>
            </a:lvl2pPr>
            <a:lvl3pPr marL="1143000" indent="-228600">
              <a:defRPr sz="2800" b="1">
                <a:solidFill>
                  <a:schemeClr val="tx1"/>
                </a:solidFill>
                <a:latin typeface="Arial" panose="020B0604020202020204" pitchFamily="34" charset="0"/>
              </a:defRPr>
            </a:lvl3pPr>
            <a:lvl4pPr marL="1600200" indent="-228600">
              <a:defRPr sz="2800" b="1">
                <a:solidFill>
                  <a:schemeClr val="tx1"/>
                </a:solidFill>
                <a:latin typeface="Arial" panose="020B0604020202020204" pitchFamily="34" charset="0"/>
              </a:defRPr>
            </a:lvl4pPr>
            <a:lvl5pPr marL="2057400" indent="-228600">
              <a:defRPr sz="2800" b="1">
                <a:solidFill>
                  <a:schemeClr val="tx1"/>
                </a:solidFill>
                <a:latin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t>Copyright © 2009 Pearson Education, Inc.</a:t>
            </a:r>
            <a:endPar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600" b="1" kern="1200">
          <a:solidFill>
            <a:schemeClr val="accent2"/>
          </a:solidFill>
          <a:latin typeface="+mj-lt"/>
          <a:ea typeface="+mj-ea"/>
          <a:cs typeface="+mj-cs"/>
        </a:defRPr>
      </a:lvl1pPr>
      <a:lvl2pPr algn="ctr" rtl="0" eaLnBrk="0" fontAlgn="base" hangingPunct="0">
        <a:spcBef>
          <a:spcPct val="0"/>
        </a:spcBef>
        <a:spcAft>
          <a:spcPct val="0"/>
        </a:spcAft>
        <a:defRPr sz="3600" b="1">
          <a:solidFill>
            <a:schemeClr val="accent2"/>
          </a:solidFill>
          <a:latin typeface="Arial" panose="020B0604020202020204" pitchFamily="34" charset="0"/>
        </a:defRPr>
      </a:lvl2pPr>
      <a:lvl3pPr algn="ctr" rtl="0" eaLnBrk="0" fontAlgn="base" hangingPunct="0">
        <a:spcBef>
          <a:spcPct val="0"/>
        </a:spcBef>
        <a:spcAft>
          <a:spcPct val="0"/>
        </a:spcAft>
        <a:defRPr sz="3600" b="1">
          <a:solidFill>
            <a:schemeClr val="accent2"/>
          </a:solidFill>
          <a:latin typeface="Arial" panose="020B0604020202020204" pitchFamily="34" charset="0"/>
        </a:defRPr>
      </a:lvl3pPr>
      <a:lvl4pPr algn="ctr" rtl="0" eaLnBrk="0" fontAlgn="base" hangingPunct="0">
        <a:spcBef>
          <a:spcPct val="0"/>
        </a:spcBef>
        <a:spcAft>
          <a:spcPct val="0"/>
        </a:spcAft>
        <a:defRPr sz="3600" b="1">
          <a:solidFill>
            <a:schemeClr val="accent2"/>
          </a:solidFill>
          <a:latin typeface="Arial" panose="020B0604020202020204" pitchFamily="34" charset="0"/>
        </a:defRPr>
      </a:lvl4pPr>
      <a:lvl5pPr algn="ctr" rtl="0" eaLnBrk="0" fontAlgn="base" hangingPunct="0">
        <a:spcBef>
          <a:spcPct val="0"/>
        </a:spcBef>
        <a:spcAft>
          <a:spcPct val="0"/>
        </a:spcAft>
        <a:defRPr sz="3600" b="1">
          <a:solidFill>
            <a:schemeClr val="accent2"/>
          </a:solidFill>
          <a:latin typeface="Arial" panose="020B0604020202020204" pitchFamily="34" charset="0"/>
        </a:defRPr>
      </a:lvl5pPr>
      <a:lvl6pPr marL="457200" algn="ctr" rtl="0" fontAlgn="base">
        <a:spcBef>
          <a:spcPct val="0"/>
        </a:spcBef>
        <a:spcAft>
          <a:spcPct val="0"/>
        </a:spcAft>
        <a:defRPr sz="3600" b="1">
          <a:solidFill>
            <a:schemeClr val="accent2"/>
          </a:solidFill>
          <a:latin typeface="Arial" panose="020B0604020202020204" pitchFamily="34" charset="0"/>
        </a:defRPr>
      </a:lvl6pPr>
      <a:lvl7pPr marL="914400" algn="ctr" rtl="0" fontAlgn="base">
        <a:spcBef>
          <a:spcPct val="0"/>
        </a:spcBef>
        <a:spcAft>
          <a:spcPct val="0"/>
        </a:spcAft>
        <a:defRPr sz="3600" b="1">
          <a:solidFill>
            <a:schemeClr val="accent2"/>
          </a:solidFill>
          <a:latin typeface="Arial" panose="020B0604020202020204" pitchFamily="34" charset="0"/>
        </a:defRPr>
      </a:lvl7pPr>
      <a:lvl8pPr marL="1371600" algn="ctr" rtl="0" fontAlgn="base">
        <a:spcBef>
          <a:spcPct val="0"/>
        </a:spcBef>
        <a:spcAft>
          <a:spcPct val="0"/>
        </a:spcAft>
        <a:defRPr sz="3600" b="1">
          <a:solidFill>
            <a:schemeClr val="accent2"/>
          </a:solidFill>
          <a:latin typeface="Arial" panose="020B0604020202020204" pitchFamily="34" charset="0"/>
        </a:defRPr>
      </a:lvl8pPr>
      <a:lvl9pPr marL="1828800" algn="ctr" rtl="0" fontAlgn="base">
        <a:spcBef>
          <a:spcPct val="0"/>
        </a:spcBef>
        <a:spcAft>
          <a:spcPct val="0"/>
        </a:spcAft>
        <a:defRPr sz="3600" b="1">
          <a:solidFill>
            <a:schemeClr val="accent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15.wmf"/><Relationship Id="rId7" Type="http://schemas.openxmlformats.org/officeDocument/2006/relationships/oleObject" Target="../embeddings/oleObject8.bin"/><Relationship Id="rId6" Type="http://schemas.openxmlformats.org/officeDocument/2006/relationships/image" Target="../media/image14.wmf"/><Relationship Id="rId5" Type="http://schemas.openxmlformats.org/officeDocument/2006/relationships/oleObject" Target="../embeddings/oleObject7.bin"/><Relationship Id="rId4" Type="http://schemas.openxmlformats.org/officeDocument/2006/relationships/image" Target="../media/image13.wmf"/><Relationship Id="rId3" Type="http://schemas.openxmlformats.org/officeDocument/2006/relationships/oleObject" Target="../embeddings/oleObject6.bin"/><Relationship Id="rId2" Type="http://schemas.openxmlformats.org/officeDocument/2006/relationships/image" Target="../media/image12.wmf"/><Relationship Id="rId13" Type="http://schemas.openxmlformats.org/officeDocument/2006/relationships/vmlDrawing" Target="../drawings/vmlDrawing5.vml"/><Relationship Id="rId12" Type="http://schemas.openxmlformats.org/officeDocument/2006/relationships/slideLayout" Target="../slideLayouts/slideLayout7.xml"/><Relationship Id="rId11" Type="http://schemas.openxmlformats.org/officeDocument/2006/relationships/tags" Target="../tags/tag1.xml"/><Relationship Id="rId10" Type="http://schemas.openxmlformats.org/officeDocument/2006/relationships/image" Target="../media/image16.wmf"/><Relationship Id="rId1"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9" Type="http://schemas.openxmlformats.org/officeDocument/2006/relationships/image" Target="../media/image21.wmf"/><Relationship Id="rId8" Type="http://schemas.openxmlformats.org/officeDocument/2006/relationships/oleObject" Target="../embeddings/oleObject13.bin"/><Relationship Id="rId7" Type="http://schemas.openxmlformats.org/officeDocument/2006/relationships/image" Target="../media/image20.wmf"/><Relationship Id="rId6" Type="http://schemas.openxmlformats.org/officeDocument/2006/relationships/oleObject" Target="../embeddings/oleObject12.bin"/><Relationship Id="rId5" Type="http://schemas.openxmlformats.org/officeDocument/2006/relationships/image" Target="../media/image19.wmf"/><Relationship Id="rId4" Type="http://schemas.openxmlformats.org/officeDocument/2006/relationships/oleObject" Target="../embeddings/oleObject11.bin"/><Relationship Id="rId3" Type="http://schemas.openxmlformats.org/officeDocument/2006/relationships/image" Target="../media/image18.wmf"/><Relationship Id="rId2" Type="http://schemas.openxmlformats.org/officeDocument/2006/relationships/oleObject" Target="../embeddings/oleObject10.bin"/><Relationship Id="rId11" Type="http://schemas.openxmlformats.org/officeDocument/2006/relationships/vmlDrawing" Target="../drawings/vmlDrawing6.vml"/><Relationship Id="rId10" Type="http://schemas.openxmlformats.org/officeDocument/2006/relationships/slideLayout" Target="../slideLayouts/slideLayout7.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23.wmf"/><Relationship Id="rId2" Type="http://schemas.openxmlformats.org/officeDocument/2006/relationships/oleObject" Target="../embeddings/oleObject14.bin"/><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26.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vmlDrawing" Target="../drawings/vmlDrawing8.vml"/><Relationship Id="rId6" Type="http://schemas.openxmlformats.org/officeDocument/2006/relationships/slideLayout" Target="../slideLayouts/slideLayout6.xml"/><Relationship Id="rId5" Type="http://schemas.openxmlformats.org/officeDocument/2006/relationships/image" Target="../media/image31.wmf"/><Relationship Id="rId4" Type="http://schemas.openxmlformats.org/officeDocument/2006/relationships/oleObject" Target="../embeddings/oleObject16.bin"/><Relationship Id="rId3" Type="http://schemas.openxmlformats.org/officeDocument/2006/relationships/image" Target="../media/image30.wmf"/><Relationship Id="rId2" Type="http://schemas.openxmlformats.org/officeDocument/2006/relationships/oleObject" Target="../embeddings/oleObject15.bin"/><Relationship Id="rId1" Type="http://schemas.openxmlformats.org/officeDocument/2006/relationships/image" Target="../media/image29.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32.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33.jpe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vmlDrawing" Target="../drawings/vmlDrawing9.vml"/><Relationship Id="rId4" Type="http://schemas.openxmlformats.org/officeDocument/2006/relationships/slideLayout" Target="../slideLayouts/slideLayout6.xml"/><Relationship Id="rId3" Type="http://schemas.openxmlformats.org/officeDocument/2006/relationships/image" Target="../media/image35.jpeg"/><Relationship Id="rId2" Type="http://schemas.openxmlformats.org/officeDocument/2006/relationships/image" Target="../media/image34.wmf"/><Relationship Id="rId1" Type="http://schemas.openxmlformats.org/officeDocument/2006/relationships/oleObject" Target="../embeddings/oleObject17.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image" Target="../media/image36.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image" Target="../media/image37.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4.xml"/><Relationship Id="rId7" Type="http://schemas.openxmlformats.org/officeDocument/2006/relationships/image" Target="../media/image40.wmf"/><Relationship Id="rId6" Type="http://schemas.openxmlformats.org/officeDocument/2006/relationships/oleObject" Target="../embeddings/oleObject20.bin"/><Relationship Id="rId5" Type="http://schemas.openxmlformats.org/officeDocument/2006/relationships/image" Target="../media/image39.wmf"/><Relationship Id="rId4" Type="http://schemas.openxmlformats.org/officeDocument/2006/relationships/oleObject" Target="../embeddings/oleObject19.bin"/><Relationship Id="rId3" Type="http://schemas.openxmlformats.org/officeDocument/2006/relationships/image" Target="../media/image38.wmf"/><Relationship Id="rId2" Type="http://schemas.openxmlformats.org/officeDocument/2006/relationships/oleObject" Target="../embeddings/oleObject18.bin"/><Relationship Id="rId10" Type="http://schemas.openxmlformats.org/officeDocument/2006/relationships/vmlDrawing" Target="../drawings/vmlDrawing10.vml"/><Relationship Id="rId1" Type="http://schemas.openxmlformats.org/officeDocument/2006/relationships/image" Target="../media/image3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emf"/></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em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e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e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7.png"/><Relationship Id="rId1" Type="http://schemas.openxmlformats.org/officeDocument/2006/relationships/image" Target="../media/image46.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49.png"/><Relationship Id="rId1" Type="http://schemas.openxmlformats.org/officeDocument/2006/relationships/image" Target="../media/image4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4.png"/><Relationship Id="rId1" Type="http://schemas.openxmlformats.org/officeDocument/2006/relationships/hyperlink" Target="http://www.polytechnichub.com/wp-content/uploads/2014/10/ideal-transformer-pic.gi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title"/>
          </p:nvPr>
        </p:nvSpPr>
        <p:spPr>
          <a:xfrm>
            <a:off x="533400" y="0"/>
            <a:ext cx="7772400" cy="1143000"/>
          </a:xfrm>
          <a:ln/>
        </p:spPr>
        <p:txBody>
          <a:bodyPr vert="horz" wrap="square" lIns="91440" tIns="45720" rIns="91440" bIns="45720" anchor="ctr" anchorCtr="0"/>
          <a:p>
            <a:r>
              <a:rPr lang="en-US" altLang="en-US" dirty="0">
                <a:solidFill>
                  <a:srgbClr val="000000"/>
                </a:solidFill>
              </a:rPr>
              <a:t> </a:t>
            </a:r>
            <a:r>
              <a:rPr lang="en-US" altLang="en-US" dirty="0">
                <a:solidFill>
                  <a:srgbClr val="009999"/>
                </a:solidFill>
              </a:rPr>
              <a:t>Induced Emf and Induced Current </a:t>
            </a:r>
            <a:endParaRPr lang="en-US" altLang="en-US" dirty="0">
              <a:solidFill>
                <a:srgbClr val="009999"/>
              </a:solidFill>
            </a:endParaRPr>
          </a:p>
        </p:txBody>
      </p:sp>
      <p:sp>
        <p:nvSpPr>
          <p:cNvPr id="6150" name="Text Box 6"/>
          <p:cNvSpPr txBox="1"/>
          <p:nvPr/>
        </p:nvSpPr>
        <p:spPr>
          <a:xfrm>
            <a:off x="457200" y="3581400"/>
            <a:ext cx="8305800" cy="2678113"/>
          </a:xfrm>
          <a:prstGeom prst="rect">
            <a:avLst/>
          </a:prstGeom>
          <a:noFill/>
          <a:ln w="9525">
            <a:noFill/>
          </a:ln>
        </p:spPr>
        <p:txBody>
          <a:bodyPr>
            <a:spAutoFit/>
          </a:bodyPr>
          <a:p>
            <a:pPr marL="457200" indent="-457200">
              <a:spcBef>
                <a:spcPct val="50000"/>
              </a:spcBef>
              <a:buAutoNum type="alphaLcParenBoth"/>
            </a:pPr>
            <a:r>
              <a:rPr lang="en-US" altLang="en-US" dirty="0">
                <a:solidFill>
                  <a:srgbClr val="000000"/>
                </a:solidFill>
                <a:latin typeface="Arial" panose="020B0604020202020204" pitchFamily="34" charset="0"/>
                <a:cs typeface="Times New Roman" panose="02020603050405020304" pitchFamily="18" charset="0"/>
              </a:rPr>
              <a:t>When there is no relative motion between the coil of wire and the bar magnet, there is no </a:t>
            </a:r>
            <a:r>
              <a:rPr lang="en-US" altLang="en-US" dirty="0">
                <a:solidFill>
                  <a:srgbClr val="009900"/>
                </a:solidFill>
                <a:latin typeface="Arial" panose="020B0604020202020204" pitchFamily="34" charset="0"/>
                <a:cs typeface="Times New Roman" panose="02020603050405020304" pitchFamily="18" charset="0"/>
              </a:rPr>
              <a:t>current</a:t>
            </a:r>
            <a:r>
              <a:rPr lang="en-US" altLang="en-US" dirty="0">
                <a:solidFill>
                  <a:srgbClr val="000000"/>
                </a:solidFill>
                <a:latin typeface="Arial" panose="020B0604020202020204" pitchFamily="34" charset="0"/>
                <a:cs typeface="Times New Roman" panose="02020603050405020304" pitchFamily="18" charset="0"/>
              </a:rPr>
              <a:t> in the coil. </a:t>
            </a:r>
            <a:endParaRPr lang="en-US" altLang="en-US" dirty="0">
              <a:solidFill>
                <a:srgbClr val="000000"/>
              </a:solidFill>
              <a:latin typeface="Arial" panose="020B0604020202020204" pitchFamily="34" charset="0"/>
              <a:cs typeface="Times New Roman" panose="02020603050405020304" pitchFamily="18" charset="0"/>
            </a:endParaRPr>
          </a:p>
          <a:p>
            <a:pPr marL="457200" indent="-457200">
              <a:spcBef>
                <a:spcPct val="50000"/>
              </a:spcBef>
              <a:buAutoNum type="alphaLcParenBoth"/>
            </a:pPr>
            <a:r>
              <a:rPr lang="en-US" altLang="en-US" dirty="0">
                <a:solidFill>
                  <a:srgbClr val="000000"/>
                </a:solidFill>
                <a:latin typeface="Arial" panose="020B0604020202020204" pitchFamily="34" charset="0"/>
                <a:cs typeface="Times New Roman" panose="02020603050405020304" pitchFamily="18" charset="0"/>
              </a:rPr>
              <a:t>A current is created in the coil when the magnet moves toward the coil.</a:t>
            </a:r>
            <a:endParaRPr lang="en-US" altLang="en-US" dirty="0">
              <a:solidFill>
                <a:srgbClr val="000000"/>
              </a:solidFill>
              <a:latin typeface="Arial" panose="020B0604020202020204" pitchFamily="34" charset="0"/>
              <a:cs typeface="Times New Roman" panose="02020603050405020304" pitchFamily="18" charset="0"/>
            </a:endParaRPr>
          </a:p>
          <a:p>
            <a:pPr marL="457200" indent="-457200">
              <a:spcBef>
                <a:spcPct val="50000"/>
              </a:spcBef>
              <a:buAutoNum type="alphaLcParenBoth"/>
            </a:pPr>
            <a:r>
              <a:rPr lang="en-US" altLang="en-US" dirty="0">
                <a:solidFill>
                  <a:srgbClr val="000000"/>
                </a:solidFill>
                <a:latin typeface="Arial" panose="020B0604020202020204" pitchFamily="34" charset="0"/>
                <a:cs typeface="Times New Roman" panose="02020603050405020304" pitchFamily="18" charset="0"/>
              </a:rPr>
              <a:t>A current also exists when the magnet moves away from the   coil, but the direction of the current is opposite to that in ( b). </a:t>
            </a:r>
            <a:endParaRPr lang="en-US" altLang="en-US" dirty="0">
              <a:latin typeface="Arial" panose="020B0604020202020204" pitchFamily="34" charset="0"/>
            </a:endParaRPr>
          </a:p>
        </p:txBody>
      </p:sp>
      <p:graphicFrame>
        <p:nvGraphicFramePr>
          <p:cNvPr id="3076" name="Object 10"/>
          <p:cNvGraphicFramePr>
            <a:graphicFrameLocks noChangeAspect="1"/>
          </p:cNvGraphicFramePr>
          <p:nvPr/>
        </p:nvGraphicFramePr>
        <p:xfrm>
          <a:off x="1905000" y="1600200"/>
          <a:ext cx="5010150" cy="1638300"/>
        </p:xfrm>
        <a:graphic>
          <a:graphicData uri="http://schemas.openxmlformats.org/presentationml/2006/ole">
            <mc:AlternateContent xmlns:mc="http://schemas.openxmlformats.org/markup-compatibility/2006">
              <mc:Choice xmlns:v="urn:schemas-microsoft-com:vml" Requires="v">
                <p:oleObj spid="_x0000_s2" name="" r:id="rId1" imgW="5010150" imgH="1638300" progId="Paint.Picture">
                  <p:embed/>
                </p:oleObj>
              </mc:Choice>
              <mc:Fallback>
                <p:oleObj name="" r:id="rId1" imgW="5010150" imgH="1638300" progId="Paint.Picture">
                  <p:embed/>
                  <p:pic>
                    <p:nvPicPr>
                      <p:cNvPr id="0" name="Picture 1"/>
                      <p:cNvPicPr/>
                      <p:nvPr/>
                    </p:nvPicPr>
                    <p:blipFill>
                      <a:blip r:embed="rId2"/>
                      <a:stretch>
                        <a:fillRect/>
                      </a:stretch>
                    </p:blipFill>
                    <p:spPr>
                      <a:xfrm>
                        <a:off x="1905000" y="1600200"/>
                        <a:ext cx="5010150" cy="16383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50">
                                            <p:txEl>
                                              <p:charRg st="0" end="112"/>
                                            </p:txEl>
                                          </p:spTgt>
                                        </p:tgtEl>
                                        <p:attrNameLst>
                                          <p:attrName>style.visibility</p:attrName>
                                        </p:attrNameLst>
                                      </p:cBhvr>
                                      <p:to>
                                        <p:strVal val="visible"/>
                                      </p:to>
                                    </p:set>
                                    <p:animEffect transition="in" filter="fade">
                                      <p:cBhvr>
                                        <p:cTn id="7" dur="2000"/>
                                        <p:tgtEl>
                                          <p:spTgt spid="6150">
                                            <p:txEl>
                                              <p:charRg st="0" end="1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50">
                                            <p:txEl>
                                              <p:charRg st="112" end="184"/>
                                            </p:txEl>
                                          </p:spTgt>
                                        </p:tgtEl>
                                        <p:attrNameLst>
                                          <p:attrName>style.visibility</p:attrName>
                                        </p:attrNameLst>
                                      </p:cBhvr>
                                      <p:to>
                                        <p:strVal val="visible"/>
                                      </p:to>
                                    </p:set>
                                    <p:animEffect transition="in" filter="fade">
                                      <p:cBhvr>
                                        <p:cTn id="12" dur="2000"/>
                                        <p:tgtEl>
                                          <p:spTgt spid="6150">
                                            <p:txEl>
                                              <p:charRg st="112" end="18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50">
                                            <p:txEl>
                                              <p:charRg st="184" end="313"/>
                                            </p:txEl>
                                          </p:spTgt>
                                        </p:tgtEl>
                                        <p:attrNameLst>
                                          <p:attrName>style.visibility</p:attrName>
                                        </p:attrNameLst>
                                      </p:cBhvr>
                                      <p:to>
                                        <p:strVal val="visible"/>
                                      </p:to>
                                    </p:set>
                                    <p:animEffect transition="in" filter="fade">
                                      <p:cBhvr>
                                        <p:cTn id="17" dur="2000"/>
                                        <p:tgtEl>
                                          <p:spTgt spid="6150">
                                            <p:txEl>
                                              <p:charRg st="184" end="3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a:ln/>
        </p:spPr>
        <p:txBody>
          <a:bodyPr vert="horz" wrap="square" lIns="91440" tIns="45720" rIns="91440" bIns="45720" anchor="ctr" anchorCtr="0"/>
          <a:p>
            <a:r>
              <a:rPr lang="en-US" altLang="en-US" dirty="0">
                <a:solidFill>
                  <a:srgbClr val="009999"/>
                </a:solidFill>
              </a:rPr>
              <a:t>Inducing Current With a Coil in a Magnetic Field</a:t>
            </a:r>
            <a:endParaRPr lang="en-US" altLang="en-US" dirty="0">
              <a:solidFill>
                <a:srgbClr val="009999"/>
              </a:solidFill>
            </a:endParaRPr>
          </a:p>
        </p:txBody>
      </p:sp>
      <p:pic>
        <p:nvPicPr>
          <p:cNvPr id="4099" name="Picture 5" descr="D:\PhsH\media\content\main\graphics\illustr\ch22\fig22_03.gif"/>
          <p:cNvPicPr>
            <a:picLocks noChangeAspect="1"/>
          </p:cNvPicPr>
          <p:nvPr/>
        </p:nvPicPr>
        <p:blipFill>
          <a:blip r:embed="rId1"/>
          <a:stretch>
            <a:fillRect/>
          </a:stretch>
        </p:blipFill>
        <p:spPr>
          <a:xfrm>
            <a:off x="2895600" y="2057400"/>
            <a:ext cx="3292475" cy="3840163"/>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ln/>
        </p:spPr>
        <p:txBody>
          <a:bodyPr vert="horz" wrap="square" lIns="91440" tIns="45720" rIns="91440" bIns="45720" anchor="ctr" anchorCtr="0"/>
          <a:p>
            <a:r>
              <a:rPr lang="en-US" altLang="en-US" dirty="0">
                <a:solidFill>
                  <a:srgbClr val="009999"/>
                </a:solidFill>
                <a:cs typeface="Arial" panose="020B0604020202020204" pitchFamily="34" charset="0"/>
              </a:rPr>
              <a:t>Magnetic Flux</a:t>
            </a:r>
            <a:endParaRPr lang="en-US" altLang="en-US" dirty="0">
              <a:solidFill>
                <a:srgbClr val="009999"/>
              </a:solidFill>
              <a:ea typeface="Arial" panose="020B0604020202020204" pitchFamily="34" charset="0"/>
            </a:endParaRPr>
          </a:p>
        </p:txBody>
      </p:sp>
      <p:sp>
        <p:nvSpPr>
          <p:cNvPr id="5123" name="Text Box 4"/>
          <p:cNvSpPr txBox="1"/>
          <p:nvPr/>
        </p:nvSpPr>
        <p:spPr>
          <a:xfrm>
            <a:off x="1295400" y="1524000"/>
            <a:ext cx="7391400" cy="1004888"/>
          </a:xfrm>
          <a:prstGeom prst="rect">
            <a:avLst/>
          </a:prstGeom>
          <a:noFill/>
          <a:ln w="9525">
            <a:noFill/>
          </a:ln>
        </p:spPr>
        <p:txBody>
          <a:bodyPr>
            <a:spAutoFit/>
          </a:bodyPr>
          <a:p>
            <a:pPr>
              <a:spcBef>
                <a:spcPct val="50000"/>
              </a:spcBef>
            </a:pPr>
            <a:r>
              <a:rPr lang="en-US" altLang="en-US" dirty="0">
                <a:solidFill>
                  <a:srgbClr val="000000"/>
                </a:solidFill>
                <a:latin typeface="Arial" panose="020B0604020202020204" pitchFamily="34" charset="0"/>
                <a:cs typeface="Arial" panose="020B0604020202020204" pitchFamily="34" charset="0"/>
              </a:rPr>
              <a:t>Graphical Interpretation of Magnetic Flux</a:t>
            </a:r>
            <a:endParaRPr lang="en-US" altLang="en-US" dirty="0">
              <a:solidFill>
                <a:srgbClr val="000000"/>
              </a:solidFill>
              <a:latin typeface="Arial" panose="020B0604020202020204" pitchFamily="34" charset="0"/>
              <a:cs typeface="Arial" panose="020B0604020202020204" pitchFamily="34" charset="0"/>
            </a:endParaRPr>
          </a:p>
          <a:p>
            <a:pPr>
              <a:spcBef>
                <a:spcPct val="50000"/>
              </a:spcBef>
            </a:pPr>
            <a:endParaRPr lang="en-US" altLang="en-US" dirty="0">
              <a:latin typeface="Arial" panose="020B0604020202020204" pitchFamily="34" charset="0"/>
            </a:endParaRPr>
          </a:p>
        </p:txBody>
      </p:sp>
      <p:pic>
        <p:nvPicPr>
          <p:cNvPr id="5124" name="Picture 6" descr="fig22_12"/>
          <p:cNvPicPr>
            <a:picLocks noChangeAspect="1"/>
          </p:cNvPicPr>
          <p:nvPr/>
        </p:nvPicPr>
        <p:blipFill>
          <a:blip r:embed="rId1"/>
          <a:stretch>
            <a:fillRect/>
          </a:stretch>
        </p:blipFill>
        <p:spPr>
          <a:xfrm>
            <a:off x="1600200" y="2514600"/>
            <a:ext cx="6000750" cy="2411413"/>
          </a:xfrm>
          <a:prstGeom prst="rect">
            <a:avLst/>
          </a:prstGeom>
          <a:noFill/>
          <a:ln w="9525">
            <a:noFill/>
          </a:ln>
        </p:spPr>
      </p:pic>
      <p:sp>
        <p:nvSpPr>
          <p:cNvPr id="5125" name="Text Box 7"/>
          <p:cNvSpPr txBox="1"/>
          <p:nvPr/>
        </p:nvSpPr>
        <p:spPr>
          <a:xfrm>
            <a:off x="1219200" y="5334000"/>
            <a:ext cx="7620000" cy="822325"/>
          </a:xfrm>
          <a:prstGeom prst="rect">
            <a:avLst/>
          </a:prstGeom>
          <a:noFill/>
          <a:ln w="9525">
            <a:noFill/>
          </a:ln>
        </p:spPr>
        <p:txBody>
          <a:bodyPr>
            <a:spAutoFit/>
          </a:bodyPr>
          <a:p>
            <a:pPr>
              <a:spcBef>
                <a:spcPct val="50000"/>
              </a:spcBef>
            </a:pPr>
            <a:r>
              <a:rPr lang="en-US" altLang="en-US" dirty="0">
                <a:latin typeface="Arial" panose="020B0604020202020204" pitchFamily="34" charset="0"/>
                <a:cs typeface="Times New Roman" panose="02020603050405020304" pitchFamily="18" charset="0"/>
              </a:rPr>
              <a:t>The magnetic flux is proportional to the number of magnetic flux lines passing through the area. </a:t>
            </a:r>
            <a:r>
              <a:rPr lang="en-US" altLang="en-US" dirty="0">
                <a:latin typeface="Arial" panose="020B0604020202020204" pitchFamily="34" charset="0"/>
              </a:rPr>
              <a:t> </a:t>
            </a:r>
            <a:endParaRPr lang="en-US" altLang="en-US"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533400" y="152400"/>
            <a:ext cx="7772400" cy="1143000"/>
          </a:xfrm>
          <a:ln/>
        </p:spPr>
        <p:txBody>
          <a:bodyPr vert="horz" wrap="square" lIns="91440" tIns="45720" rIns="91440" bIns="45720" anchor="ctr" anchorCtr="0"/>
          <a:p>
            <a:r>
              <a:rPr lang="en-US" altLang="en-US" dirty="0">
                <a:solidFill>
                  <a:srgbClr val="000000"/>
                </a:solidFill>
                <a:cs typeface="Arial" panose="020B0604020202020204" pitchFamily="34" charset="0"/>
              </a:rPr>
              <a:t>A General Expression for Magnetic Flux</a:t>
            </a:r>
            <a:endParaRPr lang="en-US" altLang="en-US" dirty="0">
              <a:solidFill>
                <a:srgbClr val="000000"/>
              </a:solidFill>
              <a:ea typeface="Arial" panose="020B0604020202020204" pitchFamily="34" charset="0"/>
            </a:endParaRPr>
          </a:p>
        </p:txBody>
      </p:sp>
      <p:pic>
        <p:nvPicPr>
          <p:cNvPr id="17413" name="Picture 5" descr="fig22_10"/>
          <p:cNvPicPr>
            <a:picLocks noChangeAspect="1"/>
          </p:cNvPicPr>
          <p:nvPr/>
        </p:nvPicPr>
        <p:blipFill>
          <a:blip r:embed="rId1"/>
          <a:stretch>
            <a:fillRect/>
          </a:stretch>
        </p:blipFill>
        <p:spPr>
          <a:xfrm>
            <a:off x="4038600" y="2057400"/>
            <a:ext cx="3292475" cy="2136775"/>
          </a:xfrm>
          <a:prstGeom prst="rect">
            <a:avLst/>
          </a:prstGeom>
          <a:noFill/>
          <a:ln w="9525">
            <a:noFill/>
          </a:ln>
        </p:spPr>
      </p:pic>
      <p:sp>
        <p:nvSpPr>
          <p:cNvPr id="6148" name="Rectangle 7"/>
          <p:cNvSpPr/>
          <p:nvPr/>
        </p:nvSpPr>
        <p:spPr>
          <a:xfrm>
            <a:off x="3852863" y="3319463"/>
            <a:ext cx="9144000" cy="0"/>
          </a:xfrm>
          <a:prstGeom prst="rect">
            <a:avLst/>
          </a:prstGeom>
          <a:noFill/>
          <a:ln w="9525">
            <a:noFill/>
          </a:ln>
        </p:spPr>
        <p:txBody>
          <a:bodyPr>
            <a:spAutoFit/>
          </a:bodyPr>
          <a:p>
            <a:endParaRPr lang="en-US" altLang="en-US" dirty="0">
              <a:latin typeface="Arial" panose="020B0604020202020204" pitchFamily="34" charset="0"/>
            </a:endParaRPr>
          </a:p>
        </p:txBody>
      </p:sp>
      <p:sp>
        <p:nvSpPr>
          <p:cNvPr id="6149" name="Rectangle 9"/>
          <p:cNvSpPr/>
          <p:nvPr/>
        </p:nvSpPr>
        <p:spPr>
          <a:xfrm>
            <a:off x="3843338" y="3319463"/>
            <a:ext cx="9144000" cy="0"/>
          </a:xfrm>
          <a:prstGeom prst="rect">
            <a:avLst/>
          </a:prstGeom>
          <a:noFill/>
          <a:ln w="9525">
            <a:noFill/>
          </a:ln>
        </p:spPr>
        <p:txBody>
          <a:bodyPr>
            <a:spAutoFit/>
          </a:bodyPr>
          <a:p>
            <a:endParaRPr lang="en-US" altLang="en-US" dirty="0">
              <a:latin typeface="Arial" panose="020B0604020202020204" pitchFamily="34" charset="0"/>
            </a:endParaRPr>
          </a:p>
        </p:txBody>
      </p:sp>
      <p:sp>
        <p:nvSpPr>
          <p:cNvPr id="6150" name="Rectangle 11"/>
          <p:cNvSpPr/>
          <p:nvPr/>
        </p:nvSpPr>
        <p:spPr>
          <a:xfrm>
            <a:off x="3852863" y="3319463"/>
            <a:ext cx="9144000" cy="0"/>
          </a:xfrm>
          <a:prstGeom prst="rect">
            <a:avLst/>
          </a:prstGeom>
          <a:noFill/>
          <a:ln w="9525">
            <a:noFill/>
          </a:ln>
        </p:spPr>
        <p:txBody>
          <a:bodyPr>
            <a:spAutoFit/>
          </a:bodyPr>
          <a:p>
            <a:endParaRPr lang="en-US" altLang="en-US" dirty="0">
              <a:latin typeface="Arial" panose="020B0604020202020204" pitchFamily="34" charset="0"/>
            </a:endParaRPr>
          </a:p>
        </p:txBody>
      </p:sp>
      <p:graphicFrame>
        <p:nvGraphicFramePr>
          <p:cNvPr id="17418" name="Object 10"/>
          <p:cNvGraphicFramePr>
            <a:graphicFrameLocks noChangeAspect="1"/>
          </p:cNvGraphicFramePr>
          <p:nvPr/>
        </p:nvGraphicFramePr>
        <p:xfrm>
          <a:off x="3276600" y="4343400"/>
          <a:ext cx="5029200" cy="762000"/>
        </p:xfrm>
        <a:graphic>
          <a:graphicData uri="http://schemas.openxmlformats.org/presentationml/2006/ole">
            <mc:AlternateContent xmlns:mc="http://schemas.openxmlformats.org/markup-compatibility/2006">
              <mc:Choice xmlns:v="urn:schemas-microsoft-com:vml" Requires="v">
                <p:oleObj spid="_x0000_s3077" name="" r:id="rId2" imgW="1434465" imgH="215900" progId="Equation.3">
                  <p:embed/>
                </p:oleObj>
              </mc:Choice>
              <mc:Fallback>
                <p:oleObj name="" r:id="rId2" imgW="1434465" imgH="215900" progId="Equation.3">
                  <p:embed/>
                  <p:pic>
                    <p:nvPicPr>
                      <p:cNvPr id="0" name="Picture 3076"/>
                      <p:cNvPicPr/>
                      <p:nvPr/>
                    </p:nvPicPr>
                    <p:blipFill>
                      <a:blip r:embed="rId3"/>
                      <a:stretch>
                        <a:fillRect/>
                      </a:stretch>
                    </p:blipFill>
                    <p:spPr>
                      <a:xfrm>
                        <a:off x="3276600" y="4343400"/>
                        <a:ext cx="5029200" cy="762000"/>
                      </a:xfrm>
                      <a:prstGeom prst="rect">
                        <a:avLst/>
                      </a:prstGeom>
                      <a:noFill/>
                      <a:ln w="38100">
                        <a:noFill/>
                        <a:miter/>
                      </a:ln>
                    </p:spPr>
                  </p:pic>
                </p:oleObj>
              </mc:Fallback>
            </mc:AlternateContent>
          </a:graphicData>
        </a:graphic>
      </p:graphicFrame>
      <p:sp>
        <p:nvSpPr>
          <p:cNvPr id="17420" name="Text Box 12"/>
          <p:cNvSpPr txBox="1"/>
          <p:nvPr/>
        </p:nvSpPr>
        <p:spPr>
          <a:xfrm>
            <a:off x="609600" y="5181600"/>
            <a:ext cx="8534400" cy="822325"/>
          </a:xfrm>
          <a:prstGeom prst="rect">
            <a:avLst/>
          </a:prstGeom>
          <a:noFill/>
          <a:ln w="9525">
            <a:noFill/>
          </a:ln>
        </p:spPr>
        <p:txBody>
          <a:bodyPr>
            <a:spAutoFit/>
          </a:bodyPr>
          <a:p>
            <a:pPr>
              <a:spcBef>
                <a:spcPct val="50000"/>
              </a:spcBef>
            </a:pPr>
            <a:r>
              <a:rPr lang="en-US" altLang="en-US" dirty="0">
                <a:latin typeface="Arial" panose="020B0604020202020204" pitchFamily="34" charset="0"/>
                <a:cs typeface="Times New Roman" panose="02020603050405020304" pitchFamily="18" charset="0"/>
              </a:rPr>
              <a:t>The SI unit of magnetic flux is the weber (Wb), named after the German Physicist W.E. Weber (1804-1891). 1 Wb = 1 T.m</a:t>
            </a:r>
            <a:r>
              <a:rPr lang="en-US" altLang="en-US" baseline="30000" dirty="0">
                <a:latin typeface="Arial" panose="020B0604020202020204" pitchFamily="34" charset="0"/>
                <a:cs typeface="Times New Roman" panose="02020603050405020304" pitchFamily="18" charset="0"/>
              </a:rPr>
              <a:t>2</a:t>
            </a:r>
            <a:r>
              <a:rPr lang="en-US" altLang="en-US" dirty="0">
                <a:latin typeface="Arial" panose="020B0604020202020204" pitchFamily="34" charset="0"/>
                <a:cs typeface="Times New Roman" panose="02020603050405020304" pitchFamily="18" charset="0"/>
              </a:rPr>
              <a:t>. </a:t>
            </a:r>
            <a:endParaRPr lang="en-US" altLang="en-US" dirty="0">
              <a:latin typeface="Arial" panose="020B0604020202020204" pitchFamily="34" charset="0"/>
              <a:ea typeface="Times New Roman" panose="02020603050405020304" pitchFamily="18" charset="0"/>
            </a:endParaRPr>
          </a:p>
        </p:txBody>
      </p:sp>
      <p:pic>
        <p:nvPicPr>
          <p:cNvPr id="17421" name="Picture 13"/>
          <p:cNvPicPr>
            <a:picLocks noChangeAspect="1"/>
          </p:cNvPicPr>
          <p:nvPr/>
        </p:nvPicPr>
        <p:blipFill>
          <a:blip r:embed="rId4"/>
          <a:stretch>
            <a:fillRect/>
          </a:stretch>
        </p:blipFill>
        <p:spPr>
          <a:xfrm>
            <a:off x="381000" y="1371600"/>
            <a:ext cx="2466975" cy="29146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ln/>
        </p:spPr>
        <p:txBody>
          <a:bodyPr vert="horz" wrap="square" lIns="91440" tIns="45720" rIns="91440" bIns="45720" anchor="ctr" anchorCtr="0"/>
          <a:p>
            <a:r>
              <a:rPr lang="en-US" altLang="en-US" dirty="0">
                <a:solidFill>
                  <a:srgbClr val="009999"/>
                </a:solidFill>
                <a:cs typeface="Arial" panose="020B0604020202020204" pitchFamily="34" charset="0"/>
              </a:rPr>
              <a:t>EXAMPLE on </a:t>
            </a:r>
            <a:r>
              <a:rPr lang="en-US" altLang="en-US" dirty="0">
                <a:solidFill>
                  <a:srgbClr val="000000"/>
                </a:solidFill>
                <a:cs typeface="Arial" panose="020B0604020202020204" pitchFamily="34" charset="0"/>
              </a:rPr>
              <a:t>Magnetic Flux</a:t>
            </a:r>
            <a:endParaRPr lang="en-US" altLang="en-US" dirty="0">
              <a:solidFill>
                <a:srgbClr val="000000"/>
              </a:solidFill>
              <a:ea typeface="Arial" panose="020B0604020202020204" pitchFamily="34" charset="0"/>
            </a:endParaRPr>
          </a:p>
        </p:txBody>
      </p:sp>
      <p:sp>
        <p:nvSpPr>
          <p:cNvPr id="7171" name="Text Box 4"/>
          <p:cNvSpPr txBox="1"/>
          <p:nvPr/>
        </p:nvSpPr>
        <p:spPr>
          <a:xfrm>
            <a:off x="76200" y="1676400"/>
            <a:ext cx="8839200" cy="1200150"/>
          </a:xfrm>
          <a:prstGeom prst="rect">
            <a:avLst/>
          </a:prstGeom>
          <a:noFill/>
          <a:ln w="9525">
            <a:noFill/>
          </a:ln>
        </p:spPr>
        <p:txBody>
          <a:bodyPr>
            <a:spAutoFit/>
          </a:bodyPr>
          <a:p>
            <a:pPr>
              <a:spcBef>
                <a:spcPct val="50000"/>
              </a:spcBef>
            </a:pPr>
            <a:r>
              <a:rPr lang="en-US" altLang="en-US" dirty="0">
                <a:latin typeface="Arial" panose="020B0604020202020204" pitchFamily="34" charset="0"/>
              </a:rPr>
              <a:t>A rectangular coil of wire is situated in a constant </a:t>
            </a:r>
            <a:r>
              <a:rPr lang="en-US" altLang="en-US" dirty="0">
                <a:solidFill>
                  <a:srgbClr val="009900"/>
                </a:solidFill>
                <a:latin typeface="Arial" panose="020B0604020202020204" pitchFamily="34" charset="0"/>
              </a:rPr>
              <a:t>magnetic</a:t>
            </a:r>
            <a:r>
              <a:rPr lang="en-US" altLang="en-US" dirty="0">
                <a:latin typeface="Arial" panose="020B0604020202020204" pitchFamily="34" charset="0"/>
              </a:rPr>
              <a:t> field whose magnitude is 0.50 T. The coil has an area of 2.0 m</a:t>
            </a:r>
            <a:r>
              <a:rPr lang="en-US" altLang="en-US" baseline="30000" dirty="0">
                <a:latin typeface="Arial" panose="020B0604020202020204" pitchFamily="34" charset="0"/>
              </a:rPr>
              <a:t>2</a:t>
            </a:r>
            <a:r>
              <a:rPr lang="en-US" altLang="en-US" dirty="0">
                <a:latin typeface="Arial" panose="020B0604020202020204" pitchFamily="34" charset="0"/>
              </a:rPr>
              <a:t>. Determine the </a:t>
            </a:r>
            <a:r>
              <a:rPr lang="en-US" altLang="en-US" dirty="0">
                <a:solidFill>
                  <a:srgbClr val="009900"/>
                </a:solidFill>
                <a:latin typeface="Arial" panose="020B0604020202020204" pitchFamily="34" charset="0"/>
              </a:rPr>
              <a:t>magnetic flux</a:t>
            </a:r>
            <a:r>
              <a:rPr lang="en-US" altLang="en-US" dirty="0">
                <a:latin typeface="Arial" panose="020B0604020202020204" pitchFamily="34" charset="0"/>
              </a:rPr>
              <a:t> for the three orientations, shown below.</a:t>
            </a:r>
            <a:endParaRPr lang="en-US" altLang="en-US" dirty="0">
              <a:latin typeface="Arial" panose="020B0604020202020204" pitchFamily="34" charset="0"/>
            </a:endParaRPr>
          </a:p>
        </p:txBody>
      </p:sp>
      <p:pic>
        <p:nvPicPr>
          <p:cNvPr id="7172" name="Picture 2"/>
          <p:cNvPicPr>
            <a:picLocks noChangeAspect="1"/>
          </p:cNvPicPr>
          <p:nvPr/>
        </p:nvPicPr>
        <p:blipFill>
          <a:blip r:embed="rId1"/>
          <a:stretch>
            <a:fillRect/>
          </a:stretch>
        </p:blipFill>
        <p:spPr>
          <a:xfrm>
            <a:off x="1600200" y="3048000"/>
            <a:ext cx="5943600" cy="28194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ln/>
        </p:spPr>
        <p:txBody>
          <a:bodyPr vert="horz" wrap="square" lIns="91440" tIns="45720" rIns="91440" bIns="45720" anchor="ctr" anchorCtr="0"/>
          <a:p>
            <a:r>
              <a:rPr lang="en-US" altLang="en-US" dirty="0">
                <a:solidFill>
                  <a:srgbClr val="009999"/>
                </a:solidFill>
                <a:cs typeface="Arial" panose="020B0604020202020204" pitchFamily="34" charset="0"/>
              </a:rPr>
              <a:t>Faraday's Law of Electromagnetic Induction</a:t>
            </a:r>
            <a:endParaRPr lang="en-US" altLang="en-US" dirty="0">
              <a:solidFill>
                <a:srgbClr val="009999"/>
              </a:solidFill>
              <a:ea typeface="Arial" panose="020B0604020202020204" pitchFamily="34" charset="0"/>
            </a:endParaRPr>
          </a:p>
        </p:txBody>
      </p:sp>
      <p:sp>
        <p:nvSpPr>
          <p:cNvPr id="19474" name="Text Box 18"/>
          <p:cNvSpPr txBox="1"/>
          <p:nvPr/>
        </p:nvSpPr>
        <p:spPr>
          <a:xfrm>
            <a:off x="1143000" y="2057400"/>
            <a:ext cx="7543800" cy="1187450"/>
          </a:xfrm>
          <a:prstGeom prst="rect">
            <a:avLst/>
          </a:prstGeom>
          <a:noFill/>
          <a:ln w="9525">
            <a:noFill/>
          </a:ln>
        </p:spPr>
        <p:txBody>
          <a:bodyPr>
            <a:spAutoFit/>
          </a:bodyPr>
          <a:p>
            <a:pPr>
              <a:spcBef>
                <a:spcPct val="50000"/>
              </a:spcBef>
            </a:pPr>
            <a:r>
              <a:rPr lang="en-US" altLang="en-US" dirty="0">
                <a:latin typeface="Arial" panose="020B0604020202020204" pitchFamily="34" charset="0"/>
                <a:cs typeface="Times New Roman" panose="02020603050405020304" pitchFamily="18" charset="0"/>
              </a:rPr>
              <a:t>Michael Faraday found experimentally that the magnitude of the induced emf is proportional to the rate at which the magnetic flux changed. Faraday’s law can be written as, </a:t>
            </a:r>
            <a:endParaRPr lang="en-US" altLang="en-US" dirty="0">
              <a:latin typeface="Arial" panose="020B0604020202020204" pitchFamily="34" charset="0"/>
              <a:ea typeface="Times New Roman" panose="02020603050405020304" pitchFamily="18" charset="0"/>
            </a:endParaRPr>
          </a:p>
        </p:txBody>
      </p:sp>
      <p:sp>
        <p:nvSpPr>
          <p:cNvPr id="8196" name="Rectangle 20"/>
          <p:cNvSpPr/>
          <p:nvPr/>
        </p:nvSpPr>
        <p:spPr>
          <a:xfrm>
            <a:off x="3905250" y="3233738"/>
            <a:ext cx="9144000" cy="0"/>
          </a:xfrm>
          <a:prstGeom prst="rect">
            <a:avLst/>
          </a:prstGeom>
          <a:noFill/>
          <a:ln w="9525">
            <a:noFill/>
          </a:ln>
        </p:spPr>
        <p:txBody>
          <a:bodyPr>
            <a:spAutoFit/>
          </a:bodyPr>
          <a:p>
            <a:endParaRPr lang="en-US" altLang="en-US" dirty="0">
              <a:latin typeface="Arial" panose="020B0604020202020204" pitchFamily="34" charset="0"/>
            </a:endParaRPr>
          </a:p>
        </p:txBody>
      </p:sp>
      <p:sp>
        <p:nvSpPr>
          <p:cNvPr id="8197" name="Rectangle 22"/>
          <p:cNvSpPr/>
          <p:nvPr/>
        </p:nvSpPr>
        <p:spPr>
          <a:xfrm>
            <a:off x="0" y="3233738"/>
            <a:ext cx="9144000" cy="0"/>
          </a:xfrm>
          <a:prstGeom prst="rect">
            <a:avLst/>
          </a:prstGeom>
          <a:noFill/>
          <a:ln w="9525">
            <a:noFill/>
          </a:ln>
        </p:spPr>
        <p:txBody>
          <a:bodyPr wrap="none" anchor="ctr" anchorCtr="0">
            <a:spAutoFit/>
          </a:bodyPr>
          <a:p>
            <a:endParaRPr lang="en-US" altLang="en-US" dirty="0">
              <a:latin typeface="Arial" panose="020B0604020202020204" pitchFamily="34" charset="0"/>
            </a:endParaRPr>
          </a:p>
        </p:txBody>
      </p:sp>
      <p:graphicFrame>
        <p:nvGraphicFramePr>
          <p:cNvPr id="19477" name="Object 21"/>
          <p:cNvGraphicFramePr>
            <a:graphicFrameLocks noChangeAspect="1"/>
          </p:cNvGraphicFramePr>
          <p:nvPr/>
        </p:nvGraphicFramePr>
        <p:xfrm>
          <a:off x="2667000" y="3505200"/>
          <a:ext cx="4010025" cy="1103313"/>
        </p:xfrm>
        <a:graphic>
          <a:graphicData uri="http://schemas.openxmlformats.org/presentationml/2006/ole">
            <mc:AlternateContent xmlns:mc="http://schemas.openxmlformats.org/markup-compatibility/2006">
              <mc:Choice xmlns:v="urn:schemas-microsoft-com:vml" Requires="v">
                <p:oleObj spid="_x0000_s3078" name="" r:id="rId1" imgW="1422400" imgH="393700" progId="Equation.3">
                  <p:embed/>
                </p:oleObj>
              </mc:Choice>
              <mc:Fallback>
                <p:oleObj name="" r:id="rId1" imgW="1422400" imgH="393700" progId="Equation.3">
                  <p:embed/>
                  <p:pic>
                    <p:nvPicPr>
                      <p:cNvPr id="0" name="Picture 3077"/>
                      <p:cNvPicPr/>
                      <p:nvPr/>
                    </p:nvPicPr>
                    <p:blipFill>
                      <a:blip r:embed="rId2"/>
                      <a:stretch>
                        <a:fillRect/>
                      </a:stretch>
                    </p:blipFill>
                    <p:spPr>
                      <a:xfrm>
                        <a:off x="2667000" y="3505200"/>
                        <a:ext cx="4010025" cy="1103313"/>
                      </a:xfrm>
                      <a:prstGeom prst="rect">
                        <a:avLst/>
                      </a:prstGeom>
                      <a:noFill/>
                      <a:ln w="38100">
                        <a:noFill/>
                        <a:miter/>
                      </a:ln>
                    </p:spPr>
                  </p:pic>
                </p:oleObj>
              </mc:Fallback>
            </mc:AlternateContent>
          </a:graphicData>
        </a:graphic>
      </p:graphicFrame>
      <p:sp>
        <p:nvSpPr>
          <p:cNvPr id="19479" name="Text Box 23"/>
          <p:cNvSpPr txBox="1"/>
          <p:nvPr/>
        </p:nvSpPr>
        <p:spPr>
          <a:xfrm>
            <a:off x="1219200" y="4876800"/>
            <a:ext cx="7315200" cy="1187450"/>
          </a:xfrm>
          <a:prstGeom prst="rect">
            <a:avLst/>
          </a:prstGeom>
          <a:noFill/>
          <a:ln w="9525">
            <a:noFill/>
          </a:ln>
        </p:spPr>
        <p:txBody>
          <a:bodyPr>
            <a:spAutoFit/>
          </a:bodyPr>
          <a:p>
            <a:pPr>
              <a:spcBef>
                <a:spcPct val="50000"/>
              </a:spcBef>
            </a:pPr>
            <a:r>
              <a:rPr lang="en-US" altLang="en-US" dirty="0">
                <a:latin typeface="Arial" panose="020B0604020202020204" pitchFamily="34" charset="0"/>
              </a:rPr>
              <a:t>where N is the number of turns in the loops, A is the area of one loop, ξ is the induced emf, and B</a:t>
            </a:r>
            <a:r>
              <a:rPr lang="en-US" altLang="en-US" baseline="-25000" dirty="0">
                <a:latin typeface="Arial" panose="020B0604020202020204" pitchFamily="34" charset="0"/>
                <a:cs typeface="Times New Roman" panose="02020603050405020304" pitchFamily="18" charset="0"/>
              </a:rPr>
              <a:t>┴</a:t>
            </a:r>
            <a:r>
              <a:rPr lang="en-US" altLang="en-US" dirty="0">
                <a:latin typeface="Arial" panose="020B0604020202020204" pitchFamily="34" charset="0"/>
              </a:rPr>
              <a:t> is the perpendicular component of the magnetic field. </a:t>
            </a:r>
            <a:endParaRPr lang="en-US"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4" grpId="0"/>
      <p:bldP spid="1947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ln/>
        </p:spPr>
        <p:txBody>
          <a:bodyPr vert="horz" wrap="square" lIns="91440" tIns="45720" rIns="91440" bIns="45720" anchor="ctr" anchorCtr="0"/>
          <a:p>
            <a:r>
              <a:rPr lang="en-US" altLang="en-US" dirty="0">
                <a:solidFill>
                  <a:srgbClr val="009999"/>
                </a:solidFill>
                <a:cs typeface="Arial" panose="020B0604020202020204" pitchFamily="34" charset="0"/>
              </a:rPr>
              <a:t>Lenz's Law</a:t>
            </a:r>
            <a:endParaRPr lang="en-US" altLang="en-US" dirty="0"/>
          </a:p>
        </p:txBody>
      </p:sp>
      <p:graphicFrame>
        <p:nvGraphicFramePr>
          <p:cNvPr id="53252" name="Object 4"/>
          <p:cNvGraphicFramePr>
            <a:graphicFrameLocks noGrp="1" noChangeAspect="1"/>
          </p:cNvGraphicFramePr>
          <p:nvPr>
            <p:ph idx="1"/>
          </p:nvPr>
        </p:nvGraphicFramePr>
        <p:xfrm>
          <a:off x="2362200" y="1905000"/>
          <a:ext cx="3759200" cy="1039813"/>
        </p:xfrm>
        <a:graphic>
          <a:graphicData uri="http://schemas.openxmlformats.org/presentationml/2006/ole">
            <mc:AlternateContent xmlns:mc="http://schemas.openxmlformats.org/markup-compatibility/2006">
              <mc:Choice xmlns:v="urn:schemas-microsoft-com:vml" Requires="v">
                <p:oleObj spid="_x0000_s3079" name="" r:id="rId1" imgW="1422400" imgH="393700" progId="Equation.3">
                  <p:embed/>
                </p:oleObj>
              </mc:Choice>
              <mc:Fallback>
                <p:oleObj name="" r:id="rId1" imgW="1422400" imgH="393700" progId="Equation.3">
                  <p:embed/>
                  <p:pic>
                    <p:nvPicPr>
                      <p:cNvPr id="0" name="Picture 3078"/>
                      <p:cNvPicPr/>
                      <p:nvPr/>
                    </p:nvPicPr>
                    <p:blipFill>
                      <a:blip r:embed="rId2"/>
                      <a:stretch>
                        <a:fillRect/>
                      </a:stretch>
                    </p:blipFill>
                    <p:spPr>
                      <a:xfrm>
                        <a:off x="2362200" y="1905000"/>
                        <a:ext cx="3759200" cy="1039813"/>
                      </a:xfrm>
                      <a:prstGeom prst="rect">
                        <a:avLst/>
                      </a:prstGeom>
                      <a:noFill/>
                      <a:ln w="38100">
                        <a:noFill/>
                        <a:miter/>
                      </a:ln>
                    </p:spPr>
                  </p:pic>
                </p:oleObj>
              </mc:Fallback>
            </mc:AlternateContent>
          </a:graphicData>
        </a:graphic>
      </p:graphicFrame>
      <p:sp>
        <p:nvSpPr>
          <p:cNvPr id="53254" name="Text Box 6"/>
          <p:cNvSpPr txBox="1"/>
          <p:nvPr/>
        </p:nvSpPr>
        <p:spPr>
          <a:xfrm>
            <a:off x="457200" y="3352800"/>
            <a:ext cx="8077200" cy="3013075"/>
          </a:xfrm>
          <a:prstGeom prst="rect">
            <a:avLst/>
          </a:prstGeom>
          <a:noFill/>
          <a:ln w="9525">
            <a:noFill/>
          </a:ln>
        </p:spPr>
        <p:txBody>
          <a:bodyPr>
            <a:spAutoFit/>
          </a:bodyPr>
          <a:p>
            <a:r>
              <a:rPr lang="en-US" altLang="en-US" dirty="0">
                <a:latin typeface="Arial" panose="020B0604020202020204" pitchFamily="34" charset="0"/>
              </a:rPr>
              <a:t>The SI unit for the induced emf is the volt, V. The minus sign in the above Faraday’s law of induction is due to the fact that the induced emf will always oppose the change. It is also known as the Lenz’s law and it is stated as follows,</a:t>
            </a:r>
            <a:endParaRPr lang="en-US" altLang="en-US"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The current from the induced emf will produce a magnetic field, which will always oppose the original change in the magnetic flux.</a:t>
            </a:r>
            <a:endParaRPr lang="en-US"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4">
                                            <p:txEl>
                                              <p:charRg st="239" end="37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ln/>
        </p:spPr>
        <p:txBody>
          <a:bodyPr vert="horz" wrap="square" lIns="91440" tIns="45720" rIns="91440" bIns="45720" anchor="ctr" anchorCtr="0"/>
          <a:p>
            <a:r>
              <a:rPr lang="en-US" altLang="en-US" dirty="0">
                <a:solidFill>
                  <a:schemeClr val="tx1"/>
                </a:solidFill>
              </a:rPr>
              <a:t>Determining the Polarity of the Induced Emf </a:t>
            </a:r>
            <a:br>
              <a:rPr lang="en-US" altLang="en-US" dirty="0">
                <a:solidFill>
                  <a:schemeClr val="tx1"/>
                </a:solidFill>
              </a:rPr>
            </a:br>
            <a:endParaRPr lang="en-US" altLang="en-US" dirty="0">
              <a:solidFill>
                <a:schemeClr val="tx1"/>
              </a:solidFill>
            </a:endParaRPr>
          </a:p>
        </p:txBody>
      </p:sp>
      <p:sp>
        <p:nvSpPr>
          <p:cNvPr id="48132" name="Text Box 4"/>
          <p:cNvSpPr txBox="1"/>
          <p:nvPr/>
        </p:nvSpPr>
        <p:spPr>
          <a:xfrm>
            <a:off x="533400" y="1828800"/>
            <a:ext cx="8077200" cy="4473575"/>
          </a:xfrm>
          <a:prstGeom prst="rect">
            <a:avLst/>
          </a:prstGeom>
          <a:noFill/>
          <a:ln w="9525">
            <a:noFill/>
          </a:ln>
        </p:spPr>
        <p:txBody>
          <a:bodyPr>
            <a:spAutoFit/>
          </a:bodyPr>
          <a:p>
            <a:pPr>
              <a:spcBef>
                <a:spcPct val="50000"/>
              </a:spcBef>
            </a:pPr>
            <a:r>
              <a:rPr lang="en-US" altLang="en-US" dirty="0">
                <a:latin typeface="Arial" panose="020B0604020202020204" pitchFamily="34" charset="0"/>
              </a:rPr>
              <a:t>1.Determine whether the </a:t>
            </a:r>
            <a:r>
              <a:rPr lang="en-US" altLang="en-US" dirty="0">
                <a:solidFill>
                  <a:srgbClr val="009900"/>
                </a:solidFill>
                <a:latin typeface="Arial" panose="020B0604020202020204" pitchFamily="34" charset="0"/>
              </a:rPr>
              <a:t>magnetic flux</a:t>
            </a:r>
            <a:r>
              <a:rPr lang="en-US" altLang="en-US" dirty="0">
                <a:latin typeface="Arial" panose="020B0604020202020204" pitchFamily="34" charset="0"/>
              </a:rPr>
              <a:t> that penetrates a coil is increasing or decreasing.</a:t>
            </a:r>
            <a:endParaRPr lang="en-US" altLang="en-US" dirty="0">
              <a:latin typeface="Arial" panose="020B0604020202020204" pitchFamily="34" charset="0"/>
            </a:endParaRPr>
          </a:p>
          <a:p>
            <a:pPr>
              <a:spcBef>
                <a:spcPct val="50000"/>
              </a:spcBef>
            </a:pPr>
            <a:r>
              <a:rPr lang="en-US" altLang="en-US" dirty="0">
                <a:latin typeface="Arial" panose="020B0604020202020204" pitchFamily="34" charset="0"/>
              </a:rPr>
              <a:t>2.Find what the direction of the induced </a:t>
            </a:r>
            <a:r>
              <a:rPr lang="en-US" altLang="en-US" dirty="0">
                <a:solidFill>
                  <a:srgbClr val="009900"/>
                </a:solidFill>
                <a:latin typeface="Arial" panose="020B0604020202020204" pitchFamily="34" charset="0"/>
              </a:rPr>
              <a:t>magnetic</a:t>
            </a:r>
            <a:r>
              <a:rPr lang="en-US" altLang="en-US" dirty="0">
                <a:latin typeface="Arial" panose="020B0604020202020204" pitchFamily="34" charset="0"/>
              </a:rPr>
              <a:t> field must be so that it can </a:t>
            </a:r>
            <a:r>
              <a:rPr lang="en-US" altLang="en-US" i="1" dirty="0">
                <a:latin typeface="Arial" panose="020B0604020202020204" pitchFamily="34" charset="0"/>
              </a:rPr>
              <a:t>oppose the change in flux</a:t>
            </a:r>
            <a:r>
              <a:rPr lang="en-US" altLang="en-US" dirty="0">
                <a:latin typeface="Arial" panose="020B0604020202020204" pitchFamily="34" charset="0"/>
              </a:rPr>
              <a:t> by adding to or subtracting from the original field.</a:t>
            </a:r>
            <a:endParaRPr lang="en-US" altLang="en-US" dirty="0">
              <a:latin typeface="Arial" panose="020B0604020202020204" pitchFamily="34" charset="0"/>
            </a:endParaRPr>
          </a:p>
          <a:p>
            <a:pPr>
              <a:spcBef>
                <a:spcPct val="50000"/>
              </a:spcBef>
            </a:pPr>
            <a:r>
              <a:rPr lang="en-US" altLang="en-US" dirty="0">
                <a:latin typeface="Arial" panose="020B0604020202020204" pitchFamily="34" charset="0"/>
              </a:rPr>
              <a:t>3.Having found the direction of the induced magnetic field, use RHR-2 (see Section </a:t>
            </a:r>
            <a:r>
              <a:rPr lang="en-US" altLang="en-US" dirty="0">
                <a:solidFill>
                  <a:srgbClr val="009999"/>
                </a:solidFill>
                <a:latin typeface="Arial" panose="020B0604020202020204" pitchFamily="34" charset="0"/>
              </a:rPr>
              <a:t>21.7</a:t>
            </a:r>
            <a:r>
              <a:rPr lang="en-US" altLang="en-US" dirty="0">
                <a:latin typeface="Arial" panose="020B0604020202020204" pitchFamily="34" charset="0"/>
              </a:rPr>
              <a:t>) to determine the direction of the induced current. Then the polarity of the induced </a:t>
            </a:r>
            <a:r>
              <a:rPr lang="en-US" altLang="en-US" dirty="0">
                <a:solidFill>
                  <a:srgbClr val="009900"/>
                </a:solidFill>
                <a:latin typeface="Arial" panose="020B0604020202020204" pitchFamily="34" charset="0"/>
              </a:rPr>
              <a:t>emf</a:t>
            </a:r>
            <a:r>
              <a:rPr lang="en-US" altLang="en-US" dirty="0">
                <a:latin typeface="Arial" panose="020B0604020202020204" pitchFamily="34" charset="0"/>
              </a:rPr>
              <a:t> can be assigned because conventional </a:t>
            </a:r>
            <a:r>
              <a:rPr lang="en-US" altLang="en-US" dirty="0">
                <a:solidFill>
                  <a:srgbClr val="009900"/>
                </a:solidFill>
                <a:latin typeface="Arial" panose="020B0604020202020204" pitchFamily="34" charset="0"/>
              </a:rPr>
              <a:t>current</a:t>
            </a:r>
            <a:r>
              <a:rPr lang="en-US" altLang="en-US" dirty="0">
                <a:latin typeface="Arial" panose="020B0604020202020204" pitchFamily="34" charset="0"/>
              </a:rPr>
              <a:t> is directed out of the positive terminal, through the external </a:t>
            </a:r>
            <a:r>
              <a:rPr lang="en-US" altLang="en-US" dirty="0">
                <a:solidFill>
                  <a:srgbClr val="009900"/>
                </a:solidFill>
                <a:latin typeface="Arial" panose="020B0604020202020204" pitchFamily="34" charset="0"/>
              </a:rPr>
              <a:t>circuit</a:t>
            </a:r>
            <a:r>
              <a:rPr lang="en-US" altLang="en-US" dirty="0">
                <a:latin typeface="Arial" panose="020B0604020202020204" pitchFamily="34" charset="0"/>
              </a:rPr>
              <a:t>, and into the negative terminal.</a:t>
            </a:r>
            <a:endParaRPr lang="en-US"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132">
                                            <p:txEl>
                                              <p:charRg st="0" end="90"/>
                                            </p:txEl>
                                          </p:spTgt>
                                        </p:tgtEl>
                                        <p:attrNameLst>
                                          <p:attrName>style.visibility</p:attrName>
                                        </p:attrNameLst>
                                      </p:cBhvr>
                                      <p:to>
                                        <p:strVal val="visible"/>
                                      </p:to>
                                    </p:set>
                                    <p:animEffect transition="in" filter="fade">
                                      <p:cBhvr>
                                        <p:cTn id="7" dur="2000"/>
                                        <p:tgtEl>
                                          <p:spTgt spid="48132">
                                            <p:txEl>
                                              <p:charRg st="0" end="9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132">
                                            <p:txEl>
                                              <p:charRg st="90" end="248"/>
                                            </p:txEl>
                                          </p:spTgt>
                                        </p:tgtEl>
                                        <p:attrNameLst>
                                          <p:attrName>style.visibility</p:attrName>
                                        </p:attrNameLst>
                                      </p:cBhvr>
                                      <p:to>
                                        <p:strVal val="visible"/>
                                      </p:to>
                                    </p:set>
                                    <p:animEffect transition="in" filter="fade">
                                      <p:cBhvr>
                                        <p:cTn id="12" dur="2000"/>
                                        <p:tgtEl>
                                          <p:spTgt spid="48132">
                                            <p:txEl>
                                              <p:charRg st="90" end="24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8132">
                                            <p:txEl>
                                              <p:charRg st="248" end="574"/>
                                            </p:txEl>
                                          </p:spTgt>
                                        </p:tgtEl>
                                        <p:attrNameLst>
                                          <p:attrName>style.visibility</p:attrName>
                                        </p:attrNameLst>
                                      </p:cBhvr>
                                      <p:to>
                                        <p:strVal val="visible"/>
                                      </p:to>
                                    </p:set>
                                    <p:animEffect transition="in" filter="fade">
                                      <p:cBhvr>
                                        <p:cTn id="17" dur="2000"/>
                                        <p:tgtEl>
                                          <p:spTgt spid="48132">
                                            <p:txEl>
                                              <p:charRg st="248" end="5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ln/>
        </p:spPr>
        <p:txBody>
          <a:bodyPr vert="horz" wrap="square" lIns="91440" tIns="45720" rIns="91440" bIns="45720" anchor="ctr" anchorCtr="0"/>
          <a:p>
            <a:r>
              <a:rPr lang="en-US" altLang="en-US" dirty="0">
                <a:solidFill>
                  <a:srgbClr val="000000"/>
                </a:solidFill>
                <a:cs typeface="Arial" panose="020B0604020202020204" pitchFamily="34" charset="0"/>
              </a:rPr>
              <a:t>Application of Lenz’s Law </a:t>
            </a:r>
            <a:endParaRPr lang="en-US" altLang="en-US" dirty="0">
              <a:solidFill>
                <a:srgbClr val="000000"/>
              </a:solidFill>
              <a:ea typeface="Arial" panose="020B0604020202020204" pitchFamily="34" charset="0"/>
            </a:endParaRPr>
          </a:p>
        </p:txBody>
      </p:sp>
      <p:pic>
        <p:nvPicPr>
          <p:cNvPr id="11267" name="Picture 5" descr="fig22_16"/>
          <p:cNvPicPr>
            <a:picLocks noChangeAspect="1"/>
          </p:cNvPicPr>
          <p:nvPr/>
        </p:nvPicPr>
        <p:blipFill>
          <a:blip r:embed="rId1"/>
          <a:stretch>
            <a:fillRect/>
          </a:stretch>
        </p:blipFill>
        <p:spPr>
          <a:xfrm>
            <a:off x="1219200" y="2514600"/>
            <a:ext cx="6332538" cy="2468563"/>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90" name="Picture 7"/>
          <p:cNvPicPr>
            <a:picLocks noChangeAspect="1"/>
          </p:cNvPicPr>
          <p:nvPr/>
        </p:nvPicPr>
        <p:blipFill>
          <a:blip r:embed="rId1"/>
          <a:srcRect b="4971"/>
          <a:stretch>
            <a:fillRect/>
          </a:stretch>
        </p:blipFill>
        <p:spPr>
          <a:xfrm>
            <a:off x="158750" y="2857500"/>
            <a:ext cx="8823325" cy="3125788"/>
          </a:xfrm>
          <a:prstGeom prst="rect">
            <a:avLst/>
          </a:prstGeom>
          <a:noFill/>
          <a:ln w="9525">
            <a:noFill/>
          </a:ln>
        </p:spPr>
      </p:pic>
      <p:sp>
        <p:nvSpPr>
          <p:cNvPr id="12291" name="Text Box 3"/>
          <p:cNvSpPr txBox="1"/>
          <p:nvPr/>
        </p:nvSpPr>
        <p:spPr>
          <a:xfrm>
            <a:off x="685800" y="1066800"/>
            <a:ext cx="7772400" cy="1373188"/>
          </a:xfrm>
          <a:prstGeom prst="rect">
            <a:avLst/>
          </a:prstGeom>
          <a:noFill/>
          <a:ln w="9525">
            <a:noFill/>
          </a:ln>
        </p:spPr>
        <p:txBody>
          <a:bodyPr>
            <a:spAutoFit/>
          </a:bodyPr>
          <a:p>
            <a:pPr eaLnBrk="1" hangingPunct="1">
              <a:spcBef>
                <a:spcPct val="50000"/>
              </a:spcBef>
            </a:pPr>
            <a:r>
              <a:rPr lang="en-US" altLang="en-US" dirty="0">
                <a:solidFill>
                  <a:schemeClr val="accent2"/>
                </a:solidFill>
                <a:latin typeface="Arial" panose="020B0604020202020204" pitchFamily="34" charset="0"/>
              </a:rPr>
              <a:t>Almost 200 years ago, Faraday looked for evidence that a magnetic field would induce an electric current with this apparatus:</a:t>
            </a:r>
            <a:endParaRPr lang="en-US" altLang="en-US" dirty="0">
              <a:solidFill>
                <a:schemeClr val="accent2"/>
              </a:solidFill>
              <a:latin typeface="Arial" panose="020B0604020202020204" pitchFamily="34" charset="0"/>
            </a:endParaRPr>
          </a:p>
        </p:txBody>
      </p:sp>
      <p:sp>
        <p:nvSpPr>
          <p:cNvPr id="12292" name="Rectangle 5"/>
          <p:cNvSpPr>
            <a:spLocks noGrp="1"/>
          </p:cNvSpPr>
          <p:nvPr>
            <p:ph type="title"/>
          </p:nvPr>
        </p:nvSpPr>
        <p:spPr>
          <a:ln/>
        </p:spPr>
        <p:txBody>
          <a:bodyPr vert="horz" wrap="square" lIns="91440" tIns="45720" rIns="91440" bIns="45720" anchor="ctr" anchorCtr="0"/>
          <a:p>
            <a:pPr eaLnBrk="1" hangingPunct="1"/>
            <a:r>
              <a:rPr lang="en-US" altLang="en-US" dirty="0"/>
              <a:t>Induced EMF</a:t>
            </a:r>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8" name="Picture 7"/>
          <p:cNvPicPr>
            <a:picLocks noChangeAspect="1"/>
          </p:cNvPicPr>
          <p:nvPr/>
        </p:nvPicPr>
        <p:blipFill>
          <a:blip r:embed="rId1"/>
          <a:srcRect b="3740"/>
          <a:stretch>
            <a:fillRect/>
          </a:stretch>
        </p:blipFill>
        <p:spPr>
          <a:xfrm>
            <a:off x="682625" y="2673350"/>
            <a:ext cx="7775575" cy="3881438"/>
          </a:xfrm>
          <a:prstGeom prst="rect">
            <a:avLst/>
          </a:prstGeom>
          <a:noFill/>
          <a:ln w="9525">
            <a:noFill/>
          </a:ln>
        </p:spPr>
      </p:pic>
      <p:sp>
        <p:nvSpPr>
          <p:cNvPr id="14339" name="Text Box 3"/>
          <p:cNvSpPr txBox="1"/>
          <p:nvPr/>
        </p:nvSpPr>
        <p:spPr>
          <a:xfrm>
            <a:off x="457200" y="1143000"/>
            <a:ext cx="8153400" cy="1373188"/>
          </a:xfrm>
          <a:prstGeom prst="rect">
            <a:avLst/>
          </a:prstGeom>
          <a:noFill/>
          <a:ln w="9525">
            <a:noFill/>
          </a:ln>
        </p:spPr>
        <p:txBody>
          <a:bodyPr>
            <a:spAutoFit/>
          </a:bodyPr>
          <a:p>
            <a:pPr eaLnBrk="1" hangingPunct="1">
              <a:spcBef>
                <a:spcPct val="50000"/>
              </a:spcBef>
            </a:pPr>
            <a:r>
              <a:rPr lang="en-US" altLang="en-US" dirty="0">
                <a:solidFill>
                  <a:schemeClr val="accent2"/>
                </a:solidFill>
                <a:latin typeface="Arial" panose="020B0604020202020204" pitchFamily="34" charset="0"/>
              </a:rPr>
              <a:t>He found no evidence when the current was steady, but did see a current induced when the switch was turned on or off.</a:t>
            </a:r>
            <a:endParaRPr lang="en-US" altLang="en-US" dirty="0">
              <a:solidFill>
                <a:schemeClr val="accent2"/>
              </a:solidFill>
              <a:latin typeface="Arial" panose="020B0604020202020204" pitchFamily="34" charset="0"/>
            </a:endParaRPr>
          </a:p>
        </p:txBody>
      </p:sp>
      <p:sp>
        <p:nvSpPr>
          <p:cNvPr id="14340" name="Rectangle 5"/>
          <p:cNvSpPr>
            <a:spLocks noGrp="1"/>
          </p:cNvSpPr>
          <p:nvPr>
            <p:ph type="title"/>
          </p:nvPr>
        </p:nvSpPr>
        <p:spPr>
          <a:ln/>
        </p:spPr>
        <p:txBody>
          <a:bodyPr vert="horz" wrap="square" lIns="91440" tIns="45720" rIns="91440" bIns="45720" anchor="ctr" anchorCtr="0"/>
          <a:p>
            <a:pPr eaLnBrk="1" hangingPunct="1"/>
            <a:r>
              <a:rPr lang="en-US" altLang="en-US" dirty="0"/>
              <a:t>Induced EMF</a:t>
            </a:r>
            <a:endParaRPr lang="en-US" altLang="en-US" dirty="0"/>
          </a:p>
        </p:txBody>
      </p:sp>
      <p:sp>
        <p:nvSpPr>
          <p:cNvPr id="14341" name="Rectangle 8"/>
          <p:cNvSpPr/>
          <p:nvPr/>
        </p:nvSpPr>
        <p:spPr>
          <a:xfrm>
            <a:off x="650875" y="6000750"/>
            <a:ext cx="338138" cy="287338"/>
          </a:xfrm>
          <a:prstGeom prst="rect">
            <a:avLst/>
          </a:prstGeom>
          <a:solidFill>
            <a:schemeClr val="bg1"/>
          </a:solidFill>
          <a:ln w="9525">
            <a:noFill/>
          </a:ln>
        </p:spPr>
        <p:txBody>
          <a:bodyPr wrap="none" anchor="ctr" anchorCtr="0"/>
          <a:p>
            <a:pPr eaLnBrk="1" hangingPunct="1"/>
            <a:endParaRPr lang="en-US" altLang="en-US" dirty="0">
              <a:latin typeface="Arial" panose="020B0604020202020204" pitchFamily="34" charset="0"/>
            </a:endParaRPr>
          </a:p>
        </p:txBody>
      </p:sp>
      <p:sp>
        <p:nvSpPr>
          <p:cNvPr id="14342" name="Rectangle 9"/>
          <p:cNvSpPr/>
          <p:nvPr/>
        </p:nvSpPr>
        <p:spPr>
          <a:xfrm>
            <a:off x="3146425" y="5989638"/>
            <a:ext cx="338138" cy="287337"/>
          </a:xfrm>
          <a:prstGeom prst="rect">
            <a:avLst/>
          </a:prstGeom>
          <a:solidFill>
            <a:schemeClr val="bg1"/>
          </a:solidFill>
          <a:ln w="9525">
            <a:noFill/>
          </a:ln>
        </p:spPr>
        <p:txBody>
          <a:bodyPr wrap="none" anchor="ctr" anchorCtr="0"/>
          <a:p>
            <a:pPr eaLnBrk="1" hangingPunct="1"/>
            <a:endParaRPr lang="en-US" altLang="en-US" dirty="0">
              <a:latin typeface="Arial" panose="020B0604020202020204" pitchFamily="34" charset="0"/>
            </a:endParaRPr>
          </a:p>
        </p:txBody>
      </p:sp>
      <p:sp>
        <p:nvSpPr>
          <p:cNvPr id="14343" name="Rectangle 10"/>
          <p:cNvSpPr/>
          <p:nvPr/>
        </p:nvSpPr>
        <p:spPr>
          <a:xfrm>
            <a:off x="5975350" y="6003925"/>
            <a:ext cx="338138" cy="287338"/>
          </a:xfrm>
          <a:prstGeom prst="rect">
            <a:avLst/>
          </a:prstGeom>
          <a:solidFill>
            <a:schemeClr val="bg1"/>
          </a:solidFill>
          <a:ln w="9525">
            <a:noFill/>
          </a:ln>
        </p:spPr>
        <p:txBody>
          <a:bodyPr wrap="none" anchor="ctr" anchorCtr="0"/>
          <a:p>
            <a:pPr eaLnBrk="1" hangingPunct="1"/>
            <a:endParaRPr lang="en-US" altLang="en-US"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 Box 3"/>
          <p:cNvSpPr txBox="1"/>
          <p:nvPr/>
        </p:nvSpPr>
        <p:spPr>
          <a:xfrm>
            <a:off x="533400" y="1524000"/>
            <a:ext cx="7924800" cy="3295650"/>
          </a:xfrm>
          <a:prstGeom prst="rect">
            <a:avLst/>
          </a:prstGeom>
          <a:noFill/>
          <a:ln w="9525">
            <a:noFill/>
          </a:ln>
        </p:spPr>
        <p:txBody>
          <a:bodyPr>
            <a:spAutoFit/>
          </a:bodyPr>
          <a:p>
            <a:pPr eaLnBrk="1" hangingPunct="1">
              <a:spcBef>
                <a:spcPct val="50000"/>
              </a:spcBef>
            </a:pPr>
            <a:r>
              <a:rPr lang="en-US" altLang="en-US" dirty="0">
                <a:solidFill>
                  <a:schemeClr val="accent2"/>
                </a:solidFill>
                <a:latin typeface="Arial" panose="020B0604020202020204" pitchFamily="34" charset="0"/>
              </a:rPr>
              <a:t>Therefore, a changing magnetic field induces an emf.</a:t>
            </a:r>
            <a:endParaRPr lang="en-US" altLang="en-US" dirty="0">
              <a:solidFill>
                <a:schemeClr val="accent2"/>
              </a:solidFill>
              <a:latin typeface="Arial" panose="020B0604020202020204" pitchFamily="34" charset="0"/>
            </a:endParaRPr>
          </a:p>
          <a:p>
            <a:pPr eaLnBrk="1" hangingPunct="1">
              <a:spcBef>
                <a:spcPct val="50000"/>
              </a:spcBef>
            </a:pPr>
            <a:r>
              <a:rPr lang="en-US" altLang="en-US" dirty="0">
                <a:solidFill>
                  <a:schemeClr val="accent2"/>
                </a:solidFill>
                <a:latin typeface="Arial" panose="020B0604020202020204" pitchFamily="34" charset="0"/>
              </a:rPr>
              <a:t>Faraday’s experiment used a magnetic field that was changing because the current producing it was changing; the previous graphic shows a magnetic field that is changing because the magnet is moving. </a:t>
            </a:r>
            <a:endParaRPr lang="en-US" altLang="en-US" dirty="0">
              <a:solidFill>
                <a:schemeClr val="accent2"/>
              </a:solidFill>
              <a:latin typeface="Arial" panose="020B0604020202020204" pitchFamily="34" charset="0"/>
            </a:endParaRPr>
          </a:p>
        </p:txBody>
      </p:sp>
      <p:sp>
        <p:nvSpPr>
          <p:cNvPr id="16387" name="Rectangle 4"/>
          <p:cNvSpPr>
            <a:spLocks noGrp="1"/>
          </p:cNvSpPr>
          <p:nvPr>
            <p:ph type="title"/>
          </p:nvPr>
        </p:nvSpPr>
        <p:spPr>
          <a:ln/>
        </p:spPr>
        <p:txBody>
          <a:bodyPr vert="horz" wrap="square" lIns="91440" tIns="45720" rIns="91440" bIns="45720" anchor="ctr" anchorCtr="0"/>
          <a:p>
            <a:pPr eaLnBrk="1" hangingPunct="1"/>
            <a:r>
              <a:rPr lang="en-US" altLang="en-US" dirty="0"/>
              <a:t>Induced EMF</a:t>
            </a: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Slide Number Placeholder 3"/>
          <p:cNvSpPr txBox="1">
            <a:spLocks noGrp="1"/>
          </p:cNvSpPr>
          <p:nvPr>
            <p:ph type="sldNum" sz="quarter" idx="4294967295"/>
          </p:nvPr>
        </p:nvSpPr>
        <p:spPr>
          <a:xfrm>
            <a:off x="6553200" y="6245225"/>
            <a:ext cx="21336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fld>
            <a:endParaRPr lang="en-US" altLang="en-US" sz="1400" dirty="0"/>
          </a:p>
        </p:txBody>
      </p:sp>
      <p:grpSp>
        <p:nvGrpSpPr>
          <p:cNvPr id="17411" name="Group 2"/>
          <p:cNvGrpSpPr/>
          <p:nvPr/>
        </p:nvGrpSpPr>
        <p:grpSpPr>
          <a:xfrm>
            <a:off x="4889500" y="1295400"/>
            <a:ext cx="3721100" cy="1844675"/>
            <a:chOff x="3080" y="816"/>
            <a:chExt cx="2344" cy="1162"/>
          </a:xfrm>
        </p:grpSpPr>
        <p:grpSp>
          <p:nvGrpSpPr>
            <p:cNvPr id="17419" name="Group 3"/>
            <p:cNvGrpSpPr/>
            <p:nvPr/>
          </p:nvGrpSpPr>
          <p:grpSpPr>
            <a:xfrm>
              <a:off x="3744" y="1008"/>
              <a:ext cx="1680" cy="344"/>
              <a:chOff x="1776" y="1008"/>
              <a:chExt cx="1680" cy="344"/>
            </a:xfrm>
          </p:grpSpPr>
          <p:sp>
            <p:nvSpPr>
              <p:cNvPr id="17435" name="Rectangle 4"/>
              <p:cNvSpPr/>
              <p:nvPr/>
            </p:nvSpPr>
            <p:spPr>
              <a:xfrm>
                <a:off x="2304" y="1056"/>
                <a:ext cx="624" cy="240"/>
              </a:xfrm>
              <a:prstGeom prst="rect">
                <a:avLst/>
              </a:prstGeom>
              <a:solidFill>
                <a:srgbClr val="969696"/>
              </a:solidFill>
              <a:ln w="9525" cap="flat" cmpd="sng">
                <a:solidFill>
                  <a:schemeClr val="tx1"/>
                </a:solidFill>
                <a:prstDash val="solid"/>
                <a:miter/>
                <a:headEnd type="none" w="med" len="med"/>
                <a:tailEnd type="none" w="med" len="med"/>
              </a:ln>
            </p:spPr>
            <p:txBody>
              <a:bodyPr wrap="none" anchor="ctr" anchorCtr="0">
                <a:spAutoFit/>
              </a:bodyPr>
              <a:p>
                <a:pPr eaLnBrk="1" hangingPunct="1"/>
                <a:endParaRPr lang="en-US" altLang="en-US" sz="2400" dirty="0">
                  <a:latin typeface="Tahoma" panose="020B0604030504040204" pitchFamily="34" charset="0"/>
                </a:endParaRPr>
              </a:p>
            </p:txBody>
          </p:sp>
          <p:sp>
            <p:nvSpPr>
              <p:cNvPr id="17436" name="Text Box 5"/>
              <p:cNvSpPr txBox="1"/>
              <p:nvPr/>
            </p:nvSpPr>
            <p:spPr>
              <a:xfrm>
                <a:off x="2280" y="1020"/>
                <a:ext cx="244" cy="288"/>
              </a:xfrm>
              <a:prstGeom prst="rect">
                <a:avLst/>
              </a:prstGeom>
              <a:noFill/>
              <a:ln w="9525">
                <a:noFill/>
              </a:ln>
            </p:spPr>
            <p:txBody>
              <a:bodyPr wrap="none">
                <a:spAutoFit/>
              </a:bodyPr>
              <a:p>
                <a:pPr eaLnBrk="1" hangingPunct="1"/>
                <a:r>
                  <a:rPr lang="en-US" altLang="en-US" sz="2400" dirty="0">
                    <a:latin typeface="Tahoma" panose="020B0604030504040204" pitchFamily="34" charset="0"/>
                  </a:rPr>
                  <a:t>N</a:t>
                </a:r>
                <a:endParaRPr lang="en-US" altLang="en-US" sz="2400" dirty="0">
                  <a:latin typeface="Tahoma" panose="020B0604030504040204" pitchFamily="34" charset="0"/>
                </a:endParaRPr>
              </a:p>
            </p:txBody>
          </p:sp>
          <p:sp>
            <p:nvSpPr>
              <p:cNvPr id="17437" name="Text Box 6"/>
              <p:cNvSpPr txBox="1"/>
              <p:nvPr/>
            </p:nvSpPr>
            <p:spPr>
              <a:xfrm>
                <a:off x="2730" y="1020"/>
                <a:ext cx="223" cy="288"/>
              </a:xfrm>
              <a:prstGeom prst="rect">
                <a:avLst/>
              </a:prstGeom>
              <a:noFill/>
              <a:ln w="9525">
                <a:noFill/>
              </a:ln>
            </p:spPr>
            <p:txBody>
              <a:bodyPr wrap="none">
                <a:spAutoFit/>
              </a:bodyPr>
              <a:p>
                <a:pPr eaLnBrk="1" hangingPunct="1"/>
                <a:r>
                  <a:rPr lang="en-US" altLang="en-US" sz="2400" dirty="0">
                    <a:latin typeface="Tahoma" panose="020B0604030504040204" pitchFamily="34" charset="0"/>
                  </a:rPr>
                  <a:t>S</a:t>
                </a:r>
                <a:endParaRPr lang="en-US" altLang="en-US" sz="2400" dirty="0">
                  <a:latin typeface="Tahoma" panose="020B0604030504040204" pitchFamily="34" charset="0"/>
                </a:endParaRPr>
              </a:p>
            </p:txBody>
          </p:sp>
          <p:sp>
            <p:nvSpPr>
              <p:cNvPr id="17438" name="Line 7"/>
              <p:cNvSpPr/>
              <p:nvPr/>
            </p:nvSpPr>
            <p:spPr>
              <a:xfrm flipH="1">
                <a:off x="1776" y="1176"/>
                <a:ext cx="528" cy="0"/>
              </a:xfrm>
              <a:prstGeom prst="line">
                <a:avLst/>
              </a:prstGeom>
              <a:ln w="38100" cap="flat" cmpd="sng">
                <a:solidFill>
                  <a:srgbClr val="3366FF"/>
                </a:solidFill>
                <a:prstDash val="solid"/>
                <a:headEnd type="none" w="med" len="med"/>
                <a:tailEnd type="triangle" w="med" len="med"/>
              </a:ln>
            </p:spPr>
          </p:sp>
          <p:sp>
            <p:nvSpPr>
              <p:cNvPr id="17439" name="Freeform 8"/>
              <p:cNvSpPr/>
              <p:nvPr/>
            </p:nvSpPr>
            <p:spPr>
              <a:xfrm>
                <a:off x="1824" y="1240"/>
                <a:ext cx="480" cy="104"/>
              </a:xfrm>
              <a:custGeom>
                <a:avLst/>
                <a:gdLst>
                  <a:gd name="txL" fmla="*/ 0 w 480"/>
                  <a:gd name="txT" fmla="*/ 0 h 104"/>
                  <a:gd name="txR" fmla="*/ 480 w 480"/>
                  <a:gd name="txB" fmla="*/ 104 h 104"/>
                </a:gdLst>
                <a:ahLst/>
                <a:cxnLst>
                  <a:cxn ang="0">
                    <a:pos x="480" y="8"/>
                  </a:cxn>
                  <a:cxn ang="0">
                    <a:pos x="240" y="8"/>
                  </a:cxn>
                  <a:cxn ang="0">
                    <a:pos x="96" y="56"/>
                  </a:cxn>
                  <a:cxn ang="0">
                    <a:pos x="0" y="104"/>
                  </a:cxn>
                </a:cxnLst>
                <a:rect l="txL" t="txT" r="txR" b="txB"/>
                <a:pathLst>
                  <a:path w="480" h="104">
                    <a:moveTo>
                      <a:pt x="480" y="8"/>
                    </a:moveTo>
                    <a:cubicBezTo>
                      <a:pt x="392" y="4"/>
                      <a:pt x="304" y="0"/>
                      <a:pt x="240" y="8"/>
                    </a:cubicBezTo>
                    <a:cubicBezTo>
                      <a:pt x="176" y="16"/>
                      <a:pt x="136" y="40"/>
                      <a:pt x="96" y="56"/>
                    </a:cubicBezTo>
                    <a:cubicBezTo>
                      <a:pt x="56" y="72"/>
                      <a:pt x="28" y="88"/>
                      <a:pt x="0" y="104"/>
                    </a:cubicBezTo>
                  </a:path>
                </a:pathLst>
              </a:custGeom>
              <a:noFill/>
              <a:ln w="38100" cap="flat" cmpd="sng">
                <a:solidFill>
                  <a:srgbClr val="3366FF">
                    <a:alpha val="100000"/>
                  </a:srgbClr>
                </a:solidFill>
                <a:prstDash val="solid"/>
                <a:round/>
                <a:headEnd type="none" w="med" len="med"/>
                <a:tailEnd type="triangle" w="med" len="med"/>
              </a:ln>
            </p:spPr>
            <p:txBody>
              <a:bodyPr/>
              <a:p>
                <a:endParaRPr lang="en-US"/>
              </a:p>
            </p:txBody>
          </p:sp>
          <p:sp>
            <p:nvSpPr>
              <p:cNvPr id="17440" name="Freeform 9"/>
              <p:cNvSpPr/>
              <p:nvPr/>
            </p:nvSpPr>
            <p:spPr>
              <a:xfrm flipV="1">
                <a:off x="1824" y="1008"/>
                <a:ext cx="480" cy="104"/>
              </a:xfrm>
              <a:custGeom>
                <a:avLst/>
                <a:gdLst>
                  <a:gd name="txL" fmla="*/ 0 w 480"/>
                  <a:gd name="txT" fmla="*/ 0 h 104"/>
                  <a:gd name="txR" fmla="*/ 480 w 480"/>
                  <a:gd name="txB" fmla="*/ 104 h 104"/>
                </a:gdLst>
                <a:ahLst/>
                <a:cxnLst>
                  <a:cxn ang="0">
                    <a:pos x="480" y="8"/>
                  </a:cxn>
                  <a:cxn ang="0">
                    <a:pos x="240" y="8"/>
                  </a:cxn>
                  <a:cxn ang="0">
                    <a:pos x="96" y="56"/>
                  </a:cxn>
                  <a:cxn ang="0">
                    <a:pos x="0" y="104"/>
                  </a:cxn>
                </a:cxnLst>
                <a:rect l="txL" t="txT" r="txR" b="txB"/>
                <a:pathLst>
                  <a:path w="480" h="104">
                    <a:moveTo>
                      <a:pt x="480" y="8"/>
                    </a:moveTo>
                    <a:cubicBezTo>
                      <a:pt x="392" y="4"/>
                      <a:pt x="304" y="0"/>
                      <a:pt x="240" y="8"/>
                    </a:cubicBezTo>
                    <a:cubicBezTo>
                      <a:pt x="176" y="16"/>
                      <a:pt x="136" y="40"/>
                      <a:pt x="96" y="56"/>
                    </a:cubicBezTo>
                    <a:cubicBezTo>
                      <a:pt x="56" y="72"/>
                      <a:pt x="28" y="88"/>
                      <a:pt x="0" y="104"/>
                    </a:cubicBezTo>
                  </a:path>
                </a:pathLst>
              </a:custGeom>
              <a:noFill/>
              <a:ln w="38100" cap="flat" cmpd="sng">
                <a:solidFill>
                  <a:srgbClr val="3366FF">
                    <a:alpha val="100000"/>
                  </a:srgbClr>
                </a:solidFill>
                <a:prstDash val="solid"/>
                <a:round/>
                <a:headEnd type="none" w="med" len="med"/>
                <a:tailEnd type="triangle" w="med" len="med"/>
              </a:ln>
            </p:spPr>
            <p:txBody>
              <a:bodyPr/>
              <a:p>
                <a:endParaRPr lang="en-US"/>
              </a:p>
            </p:txBody>
          </p:sp>
          <p:sp>
            <p:nvSpPr>
              <p:cNvPr id="17441" name="Freeform 10"/>
              <p:cNvSpPr/>
              <p:nvPr/>
            </p:nvSpPr>
            <p:spPr>
              <a:xfrm flipH="1">
                <a:off x="2928" y="1248"/>
                <a:ext cx="480" cy="104"/>
              </a:xfrm>
              <a:custGeom>
                <a:avLst/>
                <a:gdLst>
                  <a:gd name="txL" fmla="*/ 0 w 480"/>
                  <a:gd name="txT" fmla="*/ 0 h 104"/>
                  <a:gd name="txR" fmla="*/ 480 w 480"/>
                  <a:gd name="txB" fmla="*/ 104 h 104"/>
                </a:gdLst>
                <a:ahLst/>
                <a:cxnLst>
                  <a:cxn ang="0">
                    <a:pos x="480" y="8"/>
                  </a:cxn>
                  <a:cxn ang="0">
                    <a:pos x="240" y="8"/>
                  </a:cxn>
                  <a:cxn ang="0">
                    <a:pos x="96" y="56"/>
                  </a:cxn>
                  <a:cxn ang="0">
                    <a:pos x="0" y="104"/>
                  </a:cxn>
                </a:cxnLst>
                <a:rect l="txL" t="txT" r="txR" b="txB"/>
                <a:pathLst>
                  <a:path w="480" h="104">
                    <a:moveTo>
                      <a:pt x="480" y="8"/>
                    </a:moveTo>
                    <a:cubicBezTo>
                      <a:pt x="392" y="4"/>
                      <a:pt x="304" y="0"/>
                      <a:pt x="240" y="8"/>
                    </a:cubicBezTo>
                    <a:cubicBezTo>
                      <a:pt x="176" y="16"/>
                      <a:pt x="136" y="40"/>
                      <a:pt x="96" y="56"/>
                    </a:cubicBezTo>
                    <a:cubicBezTo>
                      <a:pt x="56" y="72"/>
                      <a:pt x="28" y="88"/>
                      <a:pt x="0" y="104"/>
                    </a:cubicBezTo>
                  </a:path>
                </a:pathLst>
              </a:custGeom>
              <a:noFill/>
              <a:ln w="38100" cap="flat" cmpd="sng">
                <a:solidFill>
                  <a:srgbClr val="3366FF">
                    <a:alpha val="100000"/>
                  </a:srgbClr>
                </a:solidFill>
                <a:prstDash val="solid"/>
                <a:round/>
                <a:headEnd type="triangle" w="med" len="med"/>
                <a:tailEnd type="none" w="med" len="med"/>
              </a:ln>
            </p:spPr>
            <p:txBody>
              <a:bodyPr/>
              <a:p>
                <a:endParaRPr lang="en-US"/>
              </a:p>
            </p:txBody>
          </p:sp>
          <p:sp>
            <p:nvSpPr>
              <p:cNvPr id="17442" name="Freeform 11"/>
              <p:cNvSpPr/>
              <p:nvPr/>
            </p:nvSpPr>
            <p:spPr>
              <a:xfrm flipH="1" flipV="1">
                <a:off x="2928" y="1008"/>
                <a:ext cx="480" cy="104"/>
              </a:xfrm>
              <a:custGeom>
                <a:avLst/>
                <a:gdLst>
                  <a:gd name="txL" fmla="*/ 0 w 480"/>
                  <a:gd name="txT" fmla="*/ 0 h 104"/>
                  <a:gd name="txR" fmla="*/ 480 w 480"/>
                  <a:gd name="txB" fmla="*/ 104 h 104"/>
                </a:gdLst>
                <a:ahLst/>
                <a:cxnLst>
                  <a:cxn ang="0">
                    <a:pos x="480" y="8"/>
                  </a:cxn>
                  <a:cxn ang="0">
                    <a:pos x="240" y="8"/>
                  </a:cxn>
                  <a:cxn ang="0">
                    <a:pos x="96" y="56"/>
                  </a:cxn>
                  <a:cxn ang="0">
                    <a:pos x="0" y="104"/>
                  </a:cxn>
                </a:cxnLst>
                <a:rect l="txL" t="txT" r="txR" b="txB"/>
                <a:pathLst>
                  <a:path w="480" h="104">
                    <a:moveTo>
                      <a:pt x="480" y="8"/>
                    </a:moveTo>
                    <a:cubicBezTo>
                      <a:pt x="392" y="4"/>
                      <a:pt x="304" y="0"/>
                      <a:pt x="240" y="8"/>
                    </a:cubicBezTo>
                    <a:cubicBezTo>
                      <a:pt x="176" y="16"/>
                      <a:pt x="136" y="40"/>
                      <a:pt x="96" y="56"/>
                    </a:cubicBezTo>
                    <a:cubicBezTo>
                      <a:pt x="56" y="72"/>
                      <a:pt x="28" y="88"/>
                      <a:pt x="0" y="104"/>
                    </a:cubicBezTo>
                  </a:path>
                </a:pathLst>
              </a:custGeom>
              <a:noFill/>
              <a:ln w="38100" cap="flat" cmpd="sng">
                <a:solidFill>
                  <a:srgbClr val="3366FF">
                    <a:alpha val="100000"/>
                  </a:srgbClr>
                </a:solidFill>
                <a:prstDash val="solid"/>
                <a:round/>
                <a:headEnd type="triangle" w="med" len="med"/>
                <a:tailEnd type="none" w="med" len="med"/>
              </a:ln>
            </p:spPr>
            <p:txBody>
              <a:bodyPr/>
              <a:p>
                <a:endParaRPr lang="en-US"/>
              </a:p>
            </p:txBody>
          </p:sp>
          <p:sp>
            <p:nvSpPr>
              <p:cNvPr id="17443" name="Line 12"/>
              <p:cNvSpPr/>
              <p:nvPr/>
            </p:nvSpPr>
            <p:spPr>
              <a:xfrm flipH="1">
                <a:off x="2928" y="1176"/>
                <a:ext cx="528" cy="0"/>
              </a:xfrm>
              <a:prstGeom prst="line">
                <a:avLst/>
              </a:prstGeom>
              <a:ln w="38100" cap="flat" cmpd="sng">
                <a:solidFill>
                  <a:srgbClr val="3366FF"/>
                </a:solidFill>
                <a:prstDash val="solid"/>
                <a:headEnd type="none" w="med" len="med"/>
                <a:tailEnd type="triangle" w="med" len="med"/>
              </a:ln>
            </p:spPr>
          </p:sp>
        </p:grpSp>
        <p:grpSp>
          <p:nvGrpSpPr>
            <p:cNvPr id="17420" name="Group 13"/>
            <p:cNvGrpSpPr/>
            <p:nvPr/>
          </p:nvGrpSpPr>
          <p:grpSpPr>
            <a:xfrm>
              <a:off x="3080" y="816"/>
              <a:ext cx="1580" cy="1162"/>
              <a:chOff x="3080" y="816"/>
              <a:chExt cx="1580" cy="1162"/>
            </a:xfrm>
          </p:grpSpPr>
          <p:sp>
            <p:nvSpPr>
              <p:cNvPr id="17421" name="Oval 14"/>
              <p:cNvSpPr/>
              <p:nvPr/>
            </p:nvSpPr>
            <p:spPr>
              <a:xfrm>
                <a:off x="3456" y="816"/>
                <a:ext cx="192" cy="720"/>
              </a:xfrm>
              <a:prstGeom prst="ellipse">
                <a:avLst/>
              </a:prstGeom>
              <a:noFill/>
              <a:ln w="19050" cap="flat" cmpd="sng">
                <a:solidFill>
                  <a:schemeClr val="tx1"/>
                </a:solidFill>
                <a:prstDash val="solid"/>
                <a:headEnd type="none" w="med" len="med"/>
                <a:tailEnd type="none" w="med" len="med"/>
              </a:ln>
            </p:spPr>
            <p:txBody>
              <a:bodyPr anchor="ctr" anchorCtr="0">
                <a:spAutoFit/>
              </a:bodyPr>
              <a:p>
                <a:pPr eaLnBrk="1" hangingPunct="1"/>
                <a:endParaRPr lang="en-US" altLang="en-US" sz="2400" dirty="0">
                  <a:latin typeface="Tahoma" panose="020B0604030504040204" pitchFamily="34" charset="0"/>
                </a:endParaRPr>
              </a:p>
            </p:txBody>
          </p:sp>
          <p:sp>
            <p:nvSpPr>
              <p:cNvPr id="17422" name="Rectangle 15"/>
              <p:cNvSpPr/>
              <p:nvPr/>
            </p:nvSpPr>
            <p:spPr>
              <a:xfrm>
                <a:off x="3192" y="1134"/>
                <a:ext cx="188" cy="288"/>
              </a:xfrm>
              <a:prstGeom prst="rect">
                <a:avLst/>
              </a:prstGeom>
              <a:noFill/>
              <a:ln w="9525">
                <a:noFill/>
              </a:ln>
            </p:spPr>
            <p:txBody>
              <a:bodyPr wrap="none">
                <a:spAutoFit/>
              </a:bodyPr>
              <a:p>
                <a:pPr eaLnBrk="1" hangingPunct="1"/>
                <a:r>
                  <a:rPr lang="en-US" altLang="en-US" sz="2400" dirty="0">
                    <a:solidFill>
                      <a:srgbClr val="FF0000"/>
                    </a:solidFill>
                    <a:latin typeface="Tahoma" panose="020B0604030504040204" pitchFamily="34" charset="0"/>
                  </a:rPr>
                  <a:t>I</a:t>
                </a:r>
                <a:endParaRPr lang="en-US" altLang="en-US" sz="2400" dirty="0">
                  <a:solidFill>
                    <a:srgbClr val="FF0000"/>
                  </a:solidFill>
                  <a:latin typeface="Tahoma" panose="020B0604030504040204" pitchFamily="34" charset="0"/>
                </a:endParaRPr>
              </a:p>
            </p:txBody>
          </p:sp>
          <p:sp>
            <p:nvSpPr>
              <p:cNvPr id="17423" name="Rectangle 16"/>
              <p:cNvSpPr/>
              <p:nvPr/>
            </p:nvSpPr>
            <p:spPr>
              <a:xfrm>
                <a:off x="4464" y="1344"/>
                <a:ext cx="196" cy="250"/>
              </a:xfrm>
              <a:prstGeom prst="rect">
                <a:avLst/>
              </a:prstGeom>
              <a:noFill/>
              <a:ln w="9525">
                <a:noFill/>
              </a:ln>
            </p:spPr>
            <p:txBody>
              <a:bodyPr wrap="none">
                <a:spAutoFit/>
              </a:bodyPr>
              <a:p>
                <a:pPr eaLnBrk="1" hangingPunct="1"/>
                <a:r>
                  <a:rPr lang="en-US" altLang="en-US" sz="2000" dirty="0">
                    <a:latin typeface="Tahoma" panose="020B0604030504040204" pitchFamily="34" charset="0"/>
                  </a:rPr>
                  <a:t>v</a:t>
                </a:r>
                <a:endParaRPr lang="en-US" altLang="en-US" sz="2000" dirty="0">
                  <a:latin typeface="Tahoma" panose="020B0604030504040204" pitchFamily="34" charset="0"/>
                </a:endParaRPr>
              </a:p>
            </p:txBody>
          </p:sp>
          <p:sp>
            <p:nvSpPr>
              <p:cNvPr id="17424" name="Line 17"/>
              <p:cNvSpPr/>
              <p:nvPr/>
            </p:nvSpPr>
            <p:spPr>
              <a:xfrm flipH="1">
                <a:off x="4128" y="1482"/>
                <a:ext cx="384" cy="0"/>
              </a:xfrm>
              <a:prstGeom prst="line">
                <a:avLst/>
              </a:prstGeom>
              <a:ln w="28575" cap="flat" cmpd="sng">
                <a:solidFill>
                  <a:schemeClr val="tx1"/>
                </a:solidFill>
                <a:prstDash val="solid"/>
                <a:headEnd type="none" w="med" len="med"/>
                <a:tailEnd type="triangle" w="med" len="med"/>
              </a:ln>
            </p:spPr>
          </p:sp>
          <p:sp>
            <p:nvSpPr>
              <p:cNvPr id="17425" name="Oval 18"/>
              <p:cNvSpPr/>
              <p:nvPr/>
            </p:nvSpPr>
            <p:spPr>
              <a:xfrm>
                <a:off x="3432" y="816"/>
                <a:ext cx="192" cy="720"/>
              </a:xfrm>
              <a:prstGeom prst="ellipse">
                <a:avLst/>
              </a:prstGeom>
              <a:noFill/>
              <a:ln w="19050" cap="flat" cmpd="sng">
                <a:solidFill>
                  <a:schemeClr val="tx1"/>
                </a:solidFill>
                <a:prstDash val="solid"/>
                <a:headEnd type="none" w="med" len="med"/>
                <a:tailEnd type="none" w="med" len="med"/>
              </a:ln>
            </p:spPr>
            <p:txBody>
              <a:bodyPr anchor="ctr" anchorCtr="0">
                <a:spAutoFit/>
              </a:bodyPr>
              <a:p>
                <a:pPr eaLnBrk="1" hangingPunct="1"/>
                <a:endParaRPr lang="en-US" altLang="en-US" sz="2400" dirty="0">
                  <a:latin typeface="Tahoma" panose="020B0604030504040204" pitchFamily="34" charset="0"/>
                </a:endParaRPr>
              </a:p>
            </p:txBody>
          </p:sp>
          <p:sp>
            <p:nvSpPr>
              <p:cNvPr id="17426" name="Oval 19"/>
              <p:cNvSpPr/>
              <p:nvPr/>
            </p:nvSpPr>
            <p:spPr>
              <a:xfrm>
                <a:off x="3408" y="816"/>
                <a:ext cx="192" cy="720"/>
              </a:xfrm>
              <a:prstGeom prst="ellipse">
                <a:avLst/>
              </a:prstGeom>
              <a:noFill/>
              <a:ln w="19050" cap="flat" cmpd="sng">
                <a:solidFill>
                  <a:schemeClr val="tx1"/>
                </a:solidFill>
                <a:prstDash val="solid"/>
                <a:headEnd type="none" w="med" len="med"/>
                <a:tailEnd type="none" w="med" len="med"/>
              </a:ln>
            </p:spPr>
            <p:txBody>
              <a:bodyPr anchor="ctr" anchorCtr="0">
                <a:spAutoFit/>
              </a:bodyPr>
              <a:p>
                <a:pPr eaLnBrk="1" hangingPunct="1"/>
                <a:endParaRPr lang="en-US" altLang="en-US" sz="2400" dirty="0">
                  <a:latin typeface="Tahoma" panose="020B0604030504040204" pitchFamily="34" charset="0"/>
                </a:endParaRPr>
              </a:p>
            </p:txBody>
          </p:sp>
          <p:sp>
            <p:nvSpPr>
              <p:cNvPr id="17427" name="Oval 20"/>
              <p:cNvSpPr/>
              <p:nvPr/>
            </p:nvSpPr>
            <p:spPr>
              <a:xfrm>
                <a:off x="3384" y="816"/>
                <a:ext cx="192" cy="720"/>
              </a:xfrm>
              <a:prstGeom prst="ellipse">
                <a:avLst/>
              </a:prstGeom>
              <a:noFill/>
              <a:ln w="19050" cap="flat" cmpd="sng">
                <a:solidFill>
                  <a:schemeClr val="tx1"/>
                </a:solidFill>
                <a:prstDash val="solid"/>
                <a:headEnd type="none" w="med" len="med"/>
                <a:tailEnd type="none" w="med" len="med"/>
              </a:ln>
            </p:spPr>
            <p:txBody>
              <a:bodyPr anchor="ctr" anchorCtr="0">
                <a:spAutoFit/>
              </a:bodyPr>
              <a:p>
                <a:pPr eaLnBrk="1" hangingPunct="1"/>
                <a:endParaRPr lang="en-US" altLang="en-US" sz="2400" dirty="0">
                  <a:latin typeface="Tahoma" panose="020B0604030504040204" pitchFamily="34" charset="0"/>
                </a:endParaRPr>
              </a:p>
            </p:txBody>
          </p:sp>
          <p:sp>
            <p:nvSpPr>
              <p:cNvPr id="17428" name="Oval 21"/>
              <p:cNvSpPr/>
              <p:nvPr/>
            </p:nvSpPr>
            <p:spPr>
              <a:xfrm>
                <a:off x="3360" y="816"/>
                <a:ext cx="192" cy="720"/>
              </a:xfrm>
              <a:prstGeom prst="ellipse">
                <a:avLst/>
              </a:prstGeom>
              <a:noFill/>
              <a:ln w="19050" cap="flat" cmpd="sng">
                <a:solidFill>
                  <a:schemeClr val="tx1"/>
                </a:solidFill>
                <a:prstDash val="solid"/>
                <a:headEnd type="none" w="med" len="med"/>
                <a:tailEnd type="none" w="med" len="med"/>
              </a:ln>
            </p:spPr>
            <p:txBody>
              <a:bodyPr anchor="ctr" anchorCtr="0">
                <a:spAutoFit/>
              </a:bodyPr>
              <a:p>
                <a:pPr eaLnBrk="1" hangingPunct="1"/>
                <a:endParaRPr lang="en-US" altLang="en-US" sz="2400" dirty="0">
                  <a:latin typeface="Tahoma" panose="020B0604030504040204" pitchFamily="34" charset="0"/>
                </a:endParaRPr>
              </a:p>
            </p:txBody>
          </p:sp>
          <p:sp>
            <p:nvSpPr>
              <p:cNvPr id="17429" name="Freeform 22"/>
              <p:cNvSpPr>
                <a:spLocks noChangeAspect="1"/>
              </p:cNvSpPr>
              <p:nvPr/>
            </p:nvSpPr>
            <p:spPr>
              <a:xfrm>
                <a:off x="3336" y="1780"/>
                <a:ext cx="322" cy="81"/>
              </a:xfrm>
              <a:custGeom>
                <a:avLst/>
                <a:gdLst>
                  <a:gd name="txL" fmla="*/ 0 w 768"/>
                  <a:gd name="txT" fmla="*/ 0 h 192"/>
                  <a:gd name="txR" fmla="*/ 768 w 768"/>
                  <a:gd name="txB" fmla="*/ 192 h 192"/>
                </a:gdLst>
                <a:ahLst/>
                <a:cxnLst>
                  <a:cxn ang="0">
                    <a:pos x="0" y="7"/>
                  </a:cxn>
                  <a:cxn ang="0">
                    <a:pos x="7" y="7"/>
                  </a:cxn>
                  <a:cxn ang="0">
                    <a:pos x="10" y="0"/>
                  </a:cxn>
                  <a:cxn ang="0">
                    <a:pos x="18" y="14"/>
                  </a:cxn>
                  <a:cxn ang="0">
                    <a:pos x="25" y="0"/>
                  </a:cxn>
                  <a:cxn ang="0">
                    <a:pos x="32" y="14"/>
                  </a:cxn>
                  <a:cxn ang="0">
                    <a:pos x="39" y="0"/>
                  </a:cxn>
                  <a:cxn ang="0">
                    <a:pos x="46" y="14"/>
                  </a:cxn>
                  <a:cxn ang="0">
                    <a:pos x="49" y="7"/>
                  </a:cxn>
                  <a:cxn ang="0">
                    <a:pos x="57" y="7"/>
                  </a:cxn>
                </a:cxnLst>
                <a:rect l="txL" t="txT" r="txR" b="txB"/>
                <a:pathLst>
                  <a:path w="768" h="192">
                    <a:moveTo>
                      <a:pt x="0" y="96"/>
                    </a:moveTo>
                    <a:lnTo>
                      <a:pt x="96" y="96"/>
                    </a:lnTo>
                    <a:lnTo>
                      <a:pt x="144" y="0"/>
                    </a:lnTo>
                    <a:lnTo>
                      <a:pt x="240" y="192"/>
                    </a:lnTo>
                    <a:lnTo>
                      <a:pt x="336" y="0"/>
                    </a:lnTo>
                    <a:lnTo>
                      <a:pt x="432" y="192"/>
                    </a:lnTo>
                    <a:lnTo>
                      <a:pt x="528" y="0"/>
                    </a:lnTo>
                    <a:lnTo>
                      <a:pt x="624" y="192"/>
                    </a:lnTo>
                    <a:lnTo>
                      <a:pt x="672" y="96"/>
                    </a:lnTo>
                    <a:lnTo>
                      <a:pt x="768" y="96"/>
                    </a:lnTo>
                  </a:path>
                </a:pathLst>
              </a:custGeom>
              <a:noFill/>
              <a:ln w="19050" cap="flat" cmpd="sng">
                <a:solidFill>
                  <a:schemeClr val="tx2">
                    <a:alpha val="100000"/>
                  </a:schemeClr>
                </a:solidFill>
                <a:prstDash val="solid"/>
                <a:round/>
                <a:headEnd type="none" w="med" len="med"/>
                <a:tailEnd type="none" w="med" len="med"/>
              </a:ln>
            </p:spPr>
            <p:txBody>
              <a:bodyPr/>
              <a:p>
                <a:endParaRPr lang="en-US"/>
              </a:p>
            </p:txBody>
          </p:sp>
          <p:sp>
            <p:nvSpPr>
              <p:cNvPr id="17430" name="Freeform 23"/>
              <p:cNvSpPr/>
              <p:nvPr/>
            </p:nvSpPr>
            <p:spPr>
              <a:xfrm>
                <a:off x="3246" y="1530"/>
                <a:ext cx="192" cy="288"/>
              </a:xfrm>
              <a:custGeom>
                <a:avLst/>
                <a:gdLst>
                  <a:gd name="txL" fmla="*/ 0 w 192"/>
                  <a:gd name="txT" fmla="*/ 0 h 288"/>
                  <a:gd name="txR" fmla="*/ 192 w 192"/>
                  <a:gd name="txB" fmla="*/ 288 h 288"/>
                </a:gdLst>
                <a:ahLst/>
                <a:cxnLst>
                  <a:cxn ang="0">
                    <a:pos x="192" y="0"/>
                  </a:cxn>
                  <a:cxn ang="0">
                    <a:pos x="192" y="48"/>
                  </a:cxn>
                  <a:cxn ang="0">
                    <a:pos x="0" y="48"/>
                  </a:cxn>
                  <a:cxn ang="0">
                    <a:pos x="0" y="288"/>
                  </a:cxn>
                  <a:cxn ang="0">
                    <a:pos x="96" y="288"/>
                  </a:cxn>
                </a:cxnLst>
                <a:rect l="txL" t="txT" r="txR" b="txB"/>
                <a:pathLst>
                  <a:path w="192" h="288">
                    <a:moveTo>
                      <a:pt x="192" y="0"/>
                    </a:moveTo>
                    <a:lnTo>
                      <a:pt x="192" y="48"/>
                    </a:lnTo>
                    <a:lnTo>
                      <a:pt x="0" y="48"/>
                    </a:lnTo>
                    <a:lnTo>
                      <a:pt x="0" y="288"/>
                    </a:lnTo>
                    <a:lnTo>
                      <a:pt x="96" y="288"/>
                    </a:lnTo>
                  </a:path>
                </a:pathLst>
              </a:custGeom>
              <a:noFill/>
              <a:ln w="19050" cap="flat" cmpd="sng">
                <a:solidFill>
                  <a:schemeClr val="tx1">
                    <a:alpha val="100000"/>
                  </a:schemeClr>
                </a:solidFill>
                <a:prstDash val="solid"/>
                <a:round/>
                <a:headEnd type="none" w="med" len="med"/>
                <a:tailEnd type="none" w="med" len="med"/>
              </a:ln>
            </p:spPr>
            <p:txBody>
              <a:bodyPr/>
              <a:p>
                <a:endParaRPr lang="en-US"/>
              </a:p>
            </p:txBody>
          </p:sp>
          <p:sp>
            <p:nvSpPr>
              <p:cNvPr id="17431" name="Freeform 24"/>
              <p:cNvSpPr/>
              <p:nvPr/>
            </p:nvSpPr>
            <p:spPr>
              <a:xfrm flipH="1">
                <a:off x="3558" y="1530"/>
                <a:ext cx="192" cy="288"/>
              </a:xfrm>
              <a:custGeom>
                <a:avLst/>
                <a:gdLst>
                  <a:gd name="txL" fmla="*/ 0 w 192"/>
                  <a:gd name="txT" fmla="*/ 0 h 288"/>
                  <a:gd name="txR" fmla="*/ 192 w 192"/>
                  <a:gd name="txB" fmla="*/ 288 h 288"/>
                </a:gdLst>
                <a:ahLst/>
                <a:cxnLst>
                  <a:cxn ang="0">
                    <a:pos x="192" y="0"/>
                  </a:cxn>
                  <a:cxn ang="0">
                    <a:pos x="192" y="48"/>
                  </a:cxn>
                  <a:cxn ang="0">
                    <a:pos x="0" y="48"/>
                  </a:cxn>
                  <a:cxn ang="0">
                    <a:pos x="0" y="288"/>
                  </a:cxn>
                  <a:cxn ang="0">
                    <a:pos x="96" y="288"/>
                  </a:cxn>
                </a:cxnLst>
                <a:rect l="txL" t="txT" r="txR" b="txB"/>
                <a:pathLst>
                  <a:path w="192" h="288">
                    <a:moveTo>
                      <a:pt x="192" y="0"/>
                    </a:moveTo>
                    <a:lnTo>
                      <a:pt x="192" y="48"/>
                    </a:lnTo>
                    <a:lnTo>
                      <a:pt x="0" y="48"/>
                    </a:lnTo>
                    <a:lnTo>
                      <a:pt x="0" y="288"/>
                    </a:lnTo>
                    <a:lnTo>
                      <a:pt x="96" y="288"/>
                    </a:lnTo>
                  </a:path>
                </a:pathLst>
              </a:custGeom>
              <a:noFill/>
              <a:ln w="19050" cap="flat" cmpd="sng">
                <a:solidFill>
                  <a:schemeClr val="tx1">
                    <a:alpha val="100000"/>
                  </a:schemeClr>
                </a:solidFill>
                <a:prstDash val="solid"/>
                <a:round/>
                <a:headEnd type="none" w="med" len="med"/>
                <a:tailEnd type="none" w="med" len="med"/>
              </a:ln>
            </p:spPr>
            <p:txBody>
              <a:bodyPr/>
              <a:p>
                <a:endParaRPr lang="en-US"/>
              </a:p>
            </p:txBody>
          </p:sp>
          <p:sp>
            <p:nvSpPr>
              <p:cNvPr id="17432" name="Arc 25"/>
              <p:cNvSpPr/>
              <p:nvPr/>
            </p:nvSpPr>
            <p:spPr>
              <a:xfrm rot="-1500000" flipH="1">
                <a:off x="3318" y="1056"/>
                <a:ext cx="576" cy="317"/>
              </a:xfrm>
              <a:custGeom>
                <a:avLst/>
                <a:gdLst>
                  <a:gd name="txL" fmla="*/ 0 w 21600"/>
                  <a:gd name="txT" fmla="*/ 0 h 11892"/>
                  <a:gd name="txR" fmla="*/ 21600 w 21600"/>
                  <a:gd name="txB" fmla="*/ 11892 h 11892"/>
                </a:gdLst>
                <a:ahLst/>
                <a:cxnLst>
                  <a:cxn ang="0">
                    <a:pos x="0" y="0"/>
                  </a:cxn>
                  <a:cxn ang="0">
                    <a:pos x="0" y="0"/>
                  </a:cxn>
                  <a:cxn ang="0">
                    <a:pos x="0" y="0"/>
                  </a:cxn>
                </a:cxnLst>
                <a:rect l="txL" t="txT" r="txR" b="txB"/>
                <a:pathLst>
                  <a:path w="21600" h="11892" fill="none">
                    <a:moveTo>
                      <a:pt x="18031" y="0"/>
                    </a:moveTo>
                    <a:cubicBezTo>
                      <a:pt x="20359" y="3529"/>
                      <a:pt x="21600" y="7664"/>
                      <a:pt x="21600" y="11892"/>
                    </a:cubicBezTo>
                  </a:path>
                  <a:path w="21600" h="11892" stroke="0">
                    <a:moveTo>
                      <a:pt x="18031" y="0"/>
                    </a:moveTo>
                    <a:cubicBezTo>
                      <a:pt x="20359" y="3529"/>
                      <a:pt x="21600" y="7664"/>
                      <a:pt x="21600" y="11892"/>
                    </a:cubicBezTo>
                    <a:lnTo>
                      <a:pt x="0" y="11892"/>
                    </a:lnTo>
                    <a:lnTo>
                      <a:pt x="18031" y="0"/>
                    </a:lnTo>
                    <a:close/>
                  </a:path>
                </a:pathLst>
              </a:custGeom>
              <a:noFill/>
              <a:ln w="38100" cap="flat" cmpd="sng">
                <a:solidFill>
                  <a:srgbClr val="FF0000">
                    <a:alpha val="100000"/>
                  </a:srgbClr>
                </a:solidFill>
                <a:prstDash val="solid"/>
                <a:round/>
                <a:headEnd type="none" w="med" len="med"/>
                <a:tailEnd type="triangle" w="med" len="med"/>
              </a:ln>
            </p:spPr>
            <p:txBody>
              <a:bodyPr/>
              <a:p>
                <a:endParaRPr lang="en-US"/>
              </a:p>
            </p:txBody>
          </p:sp>
          <p:sp>
            <p:nvSpPr>
              <p:cNvPr id="17433" name="Rectangle 26"/>
              <p:cNvSpPr/>
              <p:nvPr/>
            </p:nvSpPr>
            <p:spPr>
              <a:xfrm>
                <a:off x="3080" y="1718"/>
                <a:ext cx="232" cy="250"/>
              </a:xfrm>
              <a:prstGeom prst="rect">
                <a:avLst/>
              </a:prstGeom>
              <a:noFill/>
              <a:ln w="9525">
                <a:noFill/>
              </a:ln>
            </p:spPr>
            <p:txBody>
              <a:bodyPr wrap="none">
                <a:spAutoFit/>
              </a:bodyPr>
              <a:p>
                <a:pPr eaLnBrk="1" hangingPunct="1"/>
                <a:r>
                  <a:rPr lang="en-US" altLang="en-US" sz="2000" dirty="0">
                    <a:latin typeface="Tahoma" panose="020B0604030504040204" pitchFamily="34" charset="0"/>
                  </a:rPr>
                  <a:t>+</a:t>
                </a:r>
                <a:endParaRPr lang="en-US" altLang="en-US" sz="2000" dirty="0">
                  <a:latin typeface="Tahoma" panose="020B0604030504040204" pitchFamily="34" charset="0"/>
                </a:endParaRPr>
              </a:p>
            </p:txBody>
          </p:sp>
          <p:sp>
            <p:nvSpPr>
              <p:cNvPr id="17434" name="Rectangle 27"/>
              <p:cNvSpPr/>
              <p:nvPr/>
            </p:nvSpPr>
            <p:spPr>
              <a:xfrm>
                <a:off x="3714" y="1728"/>
                <a:ext cx="174" cy="250"/>
              </a:xfrm>
              <a:prstGeom prst="rect">
                <a:avLst/>
              </a:prstGeom>
              <a:noFill/>
              <a:ln w="9525">
                <a:noFill/>
              </a:ln>
            </p:spPr>
            <p:txBody>
              <a:bodyPr wrap="none">
                <a:spAutoFit/>
              </a:bodyPr>
              <a:p>
                <a:pPr eaLnBrk="1" hangingPunct="1"/>
                <a:r>
                  <a:rPr lang="en-US" altLang="en-US" sz="2000" dirty="0">
                    <a:latin typeface="Tahoma" panose="020B0604030504040204" pitchFamily="34" charset="0"/>
                  </a:rPr>
                  <a:t>-</a:t>
                </a:r>
                <a:endParaRPr lang="en-US" altLang="en-US" sz="2000" dirty="0">
                  <a:latin typeface="Tahoma" panose="020B0604030504040204" pitchFamily="34" charset="0"/>
                </a:endParaRPr>
              </a:p>
            </p:txBody>
          </p:sp>
        </p:grpSp>
      </p:grpSp>
      <p:sp>
        <p:nvSpPr>
          <p:cNvPr id="17412" name="Text Box 28"/>
          <p:cNvSpPr txBox="1"/>
          <p:nvPr/>
        </p:nvSpPr>
        <p:spPr>
          <a:xfrm>
            <a:off x="228600" y="282575"/>
            <a:ext cx="8740775" cy="495300"/>
          </a:xfrm>
          <a:prstGeom prst="rect">
            <a:avLst/>
          </a:prstGeom>
          <a:solidFill>
            <a:srgbClr val="339933"/>
          </a:solidFill>
          <a:ln w="38100" cap="flat" cmpd="sng">
            <a:solidFill>
              <a:srgbClr val="006600"/>
            </a:solidFill>
            <a:prstDash val="solid"/>
            <a:miter/>
            <a:headEnd type="none" w="med" len="med"/>
            <a:tailEnd type="none" w="med" len="med"/>
          </a:ln>
        </p:spPr>
        <p:txBody>
          <a:bodyPr>
            <a:spAutoFit/>
          </a:bodyPr>
          <a:p>
            <a:pPr eaLnBrk="1" hangingPunct="1"/>
            <a:r>
              <a:rPr lang="en-US" altLang="en-US" sz="2400" dirty="0">
                <a:solidFill>
                  <a:schemeClr val="bg1"/>
                </a:solidFill>
                <a:latin typeface="Tahoma" panose="020B0604030504040204" pitchFamily="34" charset="0"/>
              </a:rPr>
              <a:t>Example: move a magnet towards a coil of wire.</a:t>
            </a:r>
            <a:endParaRPr lang="en-US" altLang="en-US" sz="2400" dirty="0">
              <a:solidFill>
                <a:schemeClr val="bg1"/>
              </a:solidFill>
              <a:latin typeface="Tahoma" panose="020B0604030504040204" pitchFamily="34" charset="0"/>
            </a:endParaRPr>
          </a:p>
        </p:txBody>
      </p:sp>
      <p:sp>
        <p:nvSpPr>
          <p:cNvPr id="17413" name="Rectangle 29"/>
          <p:cNvSpPr/>
          <p:nvPr/>
        </p:nvSpPr>
        <p:spPr>
          <a:xfrm>
            <a:off x="533400" y="990600"/>
            <a:ext cx="3665538" cy="457200"/>
          </a:xfrm>
          <a:prstGeom prst="rect">
            <a:avLst/>
          </a:prstGeom>
          <a:noFill/>
          <a:ln w="9525">
            <a:noFill/>
          </a:ln>
        </p:spPr>
        <p:txBody>
          <a:bodyPr>
            <a:spAutoFit/>
          </a:bodyPr>
          <a:p>
            <a:pPr eaLnBrk="1" hangingPunct="1"/>
            <a:r>
              <a:rPr lang="en-US" altLang="en-US" sz="2400" dirty="0">
                <a:latin typeface="Tahoma" panose="020B0604030504040204" pitchFamily="34" charset="0"/>
              </a:rPr>
              <a:t>N=5 turns     A=0.002 m</a:t>
            </a:r>
            <a:r>
              <a:rPr lang="en-US" altLang="en-US" sz="2400" baseline="30000" dirty="0">
                <a:latin typeface="Tahoma" panose="020B0604030504040204" pitchFamily="34" charset="0"/>
              </a:rPr>
              <a:t>2</a:t>
            </a:r>
            <a:endParaRPr lang="en-US" altLang="en-US" sz="2400" baseline="30000" dirty="0">
              <a:latin typeface="Tahoma" panose="020B0604030504040204" pitchFamily="34" charset="0"/>
            </a:endParaRPr>
          </a:p>
        </p:txBody>
      </p:sp>
      <p:graphicFrame>
        <p:nvGraphicFramePr>
          <p:cNvPr id="17414" name="Object 30"/>
          <p:cNvGraphicFramePr>
            <a:graphicFrameLocks noChangeAspect="1"/>
          </p:cNvGraphicFramePr>
          <p:nvPr/>
        </p:nvGraphicFramePr>
        <p:xfrm>
          <a:off x="1571625" y="1600200"/>
          <a:ext cx="1976438" cy="787400"/>
        </p:xfrm>
        <a:graphic>
          <a:graphicData uri="http://schemas.openxmlformats.org/presentationml/2006/ole">
            <mc:AlternateContent xmlns:mc="http://schemas.openxmlformats.org/markup-compatibility/2006">
              <mc:Choice xmlns:v="urn:schemas-microsoft-com:vml" Requires="v">
                <p:oleObj spid="_x0000_s3083" name="" r:id="rId1" imgW="989965" imgH="393700" progId="Equation.DSMT4">
                  <p:embed/>
                </p:oleObj>
              </mc:Choice>
              <mc:Fallback>
                <p:oleObj name="" r:id="rId1" imgW="989965" imgH="393700" progId="Equation.DSMT4">
                  <p:embed/>
                  <p:pic>
                    <p:nvPicPr>
                      <p:cNvPr id="0" name="Picture 3082"/>
                      <p:cNvPicPr/>
                      <p:nvPr/>
                    </p:nvPicPr>
                    <p:blipFill>
                      <a:blip r:embed="rId2"/>
                      <a:stretch>
                        <a:fillRect/>
                      </a:stretch>
                    </p:blipFill>
                    <p:spPr>
                      <a:xfrm>
                        <a:off x="1571625" y="1600200"/>
                        <a:ext cx="1976438" cy="787400"/>
                      </a:xfrm>
                      <a:prstGeom prst="rect">
                        <a:avLst/>
                      </a:prstGeom>
                      <a:noFill/>
                      <a:ln w="38100">
                        <a:noFill/>
                        <a:miter/>
                      </a:ln>
                    </p:spPr>
                  </p:pic>
                </p:oleObj>
              </mc:Fallback>
            </mc:AlternateContent>
          </a:graphicData>
        </a:graphic>
      </p:graphicFrame>
      <p:graphicFrame>
        <p:nvGraphicFramePr>
          <p:cNvPr id="17415" name="Object 31"/>
          <p:cNvGraphicFramePr>
            <a:graphicFrameLocks noChangeAspect="1"/>
          </p:cNvGraphicFramePr>
          <p:nvPr/>
        </p:nvGraphicFramePr>
        <p:xfrm>
          <a:off x="377825" y="2514600"/>
          <a:ext cx="3775075" cy="939800"/>
        </p:xfrm>
        <a:graphic>
          <a:graphicData uri="http://schemas.openxmlformats.org/presentationml/2006/ole">
            <mc:AlternateContent xmlns:mc="http://schemas.openxmlformats.org/markup-compatibility/2006">
              <mc:Choice xmlns:v="urn:schemas-microsoft-com:vml" Requires="v">
                <p:oleObj spid="_x0000_s3082" name="" r:id="rId3" imgW="1892300" imgH="469900" progId="Equation.DSMT4">
                  <p:embed/>
                </p:oleObj>
              </mc:Choice>
              <mc:Fallback>
                <p:oleObj name="" r:id="rId3" imgW="1892300" imgH="469900" progId="Equation.DSMT4">
                  <p:embed/>
                  <p:pic>
                    <p:nvPicPr>
                      <p:cNvPr id="0" name="Picture 3081"/>
                      <p:cNvPicPr/>
                      <p:nvPr/>
                    </p:nvPicPr>
                    <p:blipFill>
                      <a:blip r:embed="rId4"/>
                      <a:stretch>
                        <a:fillRect/>
                      </a:stretch>
                    </p:blipFill>
                    <p:spPr>
                      <a:xfrm>
                        <a:off x="377825" y="2514600"/>
                        <a:ext cx="3775075" cy="939800"/>
                      </a:xfrm>
                      <a:prstGeom prst="rect">
                        <a:avLst/>
                      </a:prstGeom>
                      <a:noFill/>
                      <a:ln w="38100">
                        <a:noFill/>
                        <a:miter/>
                      </a:ln>
                    </p:spPr>
                  </p:pic>
                </p:oleObj>
              </mc:Fallback>
            </mc:AlternateContent>
          </a:graphicData>
        </a:graphic>
      </p:graphicFrame>
      <p:graphicFrame>
        <p:nvGraphicFramePr>
          <p:cNvPr id="568352" name="Object 32"/>
          <p:cNvGraphicFramePr>
            <a:graphicFrameLocks noChangeAspect="1"/>
          </p:cNvGraphicFramePr>
          <p:nvPr/>
        </p:nvGraphicFramePr>
        <p:xfrm>
          <a:off x="379413" y="3657600"/>
          <a:ext cx="7754937" cy="838200"/>
        </p:xfrm>
        <a:graphic>
          <a:graphicData uri="http://schemas.openxmlformats.org/presentationml/2006/ole">
            <mc:AlternateContent xmlns:mc="http://schemas.openxmlformats.org/markup-compatibility/2006">
              <mc:Choice xmlns:v="urn:schemas-microsoft-com:vml" Requires="v">
                <p:oleObj spid="_x0000_s3076" name="" r:id="rId5" imgW="3886200" imgH="419100" progId="Equation.DSMT4">
                  <p:embed/>
                </p:oleObj>
              </mc:Choice>
              <mc:Fallback>
                <p:oleObj name="" r:id="rId5" imgW="3886200" imgH="419100" progId="Equation.DSMT4">
                  <p:embed/>
                  <p:pic>
                    <p:nvPicPr>
                      <p:cNvPr id="0" name="Picture 3075"/>
                      <p:cNvPicPr/>
                      <p:nvPr/>
                    </p:nvPicPr>
                    <p:blipFill>
                      <a:blip r:embed="rId6"/>
                      <a:stretch>
                        <a:fillRect/>
                      </a:stretch>
                    </p:blipFill>
                    <p:spPr>
                      <a:xfrm>
                        <a:off x="379413" y="3657600"/>
                        <a:ext cx="7754937" cy="838200"/>
                      </a:xfrm>
                      <a:prstGeom prst="rect">
                        <a:avLst/>
                      </a:prstGeom>
                      <a:noFill/>
                      <a:ln w="38100">
                        <a:noFill/>
                        <a:miter/>
                      </a:ln>
                    </p:spPr>
                  </p:pic>
                </p:oleObj>
              </mc:Fallback>
            </mc:AlternateContent>
          </a:graphicData>
        </a:graphic>
      </p:graphicFrame>
      <p:graphicFrame>
        <p:nvGraphicFramePr>
          <p:cNvPr id="568353" name="Object 33"/>
          <p:cNvGraphicFramePr>
            <a:graphicFrameLocks noChangeAspect="1"/>
          </p:cNvGraphicFramePr>
          <p:nvPr/>
        </p:nvGraphicFramePr>
        <p:xfrm>
          <a:off x="1381125" y="4724400"/>
          <a:ext cx="1952625" cy="787400"/>
        </p:xfrm>
        <a:graphic>
          <a:graphicData uri="http://schemas.openxmlformats.org/presentationml/2006/ole">
            <mc:AlternateContent xmlns:mc="http://schemas.openxmlformats.org/markup-compatibility/2006">
              <mc:Choice xmlns:v="urn:schemas-microsoft-com:vml" Requires="v">
                <p:oleObj spid="_x0000_s3077" name="" r:id="rId7" imgW="977265" imgH="393700" progId="Equation.DSMT4">
                  <p:embed/>
                </p:oleObj>
              </mc:Choice>
              <mc:Fallback>
                <p:oleObj name="" r:id="rId7" imgW="977265" imgH="393700" progId="Equation.DSMT4">
                  <p:embed/>
                  <p:pic>
                    <p:nvPicPr>
                      <p:cNvPr id="0" name="Picture 3076"/>
                      <p:cNvPicPr/>
                      <p:nvPr/>
                    </p:nvPicPr>
                    <p:blipFill>
                      <a:blip r:embed="rId8"/>
                      <a:stretch>
                        <a:fillRect/>
                      </a:stretch>
                    </p:blipFill>
                    <p:spPr>
                      <a:xfrm>
                        <a:off x="1381125" y="4724400"/>
                        <a:ext cx="1952625" cy="787400"/>
                      </a:xfrm>
                      <a:prstGeom prst="rect">
                        <a:avLst/>
                      </a:prstGeom>
                      <a:noFill/>
                      <a:ln w="38100">
                        <a:noFill/>
                        <a:miter/>
                      </a:ln>
                    </p:spPr>
                  </p:pic>
                </p:oleObj>
              </mc:Fallback>
            </mc:AlternateContent>
          </a:graphicData>
        </a:graphic>
      </p:graphicFrame>
      <p:graphicFrame>
        <p:nvGraphicFramePr>
          <p:cNvPr id="568354" name="Object 34"/>
          <p:cNvGraphicFramePr>
            <a:graphicFrameLocks noChangeAspect="1"/>
          </p:cNvGraphicFramePr>
          <p:nvPr/>
        </p:nvGraphicFramePr>
        <p:xfrm>
          <a:off x="1376363" y="5689600"/>
          <a:ext cx="5148262" cy="863600"/>
        </p:xfrm>
        <a:graphic>
          <a:graphicData uri="http://schemas.openxmlformats.org/presentationml/2006/ole">
            <mc:AlternateContent xmlns:mc="http://schemas.openxmlformats.org/markup-compatibility/2006">
              <mc:Choice xmlns:v="urn:schemas-microsoft-com:vml" Requires="v">
                <p:oleObj spid="_x0000_s3079" name="" r:id="rId9" imgW="2578100" imgH="431800" progId="Equation.DSMT4">
                  <p:embed/>
                </p:oleObj>
              </mc:Choice>
              <mc:Fallback>
                <p:oleObj name="" r:id="rId9" imgW="2578100" imgH="431800" progId="Equation.DSMT4">
                  <p:embed/>
                  <p:pic>
                    <p:nvPicPr>
                      <p:cNvPr id="0" name="Picture 3078"/>
                      <p:cNvPicPr/>
                      <p:nvPr/>
                    </p:nvPicPr>
                    <p:blipFill>
                      <a:blip r:embed="rId10"/>
                      <a:stretch>
                        <a:fillRect/>
                      </a:stretch>
                    </p:blipFill>
                    <p:spPr>
                      <a:xfrm>
                        <a:off x="1376363" y="5689600"/>
                        <a:ext cx="5148262" cy="863600"/>
                      </a:xfrm>
                      <a:prstGeom prst="rect">
                        <a:avLst/>
                      </a:prstGeom>
                      <a:noFill/>
                      <a:ln w="38100">
                        <a:noFill/>
                        <a:miter/>
                      </a:ln>
                    </p:spPr>
                  </p:pic>
                </p:oleObj>
              </mc:Fallback>
            </mc:AlternateContent>
          </a:graphicData>
        </a:graphic>
      </p:graphicFrame>
    </p:spTree>
    <p:custDataLst>
      <p:tags r:id="rId1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83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83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8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Slide Number Placeholder 3"/>
          <p:cNvSpPr txBox="1">
            <a:spLocks noGrp="1"/>
          </p:cNvSpPr>
          <p:nvPr>
            <p:ph type="sldNum" sz="quarter" idx="4294967295"/>
          </p:nvPr>
        </p:nvSpPr>
        <p:spPr>
          <a:xfrm>
            <a:off x="6553200" y="6245225"/>
            <a:ext cx="21336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fld>
            <a:endParaRPr lang="en-US" altLang="en-US" sz="1400" dirty="0"/>
          </a:p>
        </p:txBody>
      </p:sp>
      <p:sp>
        <p:nvSpPr>
          <p:cNvPr id="18435" name="Text Box 2"/>
          <p:cNvSpPr txBox="1"/>
          <p:nvPr/>
        </p:nvSpPr>
        <p:spPr>
          <a:xfrm>
            <a:off x="228600" y="282575"/>
            <a:ext cx="8740775" cy="1349375"/>
          </a:xfrm>
          <a:prstGeom prst="rect">
            <a:avLst/>
          </a:prstGeom>
          <a:solidFill>
            <a:srgbClr val="339933"/>
          </a:solidFill>
          <a:ln w="38100" cap="flat" cmpd="sng">
            <a:solidFill>
              <a:srgbClr val="006600"/>
            </a:solidFill>
            <a:prstDash val="solid"/>
            <a:miter/>
            <a:headEnd type="none" w="med" len="med"/>
            <a:tailEnd type="none" w="med" len="med"/>
          </a:ln>
        </p:spPr>
        <p:txBody>
          <a:bodyPr>
            <a:spAutoFit/>
          </a:bodyPr>
          <a:p>
            <a:pPr eaLnBrk="1" hangingPunct="1"/>
            <a:r>
              <a:rPr lang="en-US" altLang="en-US" sz="2000" dirty="0">
                <a:solidFill>
                  <a:schemeClr val="bg1"/>
                </a:solidFill>
                <a:latin typeface="Tahoma" panose="020B0604030504040204" pitchFamily="34" charset="0"/>
              </a:rPr>
              <a:t>Example: a uniform (but time-varying) magnetic field passes through a circular coil whose normal is parallel to the magnetic field. The coil’s area is 10</a:t>
            </a:r>
            <a:r>
              <a:rPr lang="en-US" altLang="en-US" sz="2000" baseline="30000" dirty="0">
                <a:solidFill>
                  <a:schemeClr val="bg1"/>
                </a:solidFill>
                <a:latin typeface="Tahoma" panose="020B0604030504040204" pitchFamily="34" charset="0"/>
              </a:rPr>
              <a:t>-2</a:t>
            </a:r>
            <a:r>
              <a:rPr lang="en-US" altLang="en-US" sz="2000" dirty="0">
                <a:solidFill>
                  <a:schemeClr val="bg1"/>
                </a:solidFill>
                <a:latin typeface="Tahoma" panose="020B0604030504040204" pitchFamily="34" charset="0"/>
              </a:rPr>
              <a:t> m</a:t>
            </a:r>
            <a:r>
              <a:rPr lang="en-US" altLang="en-US" sz="2000" baseline="30000" dirty="0">
                <a:solidFill>
                  <a:schemeClr val="bg1"/>
                </a:solidFill>
                <a:latin typeface="Tahoma" panose="020B0604030504040204" pitchFamily="34" charset="0"/>
              </a:rPr>
              <a:t>2</a:t>
            </a:r>
            <a:r>
              <a:rPr lang="en-US" altLang="en-US" sz="2000" dirty="0">
                <a:solidFill>
                  <a:schemeClr val="bg1"/>
                </a:solidFill>
                <a:latin typeface="Tahoma" panose="020B0604030504040204" pitchFamily="34" charset="0"/>
              </a:rPr>
              <a:t> and it has a resistance of 1 m</a:t>
            </a:r>
            <a:r>
              <a:rPr lang="en-US" altLang="en-US" sz="2000" dirty="0">
                <a:solidFill>
                  <a:schemeClr val="bg1"/>
                </a:solidFill>
                <a:latin typeface="Tahoma" panose="020B0604030504040204" pitchFamily="34" charset="0"/>
                <a:sym typeface="Symbol" panose="05050102010706020507" pitchFamily="18" charset="2"/>
              </a:rPr>
              <a:t></a:t>
            </a:r>
            <a:r>
              <a:rPr lang="en-US" altLang="en-US" sz="2000" dirty="0">
                <a:solidFill>
                  <a:schemeClr val="bg1"/>
                </a:solidFill>
                <a:latin typeface="Tahoma" panose="020B0604030504040204" pitchFamily="34" charset="0"/>
              </a:rPr>
              <a:t>. B varies with time as shown in the graph. Plot the current in the coil as a function of time.</a:t>
            </a:r>
            <a:endParaRPr lang="en-US" altLang="en-US" sz="2000" dirty="0">
              <a:solidFill>
                <a:schemeClr val="bg1"/>
              </a:solidFill>
              <a:latin typeface="Tahoma" panose="020B0604030504040204" pitchFamily="34" charset="0"/>
            </a:endParaRPr>
          </a:p>
        </p:txBody>
      </p:sp>
      <p:grpSp>
        <p:nvGrpSpPr>
          <p:cNvPr id="18436" name="Group 3"/>
          <p:cNvGrpSpPr/>
          <p:nvPr/>
        </p:nvGrpSpPr>
        <p:grpSpPr>
          <a:xfrm>
            <a:off x="4953000" y="1981200"/>
            <a:ext cx="3811588" cy="2579688"/>
            <a:chOff x="3120" y="1296"/>
            <a:chExt cx="2401" cy="1625"/>
          </a:xfrm>
        </p:grpSpPr>
        <p:pic>
          <p:nvPicPr>
            <p:cNvPr id="18443" name="Picture 4"/>
            <p:cNvPicPr>
              <a:picLocks noChangeAspect="1"/>
            </p:cNvPicPr>
            <p:nvPr/>
          </p:nvPicPr>
          <p:blipFill>
            <a:blip r:embed="rId1"/>
            <a:stretch>
              <a:fillRect/>
            </a:stretch>
          </p:blipFill>
          <p:spPr>
            <a:xfrm>
              <a:off x="3120" y="1296"/>
              <a:ext cx="2401" cy="1600"/>
            </a:xfrm>
            <a:prstGeom prst="rect">
              <a:avLst/>
            </a:prstGeom>
            <a:noFill/>
            <a:ln w="9525">
              <a:noFill/>
            </a:ln>
          </p:spPr>
        </p:pic>
        <p:sp>
          <p:nvSpPr>
            <p:cNvPr id="18444" name="Line 5"/>
            <p:cNvSpPr/>
            <p:nvPr/>
          </p:nvSpPr>
          <p:spPr>
            <a:xfrm>
              <a:off x="3432" y="2100"/>
              <a:ext cx="48" cy="0"/>
            </a:xfrm>
            <a:prstGeom prst="line">
              <a:avLst/>
            </a:prstGeom>
            <a:ln w="28575" cap="flat" cmpd="sng">
              <a:solidFill>
                <a:schemeClr val="tx1"/>
              </a:solidFill>
              <a:prstDash val="solid"/>
              <a:headEnd type="none" w="med" len="med"/>
              <a:tailEnd type="none" w="med" len="med"/>
            </a:ln>
          </p:spPr>
        </p:sp>
        <p:sp>
          <p:nvSpPr>
            <p:cNvPr id="18445" name="Text Box 6"/>
            <p:cNvSpPr txBox="1"/>
            <p:nvPr/>
          </p:nvSpPr>
          <p:spPr>
            <a:xfrm>
              <a:off x="3120" y="2016"/>
              <a:ext cx="335" cy="173"/>
            </a:xfrm>
            <a:prstGeom prst="rect">
              <a:avLst/>
            </a:prstGeom>
            <a:noFill/>
            <a:ln w="9525">
              <a:noFill/>
            </a:ln>
          </p:spPr>
          <p:txBody>
            <a:bodyPr wrap="none">
              <a:spAutoFit/>
            </a:bodyPr>
            <a:p>
              <a:pPr eaLnBrk="1" hangingPunct="1"/>
              <a:r>
                <a:rPr lang="en-US" altLang="en-US" sz="1200" dirty="0">
                  <a:latin typeface="Tahoma" panose="020B0604030504040204" pitchFamily="34" charset="0"/>
                </a:rPr>
                <a:t>.01 T</a:t>
              </a:r>
              <a:endParaRPr lang="en-US" altLang="en-US" sz="1200" dirty="0">
                <a:latin typeface="Tahoma" panose="020B0604030504040204" pitchFamily="34" charset="0"/>
              </a:endParaRPr>
            </a:p>
          </p:txBody>
        </p:sp>
        <p:sp>
          <p:nvSpPr>
            <p:cNvPr id="18446" name="Text Box 7"/>
            <p:cNvSpPr txBox="1"/>
            <p:nvPr/>
          </p:nvSpPr>
          <p:spPr>
            <a:xfrm>
              <a:off x="3576" y="2748"/>
              <a:ext cx="311" cy="173"/>
            </a:xfrm>
            <a:prstGeom prst="rect">
              <a:avLst/>
            </a:prstGeom>
            <a:noFill/>
            <a:ln w="9525">
              <a:noFill/>
            </a:ln>
          </p:spPr>
          <p:txBody>
            <a:bodyPr wrap="none">
              <a:spAutoFit/>
            </a:bodyPr>
            <a:p>
              <a:pPr eaLnBrk="1" hangingPunct="1"/>
              <a:r>
                <a:rPr lang="en-US" altLang="en-US" sz="1200" dirty="0">
                  <a:latin typeface="Tahoma" panose="020B0604030504040204" pitchFamily="34" charset="0"/>
                </a:rPr>
                <a:t>=1 s</a:t>
              </a:r>
              <a:endParaRPr lang="en-US" altLang="en-US" sz="1200" dirty="0">
                <a:latin typeface="Tahoma" panose="020B0604030504040204" pitchFamily="34" charset="0"/>
              </a:endParaRPr>
            </a:p>
          </p:txBody>
        </p:sp>
      </p:grpSp>
      <p:sp>
        <p:nvSpPr>
          <p:cNvPr id="571400" name="Text Box 8"/>
          <p:cNvSpPr txBox="1"/>
          <p:nvPr/>
        </p:nvSpPr>
        <p:spPr>
          <a:xfrm>
            <a:off x="288925" y="4038600"/>
            <a:ext cx="8626475" cy="457200"/>
          </a:xfrm>
          <a:prstGeom prst="rect">
            <a:avLst/>
          </a:prstGeom>
          <a:noFill/>
          <a:ln w="9525">
            <a:noFill/>
          </a:ln>
        </p:spPr>
        <p:txBody>
          <a:bodyPr>
            <a:spAutoFit/>
          </a:bodyPr>
          <a:p>
            <a:pPr eaLnBrk="1" hangingPunct="1"/>
            <a:r>
              <a:rPr lang="en-US" altLang="en-US" sz="2000" dirty="0">
                <a:latin typeface="Tahoma" panose="020B0604030504040204" pitchFamily="34" charset="0"/>
              </a:rPr>
              <a:t>For 0 &lt; t &lt; 3:</a:t>
            </a:r>
            <a:r>
              <a:rPr lang="en-US" altLang="en-US" sz="2400" dirty="0">
                <a:latin typeface="Tahoma" panose="020B0604030504040204" pitchFamily="34" charset="0"/>
              </a:rPr>
              <a:t> </a:t>
            </a:r>
            <a:endParaRPr lang="en-US" altLang="en-US" sz="2400" dirty="0">
              <a:latin typeface="Tahoma" panose="020B0604030504040204" pitchFamily="34" charset="0"/>
            </a:endParaRPr>
          </a:p>
        </p:txBody>
      </p:sp>
      <p:graphicFrame>
        <p:nvGraphicFramePr>
          <p:cNvPr id="18438" name="Object 9"/>
          <p:cNvGraphicFramePr>
            <a:graphicFrameLocks noChangeAspect="1"/>
          </p:cNvGraphicFramePr>
          <p:nvPr/>
        </p:nvGraphicFramePr>
        <p:xfrm>
          <a:off x="304800" y="2057400"/>
          <a:ext cx="3363913" cy="731838"/>
        </p:xfrm>
        <a:graphic>
          <a:graphicData uri="http://schemas.openxmlformats.org/presentationml/2006/ole">
            <mc:AlternateContent xmlns:mc="http://schemas.openxmlformats.org/markup-compatibility/2006">
              <mc:Choice xmlns:v="urn:schemas-microsoft-com:vml" Requires="v">
                <p:oleObj spid="_x0000_s3078" name="" r:id="rId2" imgW="1930400" imgH="419100" progId="Equation.DSMT4">
                  <p:embed/>
                </p:oleObj>
              </mc:Choice>
              <mc:Fallback>
                <p:oleObj name="" r:id="rId2" imgW="1930400" imgH="419100" progId="Equation.DSMT4">
                  <p:embed/>
                  <p:pic>
                    <p:nvPicPr>
                      <p:cNvPr id="0" name="Picture 3077"/>
                      <p:cNvPicPr/>
                      <p:nvPr/>
                    </p:nvPicPr>
                    <p:blipFill>
                      <a:blip r:embed="rId3"/>
                      <a:stretch>
                        <a:fillRect/>
                      </a:stretch>
                    </p:blipFill>
                    <p:spPr>
                      <a:xfrm>
                        <a:off x="304800" y="2057400"/>
                        <a:ext cx="3363913" cy="731838"/>
                      </a:xfrm>
                      <a:prstGeom prst="rect">
                        <a:avLst/>
                      </a:prstGeom>
                      <a:noFill/>
                      <a:ln w="38100">
                        <a:noFill/>
                        <a:miter/>
                      </a:ln>
                    </p:spPr>
                  </p:pic>
                </p:oleObj>
              </mc:Fallback>
            </mc:AlternateContent>
          </a:graphicData>
        </a:graphic>
      </p:graphicFrame>
      <p:graphicFrame>
        <p:nvGraphicFramePr>
          <p:cNvPr id="18439" name="Object 10"/>
          <p:cNvGraphicFramePr>
            <a:graphicFrameLocks noChangeAspect="1"/>
          </p:cNvGraphicFramePr>
          <p:nvPr/>
        </p:nvGraphicFramePr>
        <p:xfrm>
          <a:off x="304800" y="3124200"/>
          <a:ext cx="2979738" cy="685800"/>
        </p:xfrm>
        <a:graphic>
          <a:graphicData uri="http://schemas.openxmlformats.org/presentationml/2006/ole">
            <mc:AlternateContent xmlns:mc="http://schemas.openxmlformats.org/markup-compatibility/2006">
              <mc:Choice xmlns:v="urn:schemas-microsoft-com:vml" Requires="v">
                <p:oleObj spid="_x0000_s3080" name="" r:id="rId4" imgW="1714500" imgH="393700" progId="Equation.DSMT4">
                  <p:embed/>
                </p:oleObj>
              </mc:Choice>
              <mc:Fallback>
                <p:oleObj name="" r:id="rId4" imgW="1714500" imgH="393700" progId="Equation.DSMT4">
                  <p:embed/>
                  <p:pic>
                    <p:nvPicPr>
                      <p:cNvPr id="0" name="Picture 3079"/>
                      <p:cNvPicPr/>
                      <p:nvPr/>
                    </p:nvPicPr>
                    <p:blipFill>
                      <a:blip r:embed="rId5"/>
                      <a:stretch>
                        <a:fillRect/>
                      </a:stretch>
                    </p:blipFill>
                    <p:spPr>
                      <a:xfrm>
                        <a:off x="304800" y="3124200"/>
                        <a:ext cx="2979738" cy="685800"/>
                      </a:xfrm>
                      <a:prstGeom prst="rect">
                        <a:avLst/>
                      </a:prstGeom>
                      <a:noFill/>
                      <a:ln w="38100">
                        <a:noFill/>
                        <a:miter/>
                      </a:ln>
                    </p:spPr>
                  </p:pic>
                </p:oleObj>
              </mc:Fallback>
            </mc:AlternateContent>
          </a:graphicData>
        </a:graphic>
      </p:graphicFrame>
      <p:graphicFrame>
        <p:nvGraphicFramePr>
          <p:cNvPr id="571403" name="Object 11"/>
          <p:cNvGraphicFramePr>
            <a:graphicFrameLocks noChangeAspect="1"/>
          </p:cNvGraphicFramePr>
          <p:nvPr/>
        </p:nvGraphicFramePr>
        <p:xfrm>
          <a:off x="304800" y="4745038"/>
          <a:ext cx="6267450" cy="817562"/>
        </p:xfrm>
        <a:graphic>
          <a:graphicData uri="http://schemas.openxmlformats.org/presentationml/2006/ole">
            <mc:AlternateContent xmlns:mc="http://schemas.openxmlformats.org/markup-compatibility/2006">
              <mc:Choice xmlns:v="urn:schemas-microsoft-com:vml" Requires="v">
                <p:oleObj spid="_x0000_s3081" name="" r:id="rId6" imgW="3606800" imgH="469900" progId="Equation.DSMT4">
                  <p:embed/>
                </p:oleObj>
              </mc:Choice>
              <mc:Fallback>
                <p:oleObj name="" r:id="rId6" imgW="3606800" imgH="469900" progId="Equation.DSMT4">
                  <p:embed/>
                  <p:pic>
                    <p:nvPicPr>
                      <p:cNvPr id="0" name="Picture 3080"/>
                      <p:cNvPicPr/>
                      <p:nvPr/>
                    </p:nvPicPr>
                    <p:blipFill>
                      <a:blip r:embed="rId7"/>
                      <a:stretch>
                        <a:fillRect/>
                      </a:stretch>
                    </p:blipFill>
                    <p:spPr>
                      <a:xfrm>
                        <a:off x="304800" y="4745038"/>
                        <a:ext cx="6267450" cy="817562"/>
                      </a:xfrm>
                      <a:prstGeom prst="rect">
                        <a:avLst/>
                      </a:prstGeom>
                      <a:noFill/>
                      <a:ln w="38100">
                        <a:noFill/>
                        <a:miter/>
                      </a:ln>
                    </p:spPr>
                  </p:pic>
                </p:oleObj>
              </mc:Fallback>
            </mc:AlternateContent>
          </a:graphicData>
        </a:graphic>
      </p:graphicFrame>
      <p:sp>
        <p:nvSpPr>
          <p:cNvPr id="571404" name="Text Box 12"/>
          <p:cNvSpPr txBox="1"/>
          <p:nvPr/>
        </p:nvSpPr>
        <p:spPr>
          <a:xfrm>
            <a:off x="304800" y="5943600"/>
            <a:ext cx="8626475" cy="457200"/>
          </a:xfrm>
          <a:prstGeom prst="rect">
            <a:avLst/>
          </a:prstGeom>
          <a:noFill/>
          <a:ln w="9525">
            <a:noFill/>
          </a:ln>
        </p:spPr>
        <p:txBody>
          <a:bodyPr>
            <a:spAutoFit/>
          </a:bodyPr>
          <a:p>
            <a:pPr eaLnBrk="1" hangingPunct="1"/>
            <a:r>
              <a:rPr lang="en-US" altLang="en-US" sz="2000" dirty="0">
                <a:latin typeface="Tahoma" panose="020B0604030504040204" pitchFamily="34" charset="0"/>
              </a:rPr>
              <a:t>For 3 &lt; t &lt; 5:</a:t>
            </a:r>
            <a:r>
              <a:rPr lang="en-US" altLang="en-US" sz="2400" dirty="0">
                <a:latin typeface="Tahoma" panose="020B0604030504040204" pitchFamily="34" charset="0"/>
              </a:rPr>
              <a:t> </a:t>
            </a:r>
            <a:endParaRPr lang="en-US" altLang="en-US" sz="2400" dirty="0">
              <a:latin typeface="Tahoma" panose="020B0604030504040204" pitchFamily="34" charset="0"/>
            </a:endParaRPr>
          </a:p>
        </p:txBody>
      </p:sp>
      <p:graphicFrame>
        <p:nvGraphicFramePr>
          <p:cNvPr id="571405" name="Object 13"/>
          <p:cNvGraphicFramePr>
            <a:graphicFrameLocks noChangeAspect="1"/>
          </p:cNvGraphicFramePr>
          <p:nvPr/>
        </p:nvGraphicFramePr>
        <p:xfrm>
          <a:off x="2362200" y="5868988"/>
          <a:ext cx="1854200" cy="684212"/>
        </p:xfrm>
        <a:graphic>
          <a:graphicData uri="http://schemas.openxmlformats.org/presentationml/2006/ole">
            <mc:AlternateContent xmlns:mc="http://schemas.openxmlformats.org/markup-compatibility/2006">
              <mc:Choice xmlns:v="urn:schemas-microsoft-com:vml" Requires="v">
                <p:oleObj spid="_x0000_s3084" name="" r:id="rId8" imgW="1066165" imgH="393700" progId="Equation.DSMT4">
                  <p:embed/>
                </p:oleObj>
              </mc:Choice>
              <mc:Fallback>
                <p:oleObj name="" r:id="rId8" imgW="1066165" imgH="393700" progId="Equation.DSMT4">
                  <p:embed/>
                  <p:pic>
                    <p:nvPicPr>
                      <p:cNvPr id="0" name="Picture 3083"/>
                      <p:cNvPicPr/>
                      <p:nvPr/>
                    </p:nvPicPr>
                    <p:blipFill>
                      <a:blip r:embed="rId9"/>
                      <a:stretch>
                        <a:fillRect/>
                      </a:stretch>
                    </p:blipFill>
                    <p:spPr>
                      <a:xfrm>
                        <a:off x="2362200" y="5868988"/>
                        <a:ext cx="1854200" cy="6842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14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140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7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14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400" grpId="0"/>
      <p:bldP spid="57140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Slide Number Placeholder 3"/>
          <p:cNvSpPr txBox="1">
            <a:spLocks noGrp="1"/>
          </p:cNvSpPr>
          <p:nvPr>
            <p:ph type="sldNum" sz="quarter" idx="4294967295"/>
          </p:nvPr>
        </p:nvSpPr>
        <p:spPr>
          <a:xfrm>
            <a:off x="6553200" y="6245225"/>
            <a:ext cx="21336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fld>
            <a:endParaRPr lang="en-US" altLang="en-US" sz="1400" dirty="0"/>
          </a:p>
        </p:txBody>
      </p:sp>
      <p:pic>
        <p:nvPicPr>
          <p:cNvPr id="19459" name="Picture 2" descr="New-2"/>
          <p:cNvPicPr>
            <a:picLocks noChangeAspect="1"/>
          </p:cNvPicPr>
          <p:nvPr/>
        </p:nvPicPr>
        <p:blipFill>
          <a:blip r:embed="rId1"/>
          <a:stretch>
            <a:fillRect/>
          </a:stretch>
        </p:blipFill>
        <p:spPr>
          <a:xfrm>
            <a:off x="4953000" y="1990725"/>
            <a:ext cx="3810000" cy="3810000"/>
          </a:xfrm>
          <a:prstGeom prst="rect">
            <a:avLst/>
          </a:prstGeom>
          <a:noFill/>
          <a:ln w="9525">
            <a:noFill/>
          </a:ln>
        </p:spPr>
      </p:pic>
      <p:sp>
        <p:nvSpPr>
          <p:cNvPr id="19460" name="Text Box 3"/>
          <p:cNvSpPr txBox="1"/>
          <p:nvPr/>
        </p:nvSpPr>
        <p:spPr>
          <a:xfrm>
            <a:off x="228600" y="282575"/>
            <a:ext cx="8740775" cy="1349375"/>
          </a:xfrm>
          <a:prstGeom prst="rect">
            <a:avLst/>
          </a:prstGeom>
          <a:solidFill>
            <a:srgbClr val="339933"/>
          </a:solidFill>
          <a:ln w="38100" cap="flat" cmpd="sng">
            <a:solidFill>
              <a:srgbClr val="006600"/>
            </a:solidFill>
            <a:prstDash val="solid"/>
            <a:miter/>
            <a:headEnd type="none" w="med" len="med"/>
            <a:tailEnd type="none" w="med" len="med"/>
          </a:ln>
        </p:spPr>
        <p:txBody>
          <a:bodyPr>
            <a:spAutoFit/>
          </a:bodyPr>
          <a:p>
            <a:pPr eaLnBrk="1" hangingPunct="1"/>
            <a:r>
              <a:rPr lang="en-US" altLang="en-US" sz="2000" dirty="0">
                <a:solidFill>
                  <a:schemeClr val="bg1"/>
                </a:solidFill>
                <a:latin typeface="Tahoma" panose="020B0604030504040204" pitchFamily="34" charset="0"/>
              </a:rPr>
              <a:t>Example: a uniform (but time-varying) magnetic field passes through a circular coil whose normal is parallel to the magnetic field. The coil’s area is 10</a:t>
            </a:r>
            <a:r>
              <a:rPr lang="en-US" altLang="en-US" sz="2000" baseline="30000" dirty="0">
                <a:solidFill>
                  <a:schemeClr val="bg1"/>
                </a:solidFill>
                <a:latin typeface="Tahoma" panose="020B0604030504040204" pitchFamily="34" charset="0"/>
              </a:rPr>
              <a:t>-2</a:t>
            </a:r>
            <a:r>
              <a:rPr lang="en-US" altLang="en-US" sz="2000" dirty="0">
                <a:solidFill>
                  <a:schemeClr val="bg1"/>
                </a:solidFill>
                <a:latin typeface="Tahoma" panose="020B0604030504040204" pitchFamily="34" charset="0"/>
              </a:rPr>
              <a:t> m</a:t>
            </a:r>
            <a:r>
              <a:rPr lang="en-US" altLang="en-US" sz="2000" baseline="30000" dirty="0">
                <a:solidFill>
                  <a:schemeClr val="bg1"/>
                </a:solidFill>
                <a:latin typeface="Tahoma" panose="020B0604030504040204" pitchFamily="34" charset="0"/>
              </a:rPr>
              <a:t>2</a:t>
            </a:r>
            <a:r>
              <a:rPr lang="en-US" altLang="en-US" sz="2000" dirty="0">
                <a:solidFill>
                  <a:schemeClr val="bg1"/>
                </a:solidFill>
                <a:latin typeface="Tahoma" panose="020B0604030504040204" pitchFamily="34" charset="0"/>
              </a:rPr>
              <a:t> and it has a resistance of 1 m</a:t>
            </a:r>
            <a:r>
              <a:rPr lang="en-US" altLang="en-US" sz="2000" dirty="0">
                <a:solidFill>
                  <a:schemeClr val="bg1"/>
                </a:solidFill>
                <a:latin typeface="Tahoma" panose="020B0604030504040204" pitchFamily="34" charset="0"/>
                <a:sym typeface="Symbol" panose="05050102010706020507" pitchFamily="18" charset="2"/>
              </a:rPr>
              <a:t></a:t>
            </a:r>
            <a:r>
              <a:rPr lang="en-US" altLang="en-US" sz="2000" dirty="0">
                <a:solidFill>
                  <a:schemeClr val="bg1"/>
                </a:solidFill>
                <a:latin typeface="Tahoma" panose="020B0604030504040204" pitchFamily="34" charset="0"/>
              </a:rPr>
              <a:t>. B varies with time as shown in the graph. Plot the current in the coil as a function of time.</a:t>
            </a:r>
            <a:endParaRPr lang="en-US" altLang="en-US" sz="2000" dirty="0">
              <a:solidFill>
                <a:schemeClr val="bg1"/>
              </a:solidFill>
              <a:latin typeface="Tahoma" panose="020B0604030504040204" pitchFamily="34" charset="0"/>
            </a:endParaRPr>
          </a:p>
        </p:txBody>
      </p:sp>
      <p:sp>
        <p:nvSpPr>
          <p:cNvPr id="19461" name="Line 4"/>
          <p:cNvSpPr/>
          <p:nvPr/>
        </p:nvSpPr>
        <p:spPr>
          <a:xfrm>
            <a:off x="5448300" y="3257550"/>
            <a:ext cx="76200" cy="0"/>
          </a:xfrm>
          <a:prstGeom prst="line">
            <a:avLst/>
          </a:prstGeom>
          <a:ln w="28575" cap="flat" cmpd="sng">
            <a:solidFill>
              <a:schemeClr val="tx1"/>
            </a:solidFill>
            <a:prstDash val="solid"/>
            <a:headEnd type="none" w="med" len="med"/>
            <a:tailEnd type="none" w="med" len="med"/>
          </a:ln>
        </p:spPr>
      </p:sp>
      <p:sp>
        <p:nvSpPr>
          <p:cNvPr id="19462" name="Text Box 5"/>
          <p:cNvSpPr txBox="1"/>
          <p:nvPr/>
        </p:nvSpPr>
        <p:spPr>
          <a:xfrm>
            <a:off x="4953000" y="3124200"/>
            <a:ext cx="531813" cy="274638"/>
          </a:xfrm>
          <a:prstGeom prst="rect">
            <a:avLst/>
          </a:prstGeom>
          <a:noFill/>
          <a:ln w="9525">
            <a:noFill/>
          </a:ln>
        </p:spPr>
        <p:txBody>
          <a:bodyPr wrap="none">
            <a:spAutoFit/>
          </a:bodyPr>
          <a:p>
            <a:pPr eaLnBrk="1" hangingPunct="1"/>
            <a:r>
              <a:rPr lang="en-US" altLang="en-US" sz="1200" dirty="0">
                <a:latin typeface="Tahoma" panose="020B0604030504040204" pitchFamily="34" charset="0"/>
              </a:rPr>
              <a:t>.01 T</a:t>
            </a:r>
            <a:endParaRPr lang="en-US" altLang="en-US" sz="1200" dirty="0">
              <a:latin typeface="Tahoma" panose="020B0604030504040204" pitchFamily="34" charset="0"/>
            </a:endParaRPr>
          </a:p>
        </p:txBody>
      </p:sp>
      <p:sp>
        <p:nvSpPr>
          <p:cNvPr id="19463" name="Text Box 6"/>
          <p:cNvSpPr txBox="1"/>
          <p:nvPr/>
        </p:nvSpPr>
        <p:spPr>
          <a:xfrm>
            <a:off x="5676900" y="4286250"/>
            <a:ext cx="493713" cy="274638"/>
          </a:xfrm>
          <a:prstGeom prst="rect">
            <a:avLst/>
          </a:prstGeom>
          <a:noFill/>
          <a:ln w="9525">
            <a:noFill/>
          </a:ln>
        </p:spPr>
        <p:txBody>
          <a:bodyPr wrap="none">
            <a:spAutoFit/>
          </a:bodyPr>
          <a:p>
            <a:pPr eaLnBrk="1" hangingPunct="1"/>
            <a:r>
              <a:rPr lang="en-US" altLang="en-US" sz="1200" dirty="0">
                <a:latin typeface="Tahoma" panose="020B0604030504040204" pitchFamily="34" charset="0"/>
              </a:rPr>
              <a:t>=1 s</a:t>
            </a:r>
            <a:endParaRPr lang="en-US" altLang="en-US" sz="1200" dirty="0">
              <a:latin typeface="Tahoma" panose="020B0604030504040204" pitchFamily="34" charset="0"/>
            </a:endParaRPr>
          </a:p>
        </p:txBody>
      </p:sp>
      <p:sp>
        <p:nvSpPr>
          <p:cNvPr id="19464" name="Text Box 7"/>
          <p:cNvSpPr txBox="1"/>
          <p:nvPr/>
        </p:nvSpPr>
        <p:spPr>
          <a:xfrm>
            <a:off x="288925" y="1981200"/>
            <a:ext cx="8626475" cy="457200"/>
          </a:xfrm>
          <a:prstGeom prst="rect">
            <a:avLst/>
          </a:prstGeom>
          <a:noFill/>
          <a:ln w="9525">
            <a:noFill/>
          </a:ln>
        </p:spPr>
        <p:txBody>
          <a:bodyPr>
            <a:spAutoFit/>
          </a:bodyPr>
          <a:p>
            <a:pPr eaLnBrk="1" hangingPunct="1"/>
            <a:r>
              <a:rPr lang="en-US" altLang="en-US" sz="2000" dirty="0">
                <a:latin typeface="Tahoma" panose="020B0604030504040204" pitchFamily="34" charset="0"/>
              </a:rPr>
              <a:t>For 5 &lt; t &lt; 11:</a:t>
            </a:r>
            <a:r>
              <a:rPr lang="en-US" altLang="en-US" sz="2400" dirty="0">
                <a:latin typeface="Tahoma" panose="020B0604030504040204" pitchFamily="34" charset="0"/>
              </a:rPr>
              <a:t> </a:t>
            </a:r>
            <a:endParaRPr lang="en-US" altLang="en-US" sz="2400" dirty="0">
              <a:latin typeface="Tahoma" panose="020B0604030504040204" pitchFamily="34" charset="0"/>
            </a:endParaRPr>
          </a:p>
        </p:txBody>
      </p:sp>
      <p:graphicFrame>
        <p:nvGraphicFramePr>
          <p:cNvPr id="19465" name="Object 8"/>
          <p:cNvGraphicFramePr>
            <a:graphicFrameLocks noChangeAspect="1"/>
          </p:cNvGraphicFramePr>
          <p:nvPr/>
        </p:nvGraphicFramePr>
        <p:xfrm>
          <a:off x="288925" y="2640013"/>
          <a:ext cx="3729038" cy="1855787"/>
        </p:xfrm>
        <a:graphic>
          <a:graphicData uri="http://schemas.openxmlformats.org/presentationml/2006/ole">
            <mc:AlternateContent xmlns:mc="http://schemas.openxmlformats.org/markup-compatibility/2006">
              <mc:Choice xmlns:v="urn:schemas-microsoft-com:vml" Requires="v">
                <p:oleObj spid="_x0000_s3085" name="" r:id="rId2" imgW="2146300" imgH="1066800" progId="Equation.DSMT4">
                  <p:embed/>
                </p:oleObj>
              </mc:Choice>
              <mc:Fallback>
                <p:oleObj name="" r:id="rId2" imgW="2146300" imgH="1066800" progId="Equation.DSMT4">
                  <p:embed/>
                  <p:pic>
                    <p:nvPicPr>
                      <p:cNvPr id="0" name="Picture 3084"/>
                      <p:cNvPicPr/>
                      <p:nvPr/>
                    </p:nvPicPr>
                    <p:blipFill>
                      <a:blip r:embed="rId3"/>
                      <a:stretch>
                        <a:fillRect/>
                      </a:stretch>
                    </p:blipFill>
                    <p:spPr>
                      <a:xfrm>
                        <a:off x="288925" y="2640013"/>
                        <a:ext cx="3729038" cy="1855787"/>
                      </a:xfrm>
                      <a:prstGeom prst="rect">
                        <a:avLst/>
                      </a:prstGeom>
                      <a:noFill/>
                      <a:ln w="38100">
                        <a:noFill/>
                        <a:miter/>
                      </a:ln>
                    </p:spPr>
                  </p:pic>
                </p:oleObj>
              </mc:Fallback>
            </mc:AlternateContent>
          </a:graphicData>
        </a:graphic>
      </p:graphicFrame>
      <p:sp>
        <p:nvSpPr>
          <p:cNvPr id="19466" name="Line 9"/>
          <p:cNvSpPr/>
          <p:nvPr/>
        </p:nvSpPr>
        <p:spPr>
          <a:xfrm flipV="1">
            <a:off x="8512175" y="2219325"/>
            <a:ext cx="0" cy="3200400"/>
          </a:xfrm>
          <a:prstGeom prst="line">
            <a:avLst/>
          </a:prstGeom>
          <a:ln w="28575" cap="flat" cmpd="sng">
            <a:solidFill>
              <a:srgbClr val="800000"/>
            </a:solidFill>
            <a:prstDash val="solid"/>
            <a:headEnd type="none" w="med" len="med"/>
            <a:tailEnd type="arrow" w="lg" len="lg"/>
          </a:ln>
        </p:spPr>
      </p:sp>
      <p:sp>
        <p:nvSpPr>
          <p:cNvPr id="19467" name="Rectangle 10"/>
          <p:cNvSpPr/>
          <p:nvPr/>
        </p:nvSpPr>
        <p:spPr>
          <a:xfrm>
            <a:off x="7848600" y="2111375"/>
            <a:ext cx="635000" cy="457200"/>
          </a:xfrm>
          <a:prstGeom prst="rect">
            <a:avLst/>
          </a:prstGeom>
          <a:noFill/>
          <a:ln w="9525">
            <a:noFill/>
          </a:ln>
        </p:spPr>
        <p:txBody>
          <a:bodyPr wrap="none">
            <a:spAutoFit/>
          </a:bodyPr>
          <a:p>
            <a:pPr eaLnBrk="1" hangingPunct="1"/>
            <a:r>
              <a:rPr lang="en-US" altLang="en-US" sz="2400" dirty="0">
                <a:solidFill>
                  <a:srgbClr val="800000"/>
                </a:solidFill>
                <a:latin typeface="Tahoma" panose="020B0604030504040204" pitchFamily="34" charset="0"/>
              </a:rPr>
              <a:t>I(t)</a:t>
            </a:r>
            <a:endParaRPr lang="en-US" altLang="en-US" sz="2400" dirty="0">
              <a:solidFill>
                <a:srgbClr val="800000"/>
              </a:solidFill>
              <a:latin typeface="Tahoma" panose="020B0604030504040204" pitchFamily="34" charset="0"/>
            </a:endParaRPr>
          </a:p>
        </p:txBody>
      </p:sp>
      <p:sp>
        <p:nvSpPr>
          <p:cNvPr id="19468" name="Text Box 11"/>
          <p:cNvSpPr txBox="1"/>
          <p:nvPr/>
        </p:nvSpPr>
        <p:spPr>
          <a:xfrm>
            <a:off x="4737100" y="4897438"/>
            <a:ext cx="755650" cy="274637"/>
          </a:xfrm>
          <a:prstGeom prst="rect">
            <a:avLst/>
          </a:prstGeom>
          <a:noFill/>
          <a:ln w="9525">
            <a:noFill/>
          </a:ln>
        </p:spPr>
        <p:txBody>
          <a:bodyPr wrap="none">
            <a:spAutoFit/>
          </a:bodyPr>
          <a:p>
            <a:pPr eaLnBrk="1" hangingPunct="1"/>
            <a:r>
              <a:rPr lang="en-US" altLang="en-US" sz="1200" dirty="0">
                <a:solidFill>
                  <a:srgbClr val="800000"/>
                </a:solidFill>
                <a:latin typeface="Tahoma" panose="020B0604030504040204" pitchFamily="34" charset="0"/>
              </a:rPr>
              <a:t>-.0333 A</a:t>
            </a:r>
            <a:endParaRPr lang="en-US" altLang="en-US" sz="1200" dirty="0">
              <a:solidFill>
                <a:srgbClr val="800000"/>
              </a:solidFill>
              <a:latin typeface="Tahoma" panose="020B0604030504040204" pitchFamily="34" charset="0"/>
            </a:endParaRPr>
          </a:p>
        </p:txBody>
      </p:sp>
      <p:sp>
        <p:nvSpPr>
          <p:cNvPr id="19469" name="Line 12"/>
          <p:cNvSpPr/>
          <p:nvPr/>
        </p:nvSpPr>
        <p:spPr>
          <a:xfrm>
            <a:off x="5430838" y="5051425"/>
            <a:ext cx="76200" cy="0"/>
          </a:xfrm>
          <a:prstGeom prst="line">
            <a:avLst/>
          </a:prstGeom>
          <a:ln w="28575" cap="flat" cmpd="sng">
            <a:solidFill>
              <a:srgbClr val="800000"/>
            </a:solidFill>
            <a:prstDash val="solid"/>
            <a:headEnd type="none" w="med" len="med"/>
            <a:tailEnd type="none" w="med" len="med"/>
          </a:ln>
        </p:spPr>
      </p:sp>
      <p:sp>
        <p:nvSpPr>
          <p:cNvPr id="572429" name="Line 13"/>
          <p:cNvSpPr/>
          <p:nvPr/>
        </p:nvSpPr>
        <p:spPr>
          <a:xfrm>
            <a:off x="5475288" y="4289425"/>
            <a:ext cx="0" cy="762000"/>
          </a:xfrm>
          <a:prstGeom prst="line">
            <a:avLst/>
          </a:prstGeom>
          <a:ln w="28575" cap="flat" cmpd="sng">
            <a:solidFill>
              <a:srgbClr val="800000"/>
            </a:solidFill>
            <a:prstDash val="solid"/>
            <a:headEnd type="none" w="med" len="med"/>
            <a:tailEnd type="none" w="med" len="med"/>
          </a:ln>
        </p:spPr>
      </p:sp>
      <p:sp>
        <p:nvSpPr>
          <p:cNvPr id="572430" name="Line 14"/>
          <p:cNvSpPr/>
          <p:nvPr/>
        </p:nvSpPr>
        <p:spPr>
          <a:xfrm>
            <a:off x="5475288" y="5051425"/>
            <a:ext cx="762000" cy="0"/>
          </a:xfrm>
          <a:prstGeom prst="line">
            <a:avLst/>
          </a:prstGeom>
          <a:ln w="28575" cap="flat" cmpd="sng">
            <a:solidFill>
              <a:srgbClr val="800000"/>
            </a:solidFill>
            <a:prstDash val="solid"/>
            <a:headEnd type="none" w="med" len="med"/>
            <a:tailEnd type="none" w="med" len="med"/>
          </a:ln>
        </p:spPr>
      </p:sp>
      <p:sp>
        <p:nvSpPr>
          <p:cNvPr id="572431" name="Line 15"/>
          <p:cNvSpPr/>
          <p:nvPr/>
        </p:nvSpPr>
        <p:spPr>
          <a:xfrm>
            <a:off x="6248400" y="4300538"/>
            <a:ext cx="0" cy="762000"/>
          </a:xfrm>
          <a:prstGeom prst="line">
            <a:avLst/>
          </a:prstGeom>
          <a:ln w="28575" cap="flat" cmpd="sng">
            <a:solidFill>
              <a:srgbClr val="800000"/>
            </a:solidFill>
            <a:prstDash val="solid"/>
            <a:headEnd type="none" w="med" len="med"/>
            <a:tailEnd type="none" w="med" len="med"/>
          </a:ln>
        </p:spPr>
      </p:sp>
      <p:sp>
        <p:nvSpPr>
          <p:cNvPr id="572432" name="Line 16"/>
          <p:cNvSpPr/>
          <p:nvPr/>
        </p:nvSpPr>
        <p:spPr>
          <a:xfrm>
            <a:off x="6226175" y="4289425"/>
            <a:ext cx="533400" cy="0"/>
          </a:xfrm>
          <a:prstGeom prst="line">
            <a:avLst/>
          </a:prstGeom>
          <a:ln w="28575" cap="flat" cmpd="sng">
            <a:solidFill>
              <a:srgbClr val="800000"/>
            </a:solidFill>
            <a:prstDash val="solid"/>
            <a:headEnd type="none" w="med" len="med"/>
            <a:tailEnd type="none" w="med" len="med"/>
          </a:ln>
        </p:spPr>
      </p:sp>
      <p:sp>
        <p:nvSpPr>
          <p:cNvPr id="572433" name="Line 17"/>
          <p:cNvSpPr/>
          <p:nvPr/>
        </p:nvSpPr>
        <p:spPr>
          <a:xfrm>
            <a:off x="6737350" y="3917950"/>
            <a:ext cx="0" cy="381000"/>
          </a:xfrm>
          <a:prstGeom prst="line">
            <a:avLst/>
          </a:prstGeom>
          <a:ln w="28575" cap="flat" cmpd="sng">
            <a:solidFill>
              <a:srgbClr val="800000"/>
            </a:solidFill>
            <a:prstDash val="solid"/>
            <a:headEnd type="none" w="med" len="med"/>
            <a:tailEnd type="none" w="med" len="med"/>
          </a:ln>
        </p:spPr>
      </p:sp>
      <p:sp>
        <p:nvSpPr>
          <p:cNvPr id="572434" name="Line 18"/>
          <p:cNvSpPr/>
          <p:nvPr/>
        </p:nvSpPr>
        <p:spPr>
          <a:xfrm>
            <a:off x="8274050" y="3895725"/>
            <a:ext cx="0" cy="381000"/>
          </a:xfrm>
          <a:prstGeom prst="line">
            <a:avLst/>
          </a:prstGeom>
          <a:ln w="28575" cap="flat" cmpd="sng">
            <a:solidFill>
              <a:srgbClr val="800000"/>
            </a:solidFill>
            <a:prstDash val="solid"/>
            <a:headEnd type="none" w="med" len="med"/>
            <a:tailEnd type="none" w="med" len="med"/>
          </a:ln>
        </p:spPr>
      </p:sp>
      <p:sp>
        <p:nvSpPr>
          <p:cNvPr id="572435" name="Line 19"/>
          <p:cNvSpPr/>
          <p:nvPr/>
        </p:nvSpPr>
        <p:spPr>
          <a:xfrm>
            <a:off x="6727825" y="3897313"/>
            <a:ext cx="1566863" cy="0"/>
          </a:xfrm>
          <a:prstGeom prst="line">
            <a:avLst/>
          </a:prstGeom>
          <a:ln w="28575" cap="flat" cmpd="sng">
            <a:solidFill>
              <a:srgbClr val="800000"/>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24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24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24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24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24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724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2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Slide Number Placeholder 3"/>
          <p:cNvSpPr txBox="1">
            <a:spLocks noGrp="1"/>
          </p:cNvSpPr>
          <p:nvPr>
            <p:ph type="sldNum" sz="quarter" idx="4294967295"/>
          </p:nvPr>
        </p:nvSpPr>
        <p:spPr>
          <a:xfrm>
            <a:off x="6553200" y="6245225"/>
            <a:ext cx="21336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fld>
            <a:endParaRPr lang="en-US" altLang="en-US" sz="1400" dirty="0"/>
          </a:p>
        </p:txBody>
      </p:sp>
      <p:sp>
        <p:nvSpPr>
          <p:cNvPr id="20483" name="Text Box 2"/>
          <p:cNvSpPr txBox="1"/>
          <p:nvPr/>
        </p:nvSpPr>
        <p:spPr>
          <a:xfrm>
            <a:off x="212725" y="685800"/>
            <a:ext cx="8778875" cy="860425"/>
          </a:xfrm>
          <a:prstGeom prst="rect">
            <a:avLst/>
          </a:prstGeom>
          <a:solidFill>
            <a:srgbClr val="CC99FF"/>
          </a:solidFill>
          <a:ln w="38100" cap="flat" cmpd="sng">
            <a:solidFill>
              <a:srgbClr val="800080"/>
            </a:solidFill>
            <a:prstDash val="solid"/>
            <a:miter/>
            <a:headEnd type="none" w="med" len="med"/>
            <a:tailEnd type="none" w="med" len="med"/>
          </a:ln>
        </p:spPr>
        <p:txBody>
          <a:bodyPr>
            <a:spAutoFit/>
          </a:bodyPr>
          <a:p>
            <a:pPr eaLnBrk="1" hangingPunct="1"/>
            <a:r>
              <a:rPr lang="en-US" altLang="en-US" sz="2400" dirty="0">
                <a:solidFill>
                  <a:srgbClr val="800080"/>
                </a:solidFill>
                <a:latin typeface="Tahoma" panose="020B0604030504040204" pitchFamily="34" charset="0"/>
              </a:rPr>
              <a:t>Lenz’s law—An induced emf always gives rise to a current whose magnetic field opposes the change in flux.*</a:t>
            </a:r>
            <a:endParaRPr lang="en-US" altLang="en-US" sz="2400" dirty="0">
              <a:solidFill>
                <a:srgbClr val="800080"/>
              </a:solidFill>
              <a:latin typeface="Tahoma" panose="020B0604030504040204" pitchFamily="34" charset="0"/>
            </a:endParaRPr>
          </a:p>
        </p:txBody>
      </p:sp>
      <p:sp>
        <p:nvSpPr>
          <p:cNvPr id="20484" name="Text Box 3"/>
          <p:cNvSpPr txBox="1"/>
          <p:nvPr/>
        </p:nvSpPr>
        <p:spPr>
          <a:xfrm>
            <a:off x="212725" y="152400"/>
            <a:ext cx="8626475" cy="457200"/>
          </a:xfrm>
          <a:prstGeom prst="rect">
            <a:avLst/>
          </a:prstGeom>
          <a:noFill/>
          <a:ln w="9525">
            <a:noFill/>
          </a:ln>
        </p:spPr>
        <p:txBody>
          <a:bodyPr>
            <a:spAutoFit/>
          </a:bodyPr>
          <a:p>
            <a:pPr eaLnBrk="1" hangingPunct="1"/>
            <a:r>
              <a:rPr lang="en-US" altLang="en-US" sz="2400" dirty="0">
                <a:latin typeface="Tahoma" panose="020B0604030504040204" pitchFamily="34" charset="0"/>
              </a:rPr>
              <a:t>Experimentally…</a:t>
            </a:r>
            <a:endParaRPr lang="en-US" altLang="en-US" sz="2400" dirty="0">
              <a:latin typeface="Tahoma" panose="020B0604030504040204" pitchFamily="34" charset="0"/>
            </a:endParaRPr>
          </a:p>
        </p:txBody>
      </p:sp>
      <p:sp>
        <p:nvSpPr>
          <p:cNvPr id="20485" name="Text Box 4"/>
          <p:cNvSpPr txBox="1"/>
          <p:nvPr/>
        </p:nvSpPr>
        <p:spPr>
          <a:xfrm>
            <a:off x="228600" y="6003925"/>
            <a:ext cx="8626475" cy="641350"/>
          </a:xfrm>
          <a:prstGeom prst="rect">
            <a:avLst/>
          </a:prstGeom>
          <a:noFill/>
          <a:ln w="9525">
            <a:noFill/>
          </a:ln>
        </p:spPr>
        <p:txBody>
          <a:bodyPr>
            <a:spAutoFit/>
          </a:bodyPr>
          <a:p>
            <a:pPr eaLnBrk="1" hangingPunct="1"/>
            <a:r>
              <a:rPr lang="en-US" altLang="en-US" sz="2000" dirty="0">
                <a:latin typeface="Tahoma" panose="020B0604030504040204" pitchFamily="34" charset="0"/>
              </a:rPr>
              <a:t>*</a:t>
            </a:r>
            <a:r>
              <a:rPr lang="en-US" altLang="en-US" sz="1600" dirty="0">
                <a:latin typeface="Tahoma" panose="020B0604030504040204" pitchFamily="34" charset="0"/>
              </a:rPr>
              <a:t>Think of the current resulting from the induced emf as “trying” to maintain the status quo—to prevent change.</a:t>
            </a:r>
            <a:endParaRPr lang="en-US" altLang="en-US" sz="1600" dirty="0">
              <a:latin typeface="Tahoma" panose="020B0604030504040204" pitchFamily="34" charset="0"/>
            </a:endParaRPr>
          </a:p>
        </p:txBody>
      </p:sp>
      <p:grpSp>
        <p:nvGrpSpPr>
          <p:cNvPr id="20486" name="Group 5"/>
          <p:cNvGrpSpPr/>
          <p:nvPr/>
        </p:nvGrpSpPr>
        <p:grpSpPr>
          <a:xfrm>
            <a:off x="2705100" y="1752600"/>
            <a:ext cx="3721100" cy="1844675"/>
            <a:chOff x="3080" y="816"/>
            <a:chExt cx="2344" cy="1162"/>
          </a:xfrm>
        </p:grpSpPr>
        <p:grpSp>
          <p:nvGrpSpPr>
            <p:cNvPr id="20488" name="Group 6"/>
            <p:cNvGrpSpPr/>
            <p:nvPr/>
          </p:nvGrpSpPr>
          <p:grpSpPr>
            <a:xfrm>
              <a:off x="3744" y="1008"/>
              <a:ext cx="1680" cy="344"/>
              <a:chOff x="1776" y="1008"/>
              <a:chExt cx="1680" cy="344"/>
            </a:xfrm>
          </p:grpSpPr>
          <p:sp>
            <p:nvSpPr>
              <p:cNvPr id="20504" name="Rectangle 7"/>
              <p:cNvSpPr/>
              <p:nvPr/>
            </p:nvSpPr>
            <p:spPr>
              <a:xfrm>
                <a:off x="2304" y="1056"/>
                <a:ext cx="624" cy="240"/>
              </a:xfrm>
              <a:prstGeom prst="rect">
                <a:avLst/>
              </a:prstGeom>
              <a:solidFill>
                <a:srgbClr val="969696"/>
              </a:solidFill>
              <a:ln w="9525" cap="flat" cmpd="sng">
                <a:solidFill>
                  <a:schemeClr val="tx1"/>
                </a:solidFill>
                <a:prstDash val="solid"/>
                <a:miter/>
                <a:headEnd type="none" w="med" len="med"/>
                <a:tailEnd type="none" w="med" len="med"/>
              </a:ln>
            </p:spPr>
            <p:txBody>
              <a:bodyPr wrap="none" anchor="ctr" anchorCtr="0">
                <a:spAutoFit/>
              </a:bodyPr>
              <a:p>
                <a:pPr eaLnBrk="1" hangingPunct="1"/>
                <a:endParaRPr lang="en-US" altLang="en-US" sz="2400" dirty="0">
                  <a:latin typeface="Tahoma" panose="020B0604030504040204" pitchFamily="34" charset="0"/>
                </a:endParaRPr>
              </a:p>
            </p:txBody>
          </p:sp>
          <p:sp>
            <p:nvSpPr>
              <p:cNvPr id="20505" name="Text Box 8"/>
              <p:cNvSpPr txBox="1"/>
              <p:nvPr/>
            </p:nvSpPr>
            <p:spPr>
              <a:xfrm>
                <a:off x="2280" y="1020"/>
                <a:ext cx="244" cy="288"/>
              </a:xfrm>
              <a:prstGeom prst="rect">
                <a:avLst/>
              </a:prstGeom>
              <a:noFill/>
              <a:ln w="9525">
                <a:noFill/>
              </a:ln>
            </p:spPr>
            <p:txBody>
              <a:bodyPr wrap="none">
                <a:spAutoFit/>
              </a:bodyPr>
              <a:p>
                <a:pPr eaLnBrk="1" hangingPunct="1"/>
                <a:r>
                  <a:rPr lang="en-US" altLang="en-US" sz="2400" dirty="0">
                    <a:latin typeface="Tahoma" panose="020B0604030504040204" pitchFamily="34" charset="0"/>
                  </a:rPr>
                  <a:t>N</a:t>
                </a:r>
                <a:endParaRPr lang="en-US" altLang="en-US" sz="2400" dirty="0">
                  <a:latin typeface="Tahoma" panose="020B0604030504040204" pitchFamily="34" charset="0"/>
                </a:endParaRPr>
              </a:p>
            </p:txBody>
          </p:sp>
          <p:sp>
            <p:nvSpPr>
              <p:cNvPr id="20506" name="Text Box 9"/>
              <p:cNvSpPr txBox="1"/>
              <p:nvPr/>
            </p:nvSpPr>
            <p:spPr>
              <a:xfrm>
                <a:off x="2730" y="1020"/>
                <a:ext cx="223" cy="288"/>
              </a:xfrm>
              <a:prstGeom prst="rect">
                <a:avLst/>
              </a:prstGeom>
              <a:noFill/>
              <a:ln w="9525">
                <a:noFill/>
              </a:ln>
            </p:spPr>
            <p:txBody>
              <a:bodyPr wrap="none">
                <a:spAutoFit/>
              </a:bodyPr>
              <a:p>
                <a:pPr eaLnBrk="1" hangingPunct="1"/>
                <a:r>
                  <a:rPr lang="en-US" altLang="en-US" sz="2400" dirty="0">
                    <a:latin typeface="Tahoma" panose="020B0604030504040204" pitchFamily="34" charset="0"/>
                  </a:rPr>
                  <a:t>S</a:t>
                </a:r>
                <a:endParaRPr lang="en-US" altLang="en-US" sz="2400" dirty="0">
                  <a:latin typeface="Tahoma" panose="020B0604030504040204" pitchFamily="34" charset="0"/>
                </a:endParaRPr>
              </a:p>
            </p:txBody>
          </p:sp>
          <p:sp>
            <p:nvSpPr>
              <p:cNvPr id="20507" name="Line 10"/>
              <p:cNvSpPr/>
              <p:nvPr/>
            </p:nvSpPr>
            <p:spPr>
              <a:xfrm flipH="1">
                <a:off x="1776" y="1176"/>
                <a:ext cx="528" cy="0"/>
              </a:xfrm>
              <a:prstGeom prst="line">
                <a:avLst/>
              </a:prstGeom>
              <a:ln w="38100" cap="flat" cmpd="sng">
                <a:solidFill>
                  <a:srgbClr val="3366FF"/>
                </a:solidFill>
                <a:prstDash val="solid"/>
                <a:headEnd type="none" w="med" len="med"/>
                <a:tailEnd type="triangle" w="med" len="med"/>
              </a:ln>
            </p:spPr>
          </p:sp>
          <p:sp>
            <p:nvSpPr>
              <p:cNvPr id="20508" name="Freeform 11"/>
              <p:cNvSpPr/>
              <p:nvPr/>
            </p:nvSpPr>
            <p:spPr>
              <a:xfrm>
                <a:off x="1824" y="1240"/>
                <a:ext cx="480" cy="104"/>
              </a:xfrm>
              <a:custGeom>
                <a:avLst/>
                <a:gdLst>
                  <a:gd name="txL" fmla="*/ 0 w 480"/>
                  <a:gd name="txT" fmla="*/ 0 h 104"/>
                  <a:gd name="txR" fmla="*/ 480 w 480"/>
                  <a:gd name="txB" fmla="*/ 104 h 104"/>
                </a:gdLst>
                <a:ahLst/>
                <a:cxnLst>
                  <a:cxn ang="0">
                    <a:pos x="480" y="8"/>
                  </a:cxn>
                  <a:cxn ang="0">
                    <a:pos x="240" y="8"/>
                  </a:cxn>
                  <a:cxn ang="0">
                    <a:pos x="96" y="56"/>
                  </a:cxn>
                  <a:cxn ang="0">
                    <a:pos x="0" y="104"/>
                  </a:cxn>
                </a:cxnLst>
                <a:rect l="txL" t="txT" r="txR" b="txB"/>
                <a:pathLst>
                  <a:path w="480" h="104">
                    <a:moveTo>
                      <a:pt x="480" y="8"/>
                    </a:moveTo>
                    <a:cubicBezTo>
                      <a:pt x="392" y="4"/>
                      <a:pt x="304" y="0"/>
                      <a:pt x="240" y="8"/>
                    </a:cubicBezTo>
                    <a:cubicBezTo>
                      <a:pt x="176" y="16"/>
                      <a:pt x="136" y="40"/>
                      <a:pt x="96" y="56"/>
                    </a:cubicBezTo>
                    <a:cubicBezTo>
                      <a:pt x="56" y="72"/>
                      <a:pt x="28" y="88"/>
                      <a:pt x="0" y="104"/>
                    </a:cubicBezTo>
                  </a:path>
                </a:pathLst>
              </a:custGeom>
              <a:noFill/>
              <a:ln w="38100" cap="flat" cmpd="sng">
                <a:solidFill>
                  <a:srgbClr val="3366FF">
                    <a:alpha val="100000"/>
                  </a:srgbClr>
                </a:solidFill>
                <a:prstDash val="solid"/>
                <a:round/>
                <a:headEnd type="none" w="med" len="med"/>
                <a:tailEnd type="triangle" w="med" len="med"/>
              </a:ln>
            </p:spPr>
            <p:txBody>
              <a:bodyPr/>
              <a:p>
                <a:endParaRPr lang="en-US"/>
              </a:p>
            </p:txBody>
          </p:sp>
          <p:sp>
            <p:nvSpPr>
              <p:cNvPr id="20509" name="Freeform 12"/>
              <p:cNvSpPr/>
              <p:nvPr/>
            </p:nvSpPr>
            <p:spPr>
              <a:xfrm flipV="1">
                <a:off x="1824" y="1008"/>
                <a:ext cx="480" cy="104"/>
              </a:xfrm>
              <a:custGeom>
                <a:avLst/>
                <a:gdLst>
                  <a:gd name="txL" fmla="*/ 0 w 480"/>
                  <a:gd name="txT" fmla="*/ 0 h 104"/>
                  <a:gd name="txR" fmla="*/ 480 w 480"/>
                  <a:gd name="txB" fmla="*/ 104 h 104"/>
                </a:gdLst>
                <a:ahLst/>
                <a:cxnLst>
                  <a:cxn ang="0">
                    <a:pos x="480" y="8"/>
                  </a:cxn>
                  <a:cxn ang="0">
                    <a:pos x="240" y="8"/>
                  </a:cxn>
                  <a:cxn ang="0">
                    <a:pos x="96" y="56"/>
                  </a:cxn>
                  <a:cxn ang="0">
                    <a:pos x="0" y="104"/>
                  </a:cxn>
                </a:cxnLst>
                <a:rect l="txL" t="txT" r="txR" b="txB"/>
                <a:pathLst>
                  <a:path w="480" h="104">
                    <a:moveTo>
                      <a:pt x="480" y="8"/>
                    </a:moveTo>
                    <a:cubicBezTo>
                      <a:pt x="392" y="4"/>
                      <a:pt x="304" y="0"/>
                      <a:pt x="240" y="8"/>
                    </a:cubicBezTo>
                    <a:cubicBezTo>
                      <a:pt x="176" y="16"/>
                      <a:pt x="136" y="40"/>
                      <a:pt x="96" y="56"/>
                    </a:cubicBezTo>
                    <a:cubicBezTo>
                      <a:pt x="56" y="72"/>
                      <a:pt x="28" y="88"/>
                      <a:pt x="0" y="104"/>
                    </a:cubicBezTo>
                  </a:path>
                </a:pathLst>
              </a:custGeom>
              <a:noFill/>
              <a:ln w="38100" cap="flat" cmpd="sng">
                <a:solidFill>
                  <a:srgbClr val="3366FF">
                    <a:alpha val="100000"/>
                  </a:srgbClr>
                </a:solidFill>
                <a:prstDash val="solid"/>
                <a:round/>
                <a:headEnd type="none" w="med" len="med"/>
                <a:tailEnd type="triangle" w="med" len="med"/>
              </a:ln>
            </p:spPr>
            <p:txBody>
              <a:bodyPr/>
              <a:p>
                <a:endParaRPr lang="en-US"/>
              </a:p>
            </p:txBody>
          </p:sp>
          <p:sp>
            <p:nvSpPr>
              <p:cNvPr id="20510" name="Freeform 13"/>
              <p:cNvSpPr/>
              <p:nvPr/>
            </p:nvSpPr>
            <p:spPr>
              <a:xfrm flipH="1">
                <a:off x="2928" y="1248"/>
                <a:ext cx="480" cy="104"/>
              </a:xfrm>
              <a:custGeom>
                <a:avLst/>
                <a:gdLst>
                  <a:gd name="txL" fmla="*/ 0 w 480"/>
                  <a:gd name="txT" fmla="*/ 0 h 104"/>
                  <a:gd name="txR" fmla="*/ 480 w 480"/>
                  <a:gd name="txB" fmla="*/ 104 h 104"/>
                </a:gdLst>
                <a:ahLst/>
                <a:cxnLst>
                  <a:cxn ang="0">
                    <a:pos x="480" y="8"/>
                  </a:cxn>
                  <a:cxn ang="0">
                    <a:pos x="240" y="8"/>
                  </a:cxn>
                  <a:cxn ang="0">
                    <a:pos x="96" y="56"/>
                  </a:cxn>
                  <a:cxn ang="0">
                    <a:pos x="0" y="104"/>
                  </a:cxn>
                </a:cxnLst>
                <a:rect l="txL" t="txT" r="txR" b="txB"/>
                <a:pathLst>
                  <a:path w="480" h="104">
                    <a:moveTo>
                      <a:pt x="480" y="8"/>
                    </a:moveTo>
                    <a:cubicBezTo>
                      <a:pt x="392" y="4"/>
                      <a:pt x="304" y="0"/>
                      <a:pt x="240" y="8"/>
                    </a:cubicBezTo>
                    <a:cubicBezTo>
                      <a:pt x="176" y="16"/>
                      <a:pt x="136" y="40"/>
                      <a:pt x="96" y="56"/>
                    </a:cubicBezTo>
                    <a:cubicBezTo>
                      <a:pt x="56" y="72"/>
                      <a:pt x="28" y="88"/>
                      <a:pt x="0" y="104"/>
                    </a:cubicBezTo>
                  </a:path>
                </a:pathLst>
              </a:custGeom>
              <a:noFill/>
              <a:ln w="38100" cap="flat" cmpd="sng">
                <a:solidFill>
                  <a:srgbClr val="3366FF">
                    <a:alpha val="100000"/>
                  </a:srgbClr>
                </a:solidFill>
                <a:prstDash val="solid"/>
                <a:round/>
                <a:headEnd type="triangle" w="med" len="med"/>
                <a:tailEnd type="none" w="med" len="med"/>
              </a:ln>
            </p:spPr>
            <p:txBody>
              <a:bodyPr/>
              <a:p>
                <a:endParaRPr lang="en-US"/>
              </a:p>
            </p:txBody>
          </p:sp>
          <p:sp>
            <p:nvSpPr>
              <p:cNvPr id="20511" name="Freeform 14"/>
              <p:cNvSpPr/>
              <p:nvPr/>
            </p:nvSpPr>
            <p:spPr>
              <a:xfrm flipH="1" flipV="1">
                <a:off x="2928" y="1008"/>
                <a:ext cx="480" cy="104"/>
              </a:xfrm>
              <a:custGeom>
                <a:avLst/>
                <a:gdLst>
                  <a:gd name="txL" fmla="*/ 0 w 480"/>
                  <a:gd name="txT" fmla="*/ 0 h 104"/>
                  <a:gd name="txR" fmla="*/ 480 w 480"/>
                  <a:gd name="txB" fmla="*/ 104 h 104"/>
                </a:gdLst>
                <a:ahLst/>
                <a:cxnLst>
                  <a:cxn ang="0">
                    <a:pos x="480" y="8"/>
                  </a:cxn>
                  <a:cxn ang="0">
                    <a:pos x="240" y="8"/>
                  </a:cxn>
                  <a:cxn ang="0">
                    <a:pos x="96" y="56"/>
                  </a:cxn>
                  <a:cxn ang="0">
                    <a:pos x="0" y="104"/>
                  </a:cxn>
                </a:cxnLst>
                <a:rect l="txL" t="txT" r="txR" b="txB"/>
                <a:pathLst>
                  <a:path w="480" h="104">
                    <a:moveTo>
                      <a:pt x="480" y="8"/>
                    </a:moveTo>
                    <a:cubicBezTo>
                      <a:pt x="392" y="4"/>
                      <a:pt x="304" y="0"/>
                      <a:pt x="240" y="8"/>
                    </a:cubicBezTo>
                    <a:cubicBezTo>
                      <a:pt x="176" y="16"/>
                      <a:pt x="136" y="40"/>
                      <a:pt x="96" y="56"/>
                    </a:cubicBezTo>
                    <a:cubicBezTo>
                      <a:pt x="56" y="72"/>
                      <a:pt x="28" y="88"/>
                      <a:pt x="0" y="104"/>
                    </a:cubicBezTo>
                  </a:path>
                </a:pathLst>
              </a:custGeom>
              <a:noFill/>
              <a:ln w="38100" cap="flat" cmpd="sng">
                <a:solidFill>
                  <a:srgbClr val="3366FF">
                    <a:alpha val="100000"/>
                  </a:srgbClr>
                </a:solidFill>
                <a:prstDash val="solid"/>
                <a:round/>
                <a:headEnd type="triangle" w="med" len="med"/>
                <a:tailEnd type="none" w="med" len="med"/>
              </a:ln>
            </p:spPr>
            <p:txBody>
              <a:bodyPr/>
              <a:p>
                <a:endParaRPr lang="en-US"/>
              </a:p>
            </p:txBody>
          </p:sp>
          <p:sp>
            <p:nvSpPr>
              <p:cNvPr id="20512" name="Line 15"/>
              <p:cNvSpPr/>
              <p:nvPr/>
            </p:nvSpPr>
            <p:spPr>
              <a:xfrm flipH="1">
                <a:off x="2928" y="1176"/>
                <a:ext cx="528" cy="0"/>
              </a:xfrm>
              <a:prstGeom prst="line">
                <a:avLst/>
              </a:prstGeom>
              <a:ln w="38100" cap="flat" cmpd="sng">
                <a:solidFill>
                  <a:srgbClr val="3366FF"/>
                </a:solidFill>
                <a:prstDash val="solid"/>
                <a:headEnd type="none" w="med" len="med"/>
                <a:tailEnd type="triangle" w="med" len="med"/>
              </a:ln>
            </p:spPr>
          </p:sp>
        </p:grpSp>
        <p:grpSp>
          <p:nvGrpSpPr>
            <p:cNvPr id="20489" name="Group 16"/>
            <p:cNvGrpSpPr/>
            <p:nvPr/>
          </p:nvGrpSpPr>
          <p:grpSpPr>
            <a:xfrm>
              <a:off x="3080" y="816"/>
              <a:ext cx="1580" cy="1162"/>
              <a:chOff x="3080" y="816"/>
              <a:chExt cx="1580" cy="1162"/>
            </a:xfrm>
          </p:grpSpPr>
          <p:sp>
            <p:nvSpPr>
              <p:cNvPr id="20490" name="Oval 17"/>
              <p:cNvSpPr/>
              <p:nvPr/>
            </p:nvSpPr>
            <p:spPr>
              <a:xfrm>
                <a:off x="3456" y="816"/>
                <a:ext cx="192" cy="720"/>
              </a:xfrm>
              <a:prstGeom prst="ellipse">
                <a:avLst/>
              </a:prstGeom>
              <a:noFill/>
              <a:ln w="19050" cap="flat" cmpd="sng">
                <a:solidFill>
                  <a:schemeClr val="tx1"/>
                </a:solidFill>
                <a:prstDash val="solid"/>
                <a:headEnd type="none" w="med" len="med"/>
                <a:tailEnd type="none" w="med" len="med"/>
              </a:ln>
            </p:spPr>
            <p:txBody>
              <a:bodyPr anchor="ctr" anchorCtr="0">
                <a:spAutoFit/>
              </a:bodyPr>
              <a:p>
                <a:pPr eaLnBrk="1" hangingPunct="1"/>
                <a:endParaRPr lang="en-US" altLang="en-US" sz="2400" dirty="0">
                  <a:latin typeface="Tahoma" panose="020B0604030504040204" pitchFamily="34" charset="0"/>
                </a:endParaRPr>
              </a:p>
            </p:txBody>
          </p:sp>
          <p:sp>
            <p:nvSpPr>
              <p:cNvPr id="20491" name="Rectangle 18"/>
              <p:cNvSpPr/>
              <p:nvPr/>
            </p:nvSpPr>
            <p:spPr>
              <a:xfrm>
                <a:off x="3192" y="1134"/>
                <a:ext cx="188" cy="288"/>
              </a:xfrm>
              <a:prstGeom prst="rect">
                <a:avLst/>
              </a:prstGeom>
              <a:noFill/>
              <a:ln w="9525">
                <a:noFill/>
              </a:ln>
            </p:spPr>
            <p:txBody>
              <a:bodyPr wrap="none">
                <a:spAutoFit/>
              </a:bodyPr>
              <a:p>
                <a:pPr eaLnBrk="1" hangingPunct="1"/>
                <a:r>
                  <a:rPr lang="en-US" altLang="en-US" sz="2400" dirty="0">
                    <a:solidFill>
                      <a:srgbClr val="FF0000"/>
                    </a:solidFill>
                    <a:latin typeface="Tahoma" panose="020B0604030504040204" pitchFamily="34" charset="0"/>
                  </a:rPr>
                  <a:t>I</a:t>
                </a:r>
                <a:endParaRPr lang="en-US" altLang="en-US" sz="2400" dirty="0">
                  <a:solidFill>
                    <a:srgbClr val="FF0000"/>
                  </a:solidFill>
                  <a:latin typeface="Tahoma" panose="020B0604030504040204" pitchFamily="34" charset="0"/>
                </a:endParaRPr>
              </a:p>
            </p:txBody>
          </p:sp>
          <p:sp>
            <p:nvSpPr>
              <p:cNvPr id="20492" name="Rectangle 19"/>
              <p:cNvSpPr/>
              <p:nvPr/>
            </p:nvSpPr>
            <p:spPr>
              <a:xfrm>
                <a:off x="4464" y="1344"/>
                <a:ext cx="196" cy="250"/>
              </a:xfrm>
              <a:prstGeom prst="rect">
                <a:avLst/>
              </a:prstGeom>
              <a:noFill/>
              <a:ln w="9525">
                <a:noFill/>
              </a:ln>
            </p:spPr>
            <p:txBody>
              <a:bodyPr wrap="none">
                <a:spAutoFit/>
              </a:bodyPr>
              <a:p>
                <a:pPr eaLnBrk="1" hangingPunct="1"/>
                <a:r>
                  <a:rPr lang="en-US" altLang="en-US" sz="2000" dirty="0">
                    <a:latin typeface="Tahoma" panose="020B0604030504040204" pitchFamily="34" charset="0"/>
                  </a:rPr>
                  <a:t>v</a:t>
                </a:r>
                <a:endParaRPr lang="en-US" altLang="en-US" sz="2000" dirty="0">
                  <a:latin typeface="Tahoma" panose="020B0604030504040204" pitchFamily="34" charset="0"/>
                </a:endParaRPr>
              </a:p>
            </p:txBody>
          </p:sp>
          <p:sp>
            <p:nvSpPr>
              <p:cNvPr id="20493" name="Line 20"/>
              <p:cNvSpPr/>
              <p:nvPr/>
            </p:nvSpPr>
            <p:spPr>
              <a:xfrm flipH="1">
                <a:off x="4128" y="1482"/>
                <a:ext cx="384" cy="0"/>
              </a:xfrm>
              <a:prstGeom prst="line">
                <a:avLst/>
              </a:prstGeom>
              <a:ln w="28575" cap="flat" cmpd="sng">
                <a:solidFill>
                  <a:schemeClr val="tx1"/>
                </a:solidFill>
                <a:prstDash val="solid"/>
                <a:headEnd type="none" w="med" len="med"/>
                <a:tailEnd type="triangle" w="med" len="med"/>
              </a:ln>
            </p:spPr>
          </p:sp>
          <p:sp>
            <p:nvSpPr>
              <p:cNvPr id="20494" name="Oval 21"/>
              <p:cNvSpPr/>
              <p:nvPr/>
            </p:nvSpPr>
            <p:spPr>
              <a:xfrm>
                <a:off x="3432" y="816"/>
                <a:ext cx="192" cy="720"/>
              </a:xfrm>
              <a:prstGeom prst="ellipse">
                <a:avLst/>
              </a:prstGeom>
              <a:noFill/>
              <a:ln w="19050" cap="flat" cmpd="sng">
                <a:solidFill>
                  <a:schemeClr val="tx1"/>
                </a:solidFill>
                <a:prstDash val="solid"/>
                <a:headEnd type="none" w="med" len="med"/>
                <a:tailEnd type="none" w="med" len="med"/>
              </a:ln>
            </p:spPr>
            <p:txBody>
              <a:bodyPr anchor="ctr" anchorCtr="0">
                <a:spAutoFit/>
              </a:bodyPr>
              <a:p>
                <a:pPr eaLnBrk="1" hangingPunct="1"/>
                <a:endParaRPr lang="en-US" altLang="en-US" sz="2400" dirty="0">
                  <a:latin typeface="Tahoma" panose="020B0604030504040204" pitchFamily="34" charset="0"/>
                </a:endParaRPr>
              </a:p>
            </p:txBody>
          </p:sp>
          <p:sp>
            <p:nvSpPr>
              <p:cNvPr id="20495" name="Oval 22"/>
              <p:cNvSpPr/>
              <p:nvPr/>
            </p:nvSpPr>
            <p:spPr>
              <a:xfrm>
                <a:off x="3408" y="816"/>
                <a:ext cx="192" cy="720"/>
              </a:xfrm>
              <a:prstGeom prst="ellipse">
                <a:avLst/>
              </a:prstGeom>
              <a:noFill/>
              <a:ln w="19050" cap="flat" cmpd="sng">
                <a:solidFill>
                  <a:schemeClr val="tx1"/>
                </a:solidFill>
                <a:prstDash val="solid"/>
                <a:headEnd type="none" w="med" len="med"/>
                <a:tailEnd type="none" w="med" len="med"/>
              </a:ln>
            </p:spPr>
            <p:txBody>
              <a:bodyPr anchor="ctr" anchorCtr="0">
                <a:spAutoFit/>
              </a:bodyPr>
              <a:p>
                <a:pPr eaLnBrk="1" hangingPunct="1"/>
                <a:endParaRPr lang="en-US" altLang="en-US" sz="2400" dirty="0">
                  <a:latin typeface="Tahoma" panose="020B0604030504040204" pitchFamily="34" charset="0"/>
                </a:endParaRPr>
              </a:p>
            </p:txBody>
          </p:sp>
          <p:sp>
            <p:nvSpPr>
              <p:cNvPr id="20496" name="Oval 23"/>
              <p:cNvSpPr/>
              <p:nvPr/>
            </p:nvSpPr>
            <p:spPr>
              <a:xfrm>
                <a:off x="3384" y="816"/>
                <a:ext cx="192" cy="720"/>
              </a:xfrm>
              <a:prstGeom prst="ellipse">
                <a:avLst/>
              </a:prstGeom>
              <a:noFill/>
              <a:ln w="19050" cap="flat" cmpd="sng">
                <a:solidFill>
                  <a:schemeClr val="tx1"/>
                </a:solidFill>
                <a:prstDash val="solid"/>
                <a:headEnd type="none" w="med" len="med"/>
                <a:tailEnd type="none" w="med" len="med"/>
              </a:ln>
            </p:spPr>
            <p:txBody>
              <a:bodyPr anchor="ctr" anchorCtr="0">
                <a:spAutoFit/>
              </a:bodyPr>
              <a:p>
                <a:pPr eaLnBrk="1" hangingPunct="1"/>
                <a:endParaRPr lang="en-US" altLang="en-US" sz="2400" dirty="0">
                  <a:latin typeface="Tahoma" panose="020B0604030504040204" pitchFamily="34" charset="0"/>
                </a:endParaRPr>
              </a:p>
            </p:txBody>
          </p:sp>
          <p:sp>
            <p:nvSpPr>
              <p:cNvPr id="20497" name="Oval 24"/>
              <p:cNvSpPr/>
              <p:nvPr/>
            </p:nvSpPr>
            <p:spPr>
              <a:xfrm>
                <a:off x="3360" y="816"/>
                <a:ext cx="192" cy="720"/>
              </a:xfrm>
              <a:prstGeom prst="ellipse">
                <a:avLst/>
              </a:prstGeom>
              <a:noFill/>
              <a:ln w="19050" cap="flat" cmpd="sng">
                <a:solidFill>
                  <a:schemeClr val="tx1"/>
                </a:solidFill>
                <a:prstDash val="solid"/>
                <a:headEnd type="none" w="med" len="med"/>
                <a:tailEnd type="none" w="med" len="med"/>
              </a:ln>
            </p:spPr>
            <p:txBody>
              <a:bodyPr anchor="ctr" anchorCtr="0">
                <a:spAutoFit/>
              </a:bodyPr>
              <a:p>
                <a:pPr eaLnBrk="1" hangingPunct="1"/>
                <a:endParaRPr lang="en-US" altLang="en-US" sz="2400" dirty="0">
                  <a:latin typeface="Tahoma" panose="020B0604030504040204" pitchFamily="34" charset="0"/>
                </a:endParaRPr>
              </a:p>
            </p:txBody>
          </p:sp>
          <p:sp>
            <p:nvSpPr>
              <p:cNvPr id="20498" name="Freeform 25"/>
              <p:cNvSpPr>
                <a:spLocks noChangeAspect="1"/>
              </p:cNvSpPr>
              <p:nvPr/>
            </p:nvSpPr>
            <p:spPr>
              <a:xfrm>
                <a:off x="3336" y="1780"/>
                <a:ext cx="322" cy="81"/>
              </a:xfrm>
              <a:custGeom>
                <a:avLst/>
                <a:gdLst>
                  <a:gd name="txL" fmla="*/ 0 w 768"/>
                  <a:gd name="txT" fmla="*/ 0 h 192"/>
                  <a:gd name="txR" fmla="*/ 768 w 768"/>
                  <a:gd name="txB" fmla="*/ 192 h 192"/>
                </a:gdLst>
                <a:ahLst/>
                <a:cxnLst>
                  <a:cxn ang="0">
                    <a:pos x="0" y="7"/>
                  </a:cxn>
                  <a:cxn ang="0">
                    <a:pos x="7" y="7"/>
                  </a:cxn>
                  <a:cxn ang="0">
                    <a:pos x="10" y="0"/>
                  </a:cxn>
                  <a:cxn ang="0">
                    <a:pos x="18" y="14"/>
                  </a:cxn>
                  <a:cxn ang="0">
                    <a:pos x="25" y="0"/>
                  </a:cxn>
                  <a:cxn ang="0">
                    <a:pos x="32" y="14"/>
                  </a:cxn>
                  <a:cxn ang="0">
                    <a:pos x="39" y="0"/>
                  </a:cxn>
                  <a:cxn ang="0">
                    <a:pos x="46" y="14"/>
                  </a:cxn>
                  <a:cxn ang="0">
                    <a:pos x="49" y="7"/>
                  </a:cxn>
                  <a:cxn ang="0">
                    <a:pos x="57" y="7"/>
                  </a:cxn>
                </a:cxnLst>
                <a:rect l="txL" t="txT" r="txR" b="txB"/>
                <a:pathLst>
                  <a:path w="768" h="192">
                    <a:moveTo>
                      <a:pt x="0" y="96"/>
                    </a:moveTo>
                    <a:lnTo>
                      <a:pt x="96" y="96"/>
                    </a:lnTo>
                    <a:lnTo>
                      <a:pt x="144" y="0"/>
                    </a:lnTo>
                    <a:lnTo>
                      <a:pt x="240" y="192"/>
                    </a:lnTo>
                    <a:lnTo>
                      <a:pt x="336" y="0"/>
                    </a:lnTo>
                    <a:lnTo>
                      <a:pt x="432" y="192"/>
                    </a:lnTo>
                    <a:lnTo>
                      <a:pt x="528" y="0"/>
                    </a:lnTo>
                    <a:lnTo>
                      <a:pt x="624" y="192"/>
                    </a:lnTo>
                    <a:lnTo>
                      <a:pt x="672" y="96"/>
                    </a:lnTo>
                    <a:lnTo>
                      <a:pt x="768" y="96"/>
                    </a:lnTo>
                  </a:path>
                </a:pathLst>
              </a:custGeom>
              <a:noFill/>
              <a:ln w="19050" cap="flat" cmpd="sng">
                <a:solidFill>
                  <a:schemeClr val="tx2">
                    <a:alpha val="100000"/>
                  </a:schemeClr>
                </a:solidFill>
                <a:prstDash val="solid"/>
                <a:round/>
                <a:headEnd type="none" w="med" len="med"/>
                <a:tailEnd type="none" w="med" len="med"/>
              </a:ln>
            </p:spPr>
            <p:txBody>
              <a:bodyPr/>
              <a:p>
                <a:endParaRPr lang="en-US"/>
              </a:p>
            </p:txBody>
          </p:sp>
          <p:sp>
            <p:nvSpPr>
              <p:cNvPr id="20499" name="Freeform 26"/>
              <p:cNvSpPr/>
              <p:nvPr/>
            </p:nvSpPr>
            <p:spPr>
              <a:xfrm>
                <a:off x="3246" y="1530"/>
                <a:ext cx="192" cy="288"/>
              </a:xfrm>
              <a:custGeom>
                <a:avLst/>
                <a:gdLst>
                  <a:gd name="txL" fmla="*/ 0 w 192"/>
                  <a:gd name="txT" fmla="*/ 0 h 288"/>
                  <a:gd name="txR" fmla="*/ 192 w 192"/>
                  <a:gd name="txB" fmla="*/ 288 h 288"/>
                </a:gdLst>
                <a:ahLst/>
                <a:cxnLst>
                  <a:cxn ang="0">
                    <a:pos x="192" y="0"/>
                  </a:cxn>
                  <a:cxn ang="0">
                    <a:pos x="192" y="48"/>
                  </a:cxn>
                  <a:cxn ang="0">
                    <a:pos x="0" y="48"/>
                  </a:cxn>
                  <a:cxn ang="0">
                    <a:pos x="0" y="288"/>
                  </a:cxn>
                  <a:cxn ang="0">
                    <a:pos x="96" y="288"/>
                  </a:cxn>
                </a:cxnLst>
                <a:rect l="txL" t="txT" r="txR" b="txB"/>
                <a:pathLst>
                  <a:path w="192" h="288">
                    <a:moveTo>
                      <a:pt x="192" y="0"/>
                    </a:moveTo>
                    <a:lnTo>
                      <a:pt x="192" y="48"/>
                    </a:lnTo>
                    <a:lnTo>
                      <a:pt x="0" y="48"/>
                    </a:lnTo>
                    <a:lnTo>
                      <a:pt x="0" y="288"/>
                    </a:lnTo>
                    <a:lnTo>
                      <a:pt x="96" y="288"/>
                    </a:lnTo>
                  </a:path>
                </a:pathLst>
              </a:custGeom>
              <a:noFill/>
              <a:ln w="19050" cap="flat" cmpd="sng">
                <a:solidFill>
                  <a:schemeClr val="tx1">
                    <a:alpha val="100000"/>
                  </a:schemeClr>
                </a:solidFill>
                <a:prstDash val="solid"/>
                <a:round/>
                <a:headEnd type="none" w="med" len="med"/>
                <a:tailEnd type="none" w="med" len="med"/>
              </a:ln>
            </p:spPr>
            <p:txBody>
              <a:bodyPr/>
              <a:p>
                <a:endParaRPr lang="en-US"/>
              </a:p>
            </p:txBody>
          </p:sp>
          <p:sp>
            <p:nvSpPr>
              <p:cNvPr id="20500" name="Freeform 27"/>
              <p:cNvSpPr/>
              <p:nvPr/>
            </p:nvSpPr>
            <p:spPr>
              <a:xfrm flipH="1">
                <a:off x="3558" y="1530"/>
                <a:ext cx="192" cy="288"/>
              </a:xfrm>
              <a:custGeom>
                <a:avLst/>
                <a:gdLst>
                  <a:gd name="txL" fmla="*/ 0 w 192"/>
                  <a:gd name="txT" fmla="*/ 0 h 288"/>
                  <a:gd name="txR" fmla="*/ 192 w 192"/>
                  <a:gd name="txB" fmla="*/ 288 h 288"/>
                </a:gdLst>
                <a:ahLst/>
                <a:cxnLst>
                  <a:cxn ang="0">
                    <a:pos x="192" y="0"/>
                  </a:cxn>
                  <a:cxn ang="0">
                    <a:pos x="192" y="48"/>
                  </a:cxn>
                  <a:cxn ang="0">
                    <a:pos x="0" y="48"/>
                  </a:cxn>
                  <a:cxn ang="0">
                    <a:pos x="0" y="288"/>
                  </a:cxn>
                  <a:cxn ang="0">
                    <a:pos x="96" y="288"/>
                  </a:cxn>
                </a:cxnLst>
                <a:rect l="txL" t="txT" r="txR" b="txB"/>
                <a:pathLst>
                  <a:path w="192" h="288">
                    <a:moveTo>
                      <a:pt x="192" y="0"/>
                    </a:moveTo>
                    <a:lnTo>
                      <a:pt x="192" y="48"/>
                    </a:lnTo>
                    <a:lnTo>
                      <a:pt x="0" y="48"/>
                    </a:lnTo>
                    <a:lnTo>
                      <a:pt x="0" y="288"/>
                    </a:lnTo>
                    <a:lnTo>
                      <a:pt x="96" y="288"/>
                    </a:lnTo>
                  </a:path>
                </a:pathLst>
              </a:custGeom>
              <a:noFill/>
              <a:ln w="19050" cap="flat" cmpd="sng">
                <a:solidFill>
                  <a:schemeClr val="tx1">
                    <a:alpha val="100000"/>
                  </a:schemeClr>
                </a:solidFill>
                <a:prstDash val="solid"/>
                <a:round/>
                <a:headEnd type="none" w="med" len="med"/>
                <a:tailEnd type="none" w="med" len="med"/>
              </a:ln>
            </p:spPr>
            <p:txBody>
              <a:bodyPr/>
              <a:p>
                <a:endParaRPr lang="en-US"/>
              </a:p>
            </p:txBody>
          </p:sp>
          <p:sp>
            <p:nvSpPr>
              <p:cNvPr id="20501" name="Arc 28"/>
              <p:cNvSpPr/>
              <p:nvPr/>
            </p:nvSpPr>
            <p:spPr>
              <a:xfrm rot="-1500000" flipH="1">
                <a:off x="3318" y="1056"/>
                <a:ext cx="576" cy="317"/>
              </a:xfrm>
              <a:custGeom>
                <a:avLst/>
                <a:gdLst>
                  <a:gd name="txL" fmla="*/ 0 w 21600"/>
                  <a:gd name="txT" fmla="*/ 0 h 11892"/>
                  <a:gd name="txR" fmla="*/ 21600 w 21600"/>
                  <a:gd name="txB" fmla="*/ 11892 h 11892"/>
                </a:gdLst>
                <a:ahLst/>
                <a:cxnLst>
                  <a:cxn ang="0">
                    <a:pos x="0" y="0"/>
                  </a:cxn>
                  <a:cxn ang="0">
                    <a:pos x="0" y="0"/>
                  </a:cxn>
                  <a:cxn ang="0">
                    <a:pos x="0" y="0"/>
                  </a:cxn>
                </a:cxnLst>
                <a:rect l="txL" t="txT" r="txR" b="txB"/>
                <a:pathLst>
                  <a:path w="21600" h="11892" fill="none">
                    <a:moveTo>
                      <a:pt x="18031" y="0"/>
                    </a:moveTo>
                    <a:cubicBezTo>
                      <a:pt x="20359" y="3529"/>
                      <a:pt x="21600" y="7664"/>
                      <a:pt x="21600" y="11892"/>
                    </a:cubicBezTo>
                  </a:path>
                  <a:path w="21600" h="11892" stroke="0">
                    <a:moveTo>
                      <a:pt x="18031" y="0"/>
                    </a:moveTo>
                    <a:cubicBezTo>
                      <a:pt x="20359" y="3529"/>
                      <a:pt x="21600" y="7664"/>
                      <a:pt x="21600" y="11892"/>
                    </a:cubicBezTo>
                    <a:lnTo>
                      <a:pt x="0" y="11892"/>
                    </a:lnTo>
                    <a:lnTo>
                      <a:pt x="18031" y="0"/>
                    </a:lnTo>
                    <a:close/>
                  </a:path>
                </a:pathLst>
              </a:custGeom>
              <a:noFill/>
              <a:ln w="38100" cap="flat" cmpd="sng">
                <a:solidFill>
                  <a:srgbClr val="FF0000">
                    <a:alpha val="100000"/>
                  </a:srgbClr>
                </a:solidFill>
                <a:prstDash val="solid"/>
                <a:round/>
                <a:headEnd type="none" w="med" len="med"/>
                <a:tailEnd type="triangle" w="med" len="med"/>
              </a:ln>
            </p:spPr>
            <p:txBody>
              <a:bodyPr/>
              <a:p>
                <a:endParaRPr lang="en-US"/>
              </a:p>
            </p:txBody>
          </p:sp>
          <p:sp>
            <p:nvSpPr>
              <p:cNvPr id="20502" name="Rectangle 29"/>
              <p:cNvSpPr/>
              <p:nvPr/>
            </p:nvSpPr>
            <p:spPr>
              <a:xfrm>
                <a:off x="3080" y="1718"/>
                <a:ext cx="232" cy="250"/>
              </a:xfrm>
              <a:prstGeom prst="rect">
                <a:avLst/>
              </a:prstGeom>
              <a:noFill/>
              <a:ln w="9525">
                <a:noFill/>
              </a:ln>
            </p:spPr>
            <p:txBody>
              <a:bodyPr wrap="none">
                <a:spAutoFit/>
              </a:bodyPr>
              <a:p>
                <a:pPr eaLnBrk="1" hangingPunct="1"/>
                <a:r>
                  <a:rPr lang="en-US" altLang="en-US" sz="2000" dirty="0">
                    <a:latin typeface="Tahoma" panose="020B0604030504040204" pitchFamily="34" charset="0"/>
                  </a:rPr>
                  <a:t>+</a:t>
                </a:r>
                <a:endParaRPr lang="en-US" altLang="en-US" sz="2000" dirty="0">
                  <a:latin typeface="Tahoma" panose="020B0604030504040204" pitchFamily="34" charset="0"/>
                </a:endParaRPr>
              </a:p>
            </p:txBody>
          </p:sp>
          <p:sp>
            <p:nvSpPr>
              <p:cNvPr id="20503" name="Rectangle 30"/>
              <p:cNvSpPr/>
              <p:nvPr/>
            </p:nvSpPr>
            <p:spPr>
              <a:xfrm>
                <a:off x="3714" y="1728"/>
                <a:ext cx="174" cy="250"/>
              </a:xfrm>
              <a:prstGeom prst="rect">
                <a:avLst/>
              </a:prstGeom>
              <a:noFill/>
              <a:ln w="9525">
                <a:noFill/>
              </a:ln>
            </p:spPr>
            <p:txBody>
              <a:bodyPr wrap="none">
                <a:spAutoFit/>
              </a:bodyPr>
              <a:p>
                <a:pPr eaLnBrk="1" hangingPunct="1"/>
                <a:r>
                  <a:rPr lang="en-US" altLang="en-US" sz="2000" dirty="0">
                    <a:latin typeface="Tahoma" panose="020B0604030504040204" pitchFamily="34" charset="0"/>
                  </a:rPr>
                  <a:t>-</a:t>
                </a:r>
                <a:endParaRPr lang="en-US" altLang="en-US" sz="2000" dirty="0">
                  <a:latin typeface="Tahoma" panose="020B0604030504040204" pitchFamily="34" charset="0"/>
                </a:endParaRPr>
              </a:p>
            </p:txBody>
          </p:sp>
        </p:grpSp>
      </p:grpSp>
      <p:sp>
        <p:nvSpPr>
          <p:cNvPr id="574495" name="Text Box 31"/>
          <p:cNvSpPr txBox="1"/>
          <p:nvPr/>
        </p:nvSpPr>
        <p:spPr>
          <a:xfrm>
            <a:off x="228600" y="3644900"/>
            <a:ext cx="8626475" cy="1917700"/>
          </a:xfrm>
          <a:prstGeom prst="rect">
            <a:avLst/>
          </a:prstGeom>
          <a:noFill/>
          <a:ln w="9525">
            <a:noFill/>
          </a:ln>
        </p:spPr>
        <p:txBody>
          <a:bodyPr>
            <a:spAutoFit/>
          </a:bodyPr>
          <a:p>
            <a:pPr eaLnBrk="1" hangingPunct="1"/>
            <a:r>
              <a:rPr lang="en-US" altLang="en-US" sz="2400" dirty="0">
                <a:latin typeface="Tahoma" panose="020B0604030504040204" pitchFamily="34" charset="0"/>
              </a:rPr>
              <a:t>If Lenz’s law were not true—if there were a + sign in Faraday’s law—then a changing magnetic field would produce a current, which would further increase the magnetic field, further increasing the current, making the magnetic field still bigger…</a:t>
            </a:r>
            <a:endParaRPr lang="en-US" altLang="en-US" sz="2400" dirty="0">
              <a:latin typeface="Tahoma" panose="020B0604030504040204"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44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9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ln/>
        </p:spPr>
        <p:txBody>
          <a:bodyPr vert="horz" wrap="square" lIns="91440" tIns="45720" rIns="91440" bIns="45720" anchor="ctr" anchorCtr="0"/>
          <a:p>
            <a:r>
              <a:rPr lang="en-US" altLang="zh-TW" dirty="0">
                <a:ea typeface="PMingLiU" charset="-120"/>
              </a:rPr>
              <a:t>Minus Sign?  Lenz’s Law</a:t>
            </a:r>
            <a:endParaRPr lang="en-US" altLang="zh-TW" dirty="0">
              <a:ea typeface="PMingLiU" charset="-120"/>
            </a:endParaRPr>
          </a:p>
        </p:txBody>
      </p:sp>
      <p:pic>
        <p:nvPicPr>
          <p:cNvPr id="21507" name="Picture 3"/>
          <p:cNvPicPr>
            <a:picLocks noChangeAspect="1"/>
          </p:cNvPicPr>
          <p:nvPr/>
        </p:nvPicPr>
        <p:blipFill>
          <a:blip r:embed="rId1"/>
          <a:srcRect t="7330" r="11320" b="7289"/>
          <a:stretch>
            <a:fillRect/>
          </a:stretch>
        </p:blipFill>
        <p:spPr>
          <a:xfrm>
            <a:off x="381000" y="2590800"/>
            <a:ext cx="8458200" cy="3602038"/>
          </a:xfrm>
          <a:prstGeom prst="rect">
            <a:avLst/>
          </a:prstGeom>
          <a:noFill/>
          <a:ln w="9525">
            <a:noFill/>
          </a:ln>
        </p:spPr>
      </p:pic>
      <p:sp>
        <p:nvSpPr>
          <p:cNvPr id="21508" name="Text Box 4"/>
          <p:cNvSpPr txBox="1"/>
          <p:nvPr/>
        </p:nvSpPr>
        <p:spPr>
          <a:xfrm>
            <a:off x="304800" y="1295400"/>
            <a:ext cx="8610600" cy="1190625"/>
          </a:xfrm>
          <a:prstGeom prst="rect">
            <a:avLst/>
          </a:prstGeom>
          <a:noFill/>
          <a:ln w="9525">
            <a:noFill/>
          </a:ln>
        </p:spPr>
        <p:txBody>
          <a:bodyPr>
            <a:spAutoFit/>
          </a:bodyPr>
          <a:p>
            <a:pPr eaLnBrk="1" hangingPunct="1"/>
            <a:r>
              <a:rPr lang="en-US" altLang="zh-TW" sz="3600" dirty="0">
                <a:latin typeface="Arial" panose="020B0604020202020204" pitchFamily="34" charset="0"/>
                <a:ea typeface="PMingLiU" charset="-120"/>
              </a:rPr>
              <a:t>Induced EMF is in direction that </a:t>
            </a:r>
            <a:r>
              <a:rPr lang="en-US" altLang="zh-TW" sz="3600" i="1" dirty="0">
                <a:latin typeface="Arial" panose="020B0604020202020204" pitchFamily="34" charset="0"/>
                <a:ea typeface="PMingLiU" charset="-120"/>
              </a:rPr>
              <a:t>opposes</a:t>
            </a:r>
            <a:r>
              <a:rPr lang="en-US" altLang="zh-TW" sz="3600" dirty="0">
                <a:solidFill>
                  <a:srgbClr val="FF3300"/>
                </a:solidFill>
                <a:latin typeface="Arial" panose="020B0604020202020204" pitchFamily="34" charset="0"/>
                <a:ea typeface="PMingLiU" charset="-120"/>
              </a:rPr>
              <a:t> </a:t>
            </a:r>
            <a:r>
              <a:rPr lang="en-US" altLang="zh-TW" sz="3600" i="1" dirty="0">
                <a:latin typeface="Arial" panose="020B0604020202020204" pitchFamily="34" charset="0"/>
                <a:ea typeface="PMingLiU" charset="-120"/>
              </a:rPr>
              <a:t>the change</a:t>
            </a:r>
            <a:r>
              <a:rPr lang="en-US" altLang="zh-TW" sz="3600" dirty="0">
                <a:latin typeface="Arial" panose="020B0604020202020204" pitchFamily="34" charset="0"/>
                <a:ea typeface="PMingLiU" charset="-120"/>
              </a:rPr>
              <a:t> in flux that caused it</a:t>
            </a:r>
            <a:endParaRPr lang="zh-TW" altLang="en-US" sz="3600" dirty="0">
              <a:solidFill>
                <a:srgbClr val="FF3300"/>
              </a:solidFill>
              <a:latin typeface="Arial" panose="020B0604020202020204" pitchFamily="34" charset="0"/>
              <a:ea typeface="PMingLiU" charset="-12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 Box 3"/>
          <p:cNvSpPr txBox="1"/>
          <p:nvPr/>
        </p:nvSpPr>
        <p:spPr>
          <a:xfrm>
            <a:off x="457200" y="1828800"/>
            <a:ext cx="8382000" cy="4151313"/>
          </a:xfrm>
          <a:prstGeom prst="rect">
            <a:avLst/>
          </a:prstGeom>
          <a:noFill/>
          <a:ln w="9525">
            <a:noFill/>
          </a:ln>
        </p:spPr>
        <p:txBody>
          <a:bodyPr>
            <a:spAutoFit/>
          </a:bodyPr>
          <a:p>
            <a:pPr eaLnBrk="1" hangingPunct="1">
              <a:spcBef>
                <a:spcPct val="50000"/>
              </a:spcBef>
            </a:pPr>
            <a:r>
              <a:rPr lang="en-US" altLang="en-US" dirty="0">
                <a:solidFill>
                  <a:schemeClr val="accent2"/>
                </a:solidFill>
                <a:latin typeface="Arial" panose="020B0604020202020204" pitchFamily="34" charset="0"/>
              </a:rPr>
              <a:t>The minus sign gives the direction of the induced emf:</a:t>
            </a:r>
            <a:endParaRPr lang="en-US" altLang="en-US" dirty="0">
              <a:solidFill>
                <a:schemeClr val="accent2"/>
              </a:solidFill>
              <a:latin typeface="Arial" panose="020B0604020202020204" pitchFamily="34" charset="0"/>
            </a:endParaRPr>
          </a:p>
          <a:p>
            <a:pPr algn="ctr" eaLnBrk="1" hangingPunct="1">
              <a:spcBef>
                <a:spcPct val="50000"/>
              </a:spcBef>
            </a:pPr>
            <a:r>
              <a:rPr lang="en-US" altLang="en-US" i="1" dirty="0">
                <a:solidFill>
                  <a:schemeClr val="accent2"/>
                </a:solidFill>
                <a:latin typeface="Times New Roman" panose="02020603050405020304" pitchFamily="18" charset="0"/>
              </a:rPr>
              <a:t>A current produced by an induced emf moves in a direction so that the magnetic field it produces tends to restore the changed field.</a:t>
            </a:r>
            <a:endParaRPr lang="en-US" altLang="en-US" i="1" dirty="0">
              <a:solidFill>
                <a:schemeClr val="accent2"/>
              </a:solidFill>
              <a:latin typeface="Times New Roman" panose="02020603050405020304" pitchFamily="18" charset="0"/>
            </a:endParaRPr>
          </a:p>
          <a:p>
            <a:pPr algn="ctr" eaLnBrk="1" hangingPunct="1">
              <a:spcBef>
                <a:spcPct val="50000"/>
              </a:spcBef>
            </a:pPr>
            <a:r>
              <a:rPr lang="en-US" altLang="en-US" dirty="0">
                <a:solidFill>
                  <a:schemeClr val="accent2"/>
                </a:solidFill>
                <a:latin typeface="Arial" panose="020B0604020202020204" pitchFamily="34" charset="0"/>
              </a:rPr>
              <a:t>or:</a:t>
            </a:r>
            <a:endParaRPr lang="en-US" altLang="en-US" dirty="0">
              <a:solidFill>
                <a:schemeClr val="accent2"/>
              </a:solidFill>
              <a:latin typeface="Arial" panose="020B0604020202020204" pitchFamily="34" charset="0"/>
            </a:endParaRPr>
          </a:p>
          <a:p>
            <a:pPr algn="ctr" eaLnBrk="1" hangingPunct="1">
              <a:spcBef>
                <a:spcPct val="50000"/>
              </a:spcBef>
            </a:pPr>
            <a:r>
              <a:rPr lang="en-US" altLang="en-US" i="1" dirty="0">
                <a:solidFill>
                  <a:schemeClr val="accent2"/>
                </a:solidFill>
                <a:latin typeface="Times New Roman" panose="02020603050405020304" pitchFamily="18" charset="0"/>
              </a:rPr>
              <a:t>An induced emf is always in a direction that opposes the original change in flux that caused it.</a:t>
            </a:r>
            <a:endParaRPr lang="en-US" altLang="en-US" i="1" dirty="0">
              <a:solidFill>
                <a:schemeClr val="accent2"/>
              </a:solidFill>
              <a:latin typeface="Times New Roman" panose="02020603050405020304" pitchFamily="18" charset="0"/>
            </a:endParaRPr>
          </a:p>
        </p:txBody>
      </p:sp>
      <p:sp>
        <p:nvSpPr>
          <p:cNvPr id="23555" name="Rectangle 5"/>
          <p:cNvSpPr>
            <a:spLocks noGrp="1"/>
          </p:cNvSpPr>
          <p:nvPr>
            <p:ph type="title"/>
          </p:nvPr>
        </p:nvSpPr>
        <p:spPr>
          <a:xfrm>
            <a:off x="457200" y="0"/>
            <a:ext cx="8229600" cy="1219200"/>
          </a:xfrm>
          <a:ln/>
        </p:spPr>
        <p:txBody>
          <a:bodyPr vert="horz" wrap="square" lIns="91440" tIns="45720" rIns="91440" bIns="45720" anchor="ctr" anchorCtr="0"/>
          <a:p>
            <a:pPr eaLnBrk="1" hangingPunct="1"/>
            <a:r>
              <a:rPr lang="en-US" altLang="en-US" dirty="0"/>
              <a:t>Faraday’s Law of Induction; Lenz’s Law</a:t>
            </a: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ext Box 3"/>
          <p:cNvSpPr txBox="1"/>
          <p:nvPr/>
        </p:nvSpPr>
        <p:spPr>
          <a:xfrm>
            <a:off x="838200" y="1524000"/>
            <a:ext cx="7467600" cy="946150"/>
          </a:xfrm>
          <a:prstGeom prst="rect">
            <a:avLst/>
          </a:prstGeom>
          <a:noFill/>
          <a:ln w="9525">
            <a:noFill/>
          </a:ln>
        </p:spPr>
        <p:txBody>
          <a:bodyPr>
            <a:spAutoFit/>
          </a:bodyPr>
          <a:p>
            <a:pPr eaLnBrk="1" hangingPunct="1">
              <a:spcBef>
                <a:spcPct val="50000"/>
              </a:spcBef>
            </a:pPr>
            <a:r>
              <a:rPr lang="en-US" altLang="en-US" dirty="0">
                <a:solidFill>
                  <a:schemeClr val="accent2"/>
                </a:solidFill>
                <a:latin typeface="Arial" panose="020B0604020202020204" pitchFamily="34" charset="0"/>
              </a:rPr>
              <a:t>Magnetic flux will change if the area of the loop changes.</a:t>
            </a:r>
            <a:endParaRPr lang="en-US" altLang="en-US" dirty="0">
              <a:solidFill>
                <a:schemeClr val="accent2"/>
              </a:solidFill>
              <a:latin typeface="Arial" panose="020B0604020202020204" pitchFamily="34" charset="0"/>
            </a:endParaRPr>
          </a:p>
        </p:txBody>
      </p:sp>
      <p:sp>
        <p:nvSpPr>
          <p:cNvPr id="24579" name="Rectangle 6"/>
          <p:cNvSpPr>
            <a:spLocks noGrp="1"/>
          </p:cNvSpPr>
          <p:nvPr>
            <p:ph type="title"/>
          </p:nvPr>
        </p:nvSpPr>
        <p:spPr>
          <a:xfrm>
            <a:off x="457200" y="0"/>
            <a:ext cx="8229600" cy="1219200"/>
          </a:xfrm>
          <a:ln/>
        </p:spPr>
        <p:txBody>
          <a:bodyPr vert="horz" wrap="square" lIns="91440" tIns="45720" rIns="91440" bIns="45720" anchor="ctr" anchorCtr="0"/>
          <a:p>
            <a:pPr eaLnBrk="1" hangingPunct="1"/>
            <a:r>
              <a:rPr lang="en-US" altLang="en-US" dirty="0"/>
              <a:t>Faraday’s Law of Induction; Lenz’s Law</a:t>
            </a:r>
            <a:endParaRPr lang="en-US" altLang="en-US" dirty="0"/>
          </a:p>
        </p:txBody>
      </p:sp>
      <p:pic>
        <p:nvPicPr>
          <p:cNvPr id="24580" name="Picture 8"/>
          <p:cNvPicPr>
            <a:picLocks noChangeAspect="1"/>
          </p:cNvPicPr>
          <p:nvPr/>
        </p:nvPicPr>
        <p:blipFill>
          <a:blip r:embed="rId1"/>
          <a:srcRect b="14427"/>
          <a:stretch>
            <a:fillRect/>
          </a:stretch>
        </p:blipFill>
        <p:spPr>
          <a:xfrm>
            <a:off x="155575" y="2933700"/>
            <a:ext cx="8829675" cy="274955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6" name="Picture 9"/>
          <p:cNvPicPr>
            <a:picLocks noChangeAspect="1"/>
          </p:cNvPicPr>
          <p:nvPr/>
        </p:nvPicPr>
        <p:blipFill>
          <a:blip r:embed="rId1"/>
          <a:srcRect b="3694"/>
          <a:stretch>
            <a:fillRect/>
          </a:stretch>
        </p:blipFill>
        <p:spPr>
          <a:xfrm>
            <a:off x="682625" y="2525713"/>
            <a:ext cx="7775575" cy="4097337"/>
          </a:xfrm>
          <a:prstGeom prst="rect">
            <a:avLst/>
          </a:prstGeom>
          <a:noFill/>
          <a:ln w="9525">
            <a:noFill/>
          </a:ln>
        </p:spPr>
      </p:pic>
      <p:sp>
        <p:nvSpPr>
          <p:cNvPr id="26627" name="Text Box 3"/>
          <p:cNvSpPr txBox="1"/>
          <p:nvPr/>
        </p:nvSpPr>
        <p:spPr>
          <a:xfrm>
            <a:off x="381000" y="1524000"/>
            <a:ext cx="8382000" cy="946150"/>
          </a:xfrm>
          <a:prstGeom prst="rect">
            <a:avLst/>
          </a:prstGeom>
          <a:noFill/>
          <a:ln w="9525">
            <a:noFill/>
          </a:ln>
        </p:spPr>
        <p:txBody>
          <a:bodyPr>
            <a:spAutoFit/>
          </a:bodyPr>
          <a:p>
            <a:pPr eaLnBrk="1" hangingPunct="1">
              <a:spcBef>
                <a:spcPct val="50000"/>
              </a:spcBef>
            </a:pPr>
            <a:r>
              <a:rPr lang="en-US" altLang="en-US" dirty="0">
                <a:solidFill>
                  <a:schemeClr val="accent2"/>
                </a:solidFill>
                <a:latin typeface="Arial" panose="020B0604020202020204" pitchFamily="34" charset="0"/>
              </a:rPr>
              <a:t>Magnetic flux will change if the angle between the loop and the field changes.</a:t>
            </a:r>
            <a:endParaRPr lang="en-US" altLang="en-US" dirty="0">
              <a:solidFill>
                <a:schemeClr val="accent2"/>
              </a:solidFill>
              <a:latin typeface="Arial" panose="020B0604020202020204" pitchFamily="34" charset="0"/>
            </a:endParaRPr>
          </a:p>
        </p:txBody>
      </p:sp>
      <p:sp>
        <p:nvSpPr>
          <p:cNvPr id="26628" name="Rectangle 7"/>
          <p:cNvSpPr>
            <a:spLocks noGrp="1"/>
          </p:cNvSpPr>
          <p:nvPr>
            <p:ph type="title"/>
          </p:nvPr>
        </p:nvSpPr>
        <p:spPr>
          <a:xfrm>
            <a:off x="457200" y="0"/>
            <a:ext cx="8229600" cy="1219200"/>
          </a:xfrm>
          <a:ln/>
        </p:spPr>
        <p:txBody>
          <a:bodyPr vert="horz" wrap="square" lIns="91440" tIns="45720" rIns="91440" bIns="45720" anchor="ctr" anchorCtr="0"/>
          <a:p>
            <a:pPr eaLnBrk="1" hangingPunct="1"/>
            <a:r>
              <a:rPr lang="en-US" altLang="en-US" dirty="0"/>
              <a:t>Faraday’s Law of Induction; Lenz’s Law</a:t>
            </a:r>
            <a:endParaRPr lang="en-US" altLang="en-US" dirty="0"/>
          </a:p>
        </p:txBody>
      </p:sp>
      <p:sp>
        <p:nvSpPr>
          <p:cNvPr id="26629" name="Rectangle 10"/>
          <p:cNvSpPr/>
          <p:nvPr/>
        </p:nvSpPr>
        <p:spPr>
          <a:xfrm>
            <a:off x="1201738" y="6249988"/>
            <a:ext cx="376237" cy="388937"/>
          </a:xfrm>
          <a:prstGeom prst="rect">
            <a:avLst/>
          </a:prstGeom>
          <a:solidFill>
            <a:schemeClr val="bg1"/>
          </a:solidFill>
          <a:ln w="9525">
            <a:noFill/>
          </a:ln>
        </p:spPr>
        <p:txBody>
          <a:bodyPr wrap="none" anchor="ctr" anchorCtr="0"/>
          <a:p>
            <a:pPr eaLnBrk="1" hangingPunct="1"/>
            <a:endParaRPr lang="en-US" altLang="en-US" dirty="0">
              <a:latin typeface="Arial" panose="020B0604020202020204" pitchFamily="34" charset="0"/>
            </a:endParaRPr>
          </a:p>
        </p:txBody>
      </p:sp>
      <p:sp>
        <p:nvSpPr>
          <p:cNvPr id="26630" name="Rectangle 11"/>
          <p:cNvSpPr/>
          <p:nvPr/>
        </p:nvSpPr>
        <p:spPr>
          <a:xfrm>
            <a:off x="6076950" y="6240463"/>
            <a:ext cx="376238" cy="388937"/>
          </a:xfrm>
          <a:prstGeom prst="rect">
            <a:avLst/>
          </a:prstGeom>
          <a:solidFill>
            <a:schemeClr val="bg1"/>
          </a:solidFill>
          <a:ln w="9525">
            <a:noFill/>
          </a:ln>
        </p:spPr>
        <p:txBody>
          <a:bodyPr wrap="none" anchor="ctr" anchorCtr="0"/>
          <a:p>
            <a:pPr eaLnBrk="1" hangingPunct="1"/>
            <a:endParaRPr lang="en-US" altLang="en-US" dirty="0">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ln/>
        </p:spPr>
        <p:txBody>
          <a:bodyPr vert="horz" wrap="square" lIns="91440" tIns="45720" rIns="91440" bIns="45720" anchor="ctr" anchorCtr="0"/>
          <a:p>
            <a:r>
              <a:rPr lang="en-US" altLang="en-US" dirty="0">
                <a:solidFill>
                  <a:srgbClr val="009999"/>
                </a:solidFill>
                <a:cs typeface="Arial" panose="020B0604020202020204" pitchFamily="34" charset="0"/>
              </a:rPr>
              <a:t>Motional Emf </a:t>
            </a:r>
            <a:endParaRPr lang="en-US" altLang="en-US" dirty="0">
              <a:solidFill>
                <a:srgbClr val="009999"/>
              </a:solidFill>
              <a:ea typeface="Arial" panose="020B0604020202020204" pitchFamily="34" charset="0"/>
            </a:endParaRPr>
          </a:p>
        </p:txBody>
      </p:sp>
      <p:sp>
        <p:nvSpPr>
          <p:cNvPr id="28675" name="Text Box 4"/>
          <p:cNvSpPr txBox="1"/>
          <p:nvPr/>
        </p:nvSpPr>
        <p:spPr>
          <a:xfrm>
            <a:off x="1600200" y="1524000"/>
            <a:ext cx="6096000" cy="1004888"/>
          </a:xfrm>
          <a:prstGeom prst="rect">
            <a:avLst/>
          </a:prstGeom>
          <a:noFill/>
          <a:ln w="9525">
            <a:noFill/>
          </a:ln>
        </p:spPr>
        <p:txBody>
          <a:bodyPr>
            <a:spAutoFit/>
          </a:bodyPr>
          <a:p>
            <a:pPr>
              <a:spcBef>
                <a:spcPct val="50000"/>
              </a:spcBef>
            </a:pPr>
            <a:r>
              <a:rPr lang="en-US" altLang="en-US" dirty="0">
                <a:solidFill>
                  <a:srgbClr val="000000"/>
                </a:solidFill>
                <a:latin typeface="Arial" panose="020B0604020202020204" pitchFamily="34" charset="0"/>
                <a:cs typeface="Arial" panose="020B0604020202020204" pitchFamily="34" charset="0"/>
              </a:rPr>
              <a:t>The Emf Induced in a Moving Conductor</a:t>
            </a:r>
            <a:endParaRPr lang="en-US" altLang="en-US" dirty="0">
              <a:solidFill>
                <a:srgbClr val="000000"/>
              </a:solidFill>
              <a:latin typeface="Arial" panose="020B0604020202020204" pitchFamily="34" charset="0"/>
              <a:cs typeface="Arial" panose="020B0604020202020204" pitchFamily="34" charset="0"/>
            </a:endParaRPr>
          </a:p>
          <a:p>
            <a:pPr>
              <a:spcBef>
                <a:spcPct val="50000"/>
              </a:spcBef>
            </a:pPr>
            <a:endParaRPr lang="en-US" altLang="en-US" dirty="0">
              <a:latin typeface="Arial" panose="020B0604020202020204" pitchFamily="34" charset="0"/>
            </a:endParaRPr>
          </a:p>
        </p:txBody>
      </p:sp>
      <p:pic>
        <p:nvPicPr>
          <p:cNvPr id="67586" name="Picture 2" descr="ID1146_fg22_004"/>
          <p:cNvPicPr>
            <a:picLocks noChangeAspect="1"/>
          </p:cNvPicPr>
          <p:nvPr/>
        </p:nvPicPr>
        <p:blipFill>
          <a:blip r:embed="rId1"/>
          <a:stretch>
            <a:fillRect/>
          </a:stretch>
        </p:blipFill>
        <p:spPr>
          <a:xfrm>
            <a:off x="2819400" y="2362200"/>
            <a:ext cx="2771775" cy="4067175"/>
          </a:xfrm>
          <a:prstGeom prst="rect">
            <a:avLst/>
          </a:prstGeom>
          <a:noFill/>
          <a:ln w="9525">
            <a:noFill/>
          </a:ln>
        </p:spPr>
      </p:pic>
      <p:pic>
        <p:nvPicPr>
          <p:cNvPr id="67587" name="Picture 3"/>
          <p:cNvPicPr>
            <a:picLocks noChangeAspect="1"/>
          </p:cNvPicPr>
          <p:nvPr/>
        </p:nvPicPr>
        <p:blipFill>
          <a:blip r:embed="rId2"/>
          <a:stretch>
            <a:fillRect/>
          </a:stretch>
        </p:blipFill>
        <p:spPr>
          <a:xfrm>
            <a:off x="3048000" y="2362200"/>
            <a:ext cx="2124075" cy="18764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587"/>
                                        </p:tgtEl>
                                        <p:attrNameLst>
                                          <p:attrName>style.visibility</p:attrName>
                                        </p:attrNameLst>
                                      </p:cBhvr>
                                      <p:to>
                                        <p:strVal val="visible"/>
                                      </p:to>
                                    </p:set>
                                    <p:animEffect transition="in" filter="fade">
                                      <p:cBhvr>
                                        <p:cTn id="7" dur="2000"/>
                                        <p:tgtEl>
                                          <p:spTgt spid="675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7586"/>
                                        </p:tgtEl>
                                        <p:attrNameLst>
                                          <p:attrName>style.visibility</p:attrName>
                                        </p:attrNameLst>
                                      </p:cBhvr>
                                      <p:to>
                                        <p:strVal val="visible"/>
                                      </p:to>
                                    </p:set>
                                    <p:animEffect transition="in" filter="fade">
                                      <p:cBhvr>
                                        <p:cTn id="12" dur="2000"/>
                                        <p:tgtEl>
                                          <p:spTgt spid="67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8" name="Picture 5"/>
          <p:cNvPicPr>
            <a:picLocks noChangeAspect="1"/>
          </p:cNvPicPr>
          <p:nvPr/>
        </p:nvPicPr>
        <p:blipFill>
          <a:blip r:embed="rId1"/>
          <a:srcRect b="3233"/>
          <a:stretch>
            <a:fillRect/>
          </a:stretch>
        </p:blipFill>
        <p:spPr>
          <a:xfrm>
            <a:off x="5356225" y="1882775"/>
            <a:ext cx="3660775" cy="2992438"/>
          </a:xfrm>
          <a:prstGeom prst="rect">
            <a:avLst/>
          </a:prstGeom>
          <a:noFill/>
          <a:ln w="9525">
            <a:noFill/>
          </a:ln>
        </p:spPr>
      </p:pic>
      <p:sp>
        <p:nvSpPr>
          <p:cNvPr id="29699" name="Rectangle 2"/>
          <p:cNvSpPr>
            <a:spLocks noGrp="1"/>
          </p:cNvSpPr>
          <p:nvPr>
            <p:ph type="title"/>
          </p:nvPr>
        </p:nvSpPr>
        <p:spPr>
          <a:xfrm>
            <a:off x="381000" y="0"/>
            <a:ext cx="8305800" cy="1295400"/>
          </a:xfrm>
          <a:ln/>
        </p:spPr>
        <p:txBody>
          <a:bodyPr vert="horz" wrap="square" lIns="91440" tIns="45720" rIns="91440" bIns="45720" anchor="ctr" anchorCtr="0"/>
          <a:p>
            <a:pPr eaLnBrk="1" hangingPunct="1"/>
            <a:r>
              <a:rPr lang="en-US" altLang="en-US" dirty="0"/>
              <a:t>Faraday’s Law of Induction; Lenz’s Law</a:t>
            </a:r>
            <a:endParaRPr lang="en-US" altLang="en-US" dirty="0"/>
          </a:p>
        </p:txBody>
      </p:sp>
      <p:sp>
        <p:nvSpPr>
          <p:cNvPr id="29700" name="Text Box 3"/>
          <p:cNvSpPr txBox="1"/>
          <p:nvPr/>
        </p:nvSpPr>
        <p:spPr>
          <a:xfrm>
            <a:off x="228600" y="1143000"/>
            <a:ext cx="5105400" cy="5546725"/>
          </a:xfrm>
          <a:prstGeom prst="rect">
            <a:avLst/>
          </a:prstGeom>
          <a:noFill/>
          <a:ln w="9525">
            <a:noFill/>
          </a:ln>
        </p:spPr>
        <p:txBody>
          <a:bodyPr>
            <a:spAutoFit/>
          </a:bodyPr>
          <a:p>
            <a:pPr eaLnBrk="1" hangingPunct="1">
              <a:spcBef>
                <a:spcPct val="50000"/>
              </a:spcBef>
            </a:pPr>
            <a:r>
              <a:rPr lang="en-US" altLang="en-US" sz="2400" dirty="0">
                <a:solidFill>
                  <a:schemeClr val="accent2"/>
                </a:solidFill>
                <a:latin typeface="Arial" panose="020B0604020202020204" pitchFamily="34" charset="0"/>
              </a:rPr>
              <a:t>Example 29-5: Pulling a coil from a magnetic field.</a:t>
            </a:r>
            <a:endParaRPr lang="en-US" altLang="en-US" sz="2400" dirty="0">
              <a:solidFill>
                <a:schemeClr val="accent2"/>
              </a:solidFill>
              <a:latin typeface="Arial" panose="020B0604020202020204" pitchFamily="34" charset="0"/>
            </a:endParaRPr>
          </a:p>
          <a:p>
            <a:pPr eaLnBrk="1" hangingPunct="1">
              <a:spcBef>
                <a:spcPct val="50000"/>
              </a:spcBef>
            </a:pPr>
            <a:r>
              <a:rPr lang="en-US" altLang="en-US" sz="2000" dirty="0">
                <a:solidFill>
                  <a:schemeClr val="accent2"/>
                </a:solidFill>
                <a:latin typeface="Arial" panose="020B0604020202020204" pitchFamily="34" charset="0"/>
              </a:rPr>
              <a:t>A 100-loop square coil of wire, with side </a:t>
            </a:r>
            <a:r>
              <a:rPr lang="en-US" altLang="en-US" sz="2000" i="1" dirty="0">
                <a:solidFill>
                  <a:schemeClr val="bg1"/>
                </a:solidFill>
                <a:latin typeface="Times New Roman" panose="02020603050405020304" pitchFamily="18" charset="0"/>
              </a:rPr>
              <a:t>l</a:t>
            </a:r>
            <a:r>
              <a:rPr lang="en-US" altLang="en-US" sz="2000" dirty="0">
                <a:solidFill>
                  <a:schemeClr val="accent2"/>
                </a:solidFill>
                <a:latin typeface="Arial" panose="020B0604020202020204" pitchFamily="34" charset="0"/>
              </a:rPr>
              <a:t> = 5.00 cm and total resistance 100 </a:t>
            </a:r>
            <a:r>
              <a:rPr lang="el-GR" altLang="en-US" sz="2000" dirty="0">
                <a:solidFill>
                  <a:schemeClr val="accent2"/>
                </a:solidFill>
                <a:latin typeface="Arial" panose="020B0604020202020204" pitchFamily="34" charset="0"/>
                <a:cs typeface="Arial" panose="020B0604020202020204" pitchFamily="34" charset="0"/>
              </a:rPr>
              <a:t>Ω</a:t>
            </a:r>
            <a:r>
              <a:rPr lang="en-US" altLang="en-US" sz="2000" dirty="0">
                <a:solidFill>
                  <a:schemeClr val="accent2"/>
                </a:solidFill>
                <a:latin typeface="Arial" panose="020B0604020202020204" pitchFamily="34" charset="0"/>
              </a:rPr>
              <a:t>, is positioned perpendicular to a uniform 0.600-T magnetic field. It is quickly pulled from the field at constant speed (moving perpendicular to </a:t>
            </a:r>
            <a:r>
              <a:rPr lang="en-US" altLang="en-US" sz="2000" dirty="0">
                <a:solidFill>
                  <a:schemeClr val="bg1"/>
                </a:solidFill>
                <a:latin typeface="Times New Roman" panose="02020603050405020304" pitchFamily="18" charset="0"/>
              </a:rPr>
              <a:t>B</a:t>
            </a:r>
            <a:r>
              <a:rPr lang="en-US" altLang="en-US" sz="2000" dirty="0">
                <a:solidFill>
                  <a:schemeClr val="accent2"/>
                </a:solidFill>
                <a:latin typeface="Arial" panose="020B0604020202020204" pitchFamily="34" charset="0"/>
              </a:rPr>
              <a:t>) to a region where </a:t>
            </a:r>
            <a:r>
              <a:rPr lang="en-US" altLang="en-US" sz="2000" i="1" dirty="0">
                <a:solidFill>
                  <a:schemeClr val="accent2"/>
                </a:solidFill>
                <a:latin typeface="Times New Roman" panose="02020603050405020304" pitchFamily="18" charset="0"/>
              </a:rPr>
              <a:t>B</a:t>
            </a:r>
            <a:r>
              <a:rPr lang="en-US" altLang="en-US" sz="2000" dirty="0">
                <a:solidFill>
                  <a:schemeClr val="accent2"/>
                </a:solidFill>
                <a:latin typeface="Arial" panose="020B0604020202020204" pitchFamily="34" charset="0"/>
              </a:rPr>
              <a:t> drops abruptly to zero. At </a:t>
            </a:r>
            <a:r>
              <a:rPr lang="en-US" altLang="en-US" sz="2000" i="1" dirty="0">
                <a:solidFill>
                  <a:schemeClr val="accent2"/>
                </a:solidFill>
                <a:latin typeface="Times New Roman" panose="02020603050405020304" pitchFamily="18" charset="0"/>
              </a:rPr>
              <a:t>t</a:t>
            </a:r>
            <a:r>
              <a:rPr lang="en-US" altLang="en-US" sz="2000" dirty="0">
                <a:solidFill>
                  <a:schemeClr val="accent2"/>
                </a:solidFill>
                <a:latin typeface="Arial" panose="020B0604020202020204" pitchFamily="34" charset="0"/>
              </a:rPr>
              <a:t> = 0, the right edge of the coil is at the edge of the field. It takes 0.100 s for the whole coil to reach the field-free region. Find (a) the rate of change in flux through the coil, and (b) the emf and current induced. (c) How much energy is dissipated in the coil? (d) What was the average force required (</a:t>
            </a:r>
            <a:r>
              <a:rPr lang="en-US" altLang="en-US" sz="2000" i="1" dirty="0">
                <a:solidFill>
                  <a:schemeClr val="accent2"/>
                </a:solidFill>
                <a:latin typeface="Times New Roman" panose="02020603050405020304" pitchFamily="18" charset="0"/>
              </a:rPr>
              <a:t>F</a:t>
            </a:r>
            <a:r>
              <a:rPr lang="en-US" altLang="en-US" sz="2000" baseline="-25000" dirty="0">
                <a:solidFill>
                  <a:schemeClr val="accent2"/>
                </a:solidFill>
                <a:latin typeface="Times New Roman" panose="02020603050405020304" pitchFamily="18" charset="0"/>
              </a:rPr>
              <a:t>ext</a:t>
            </a:r>
            <a:r>
              <a:rPr lang="en-US" altLang="en-US" sz="2000" dirty="0">
                <a:solidFill>
                  <a:schemeClr val="accent2"/>
                </a:solidFill>
                <a:latin typeface="Arial" panose="020B0604020202020204" pitchFamily="34" charset="0"/>
              </a:rPr>
              <a:t>)?</a:t>
            </a:r>
            <a:endParaRPr lang="en-US" altLang="en-US" sz="2000" dirty="0">
              <a:solidFill>
                <a:schemeClr val="accent2"/>
              </a:solidFill>
              <a:latin typeface="Arial" panose="020B0604020202020204" pitchFamily="34" charset="0"/>
            </a:endParaRPr>
          </a:p>
        </p:txBody>
      </p:sp>
      <p:graphicFrame>
        <p:nvGraphicFramePr>
          <p:cNvPr id="29701" name="Object 8"/>
          <p:cNvGraphicFramePr>
            <a:graphicFrameLocks noChangeAspect="1"/>
          </p:cNvGraphicFramePr>
          <p:nvPr/>
        </p:nvGraphicFramePr>
        <p:xfrm>
          <a:off x="3390900" y="3571875"/>
          <a:ext cx="258763" cy="319088"/>
        </p:xfrm>
        <a:graphic>
          <a:graphicData uri="http://schemas.openxmlformats.org/presentationml/2006/ole">
            <mc:AlternateContent xmlns:mc="http://schemas.openxmlformats.org/markup-compatibility/2006">
              <mc:Choice xmlns:v="urn:schemas-microsoft-com:vml" Requires="v">
                <p:oleObj spid="_x0000_s3086" name="" r:id="rId2" imgW="215900" imgH="266065" progId="Equation.DSMT4">
                  <p:embed/>
                </p:oleObj>
              </mc:Choice>
              <mc:Fallback>
                <p:oleObj name="" r:id="rId2" imgW="215900" imgH="266065" progId="Equation.DSMT4">
                  <p:embed/>
                  <p:pic>
                    <p:nvPicPr>
                      <p:cNvPr id="0" name="Picture 3085"/>
                      <p:cNvPicPr/>
                      <p:nvPr/>
                    </p:nvPicPr>
                    <p:blipFill>
                      <a:blip r:embed="rId3"/>
                      <a:stretch>
                        <a:fillRect/>
                      </a:stretch>
                    </p:blipFill>
                    <p:spPr>
                      <a:xfrm>
                        <a:off x="3390900" y="3571875"/>
                        <a:ext cx="258763" cy="319088"/>
                      </a:xfrm>
                      <a:prstGeom prst="rect">
                        <a:avLst/>
                      </a:prstGeom>
                      <a:noFill/>
                      <a:ln w="38100">
                        <a:noFill/>
                        <a:miter/>
                      </a:ln>
                    </p:spPr>
                  </p:pic>
                </p:oleObj>
              </mc:Fallback>
            </mc:AlternateContent>
          </a:graphicData>
        </a:graphic>
      </p:graphicFrame>
      <p:graphicFrame>
        <p:nvGraphicFramePr>
          <p:cNvPr id="29702" name="Object 11"/>
          <p:cNvGraphicFramePr>
            <a:graphicFrameLocks noChangeAspect="1"/>
          </p:cNvGraphicFramePr>
          <p:nvPr/>
        </p:nvGraphicFramePr>
        <p:xfrm>
          <a:off x="242888" y="2322513"/>
          <a:ext cx="234950" cy="361950"/>
        </p:xfrm>
        <a:graphic>
          <a:graphicData uri="http://schemas.openxmlformats.org/presentationml/2006/ole">
            <mc:AlternateContent xmlns:mc="http://schemas.openxmlformats.org/markup-compatibility/2006">
              <mc:Choice xmlns:v="urn:schemas-microsoft-com:vml" Requires="v">
                <p:oleObj spid="_x0000_s3087" name="" r:id="rId4" imgW="165100" imgH="254000" progId="Equation.DSMT4">
                  <p:embed/>
                </p:oleObj>
              </mc:Choice>
              <mc:Fallback>
                <p:oleObj name="" r:id="rId4" imgW="165100" imgH="254000" progId="Equation.DSMT4">
                  <p:embed/>
                  <p:pic>
                    <p:nvPicPr>
                      <p:cNvPr id="0" name="Picture 3086"/>
                      <p:cNvPicPr/>
                      <p:nvPr/>
                    </p:nvPicPr>
                    <p:blipFill>
                      <a:blip r:embed="rId5"/>
                      <a:stretch>
                        <a:fillRect/>
                      </a:stretch>
                    </p:blipFill>
                    <p:spPr>
                      <a:xfrm>
                        <a:off x="242888" y="2322513"/>
                        <a:ext cx="234950" cy="361950"/>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746" name="Picture 7"/>
          <p:cNvPicPr>
            <a:picLocks noChangeAspect="1"/>
          </p:cNvPicPr>
          <p:nvPr/>
        </p:nvPicPr>
        <p:blipFill>
          <a:blip r:embed="rId1"/>
          <a:srcRect b="2602"/>
          <a:stretch>
            <a:fillRect/>
          </a:stretch>
        </p:blipFill>
        <p:spPr>
          <a:xfrm>
            <a:off x="1752600" y="2206625"/>
            <a:ext cx="5638800" cy="4456113"/>
          </a:xfrm>
          <a:prstGeom prst="rect">
            <a:avLst/>
          </a:prstGeom>
          <a:noFill/>
          <a:ln w="9525">
            <a:noFill/>
          </a:ln>
        </p:spPr>
      </p:pic>
      <p:sp>
        <p:nvSpPr>
          <p:cNvPr id="31747" name="Text Box 3"/>
          <p:cNvSpPr txBox="1"/>
          <p:nvPr/>
        </p:nvSpPr>
        <p:spPr>
          <a:xfrm>
            <a:off x="609600" y="1143000"/>
            <a:ext cx="8229600" cy="946150"/>
          </a:xfrm>
          <a:prstGeom prst="rect">
            <a:avLst/>
          </a:prstGeom>
          <a:noFill/>
          <a:ln w="9525">
            <a:noFill/>
          </a:ln>
        </p:spPr>
        <p:txBody>
          <a:bodyPr>
            <a:spAutoFit/>
          </a:bodyPr>
          <a:p>
            <a:pPr eaLnBrk="1" hangingPunct="1">
              <a:spcBef>
                <a:spcPct val="50000"/>
              </a:spcBef>
            </a:pPr>
            <a:r>
              <a:rPr lang="en-US" altLang="en-US" dirty="0">
                <a:solidFill>
                  <a:schemeClr val="accent2"/>
                </a:solidFill>
                <a:latin typeface="Arial" panose="020B0604020202020204" pitchFamily="34" charset="0"/>
              </a:rPr>
              <a:t>This image shows another way the magnetic flux can change:</a:t>
            </a:r>
            <a:endParaRPr lang="en-US" altLang="en-US" dirty="0">
              <a:solidFill>
                <a:schemeClr val="accent2"/>
              </a:solidFill>
              <a:latin typeface="Arial" panose="020B0604020202020204" pitchFamily="34" charset="0"/>
            </a:endParaRPr>
          </a:p>
        </p:txBody>
      </p:sp>
      <p:sp>
        <p:nvSpPr>
          <p:cNvPr id="31748" name="Rectangle 5"/>
          <p:cNvSpPr>
            <a:spLocks noGrp="1"/>
          </p:cNvSpPr>
          <p:nvPr>
            <p:ph type="title"/>
          </p:nvPr>
        </p:nvSpPr>
        <p:spPr>
          <a:xfrm>
            <a:off x="304800" y="0"/>
            <a:ext cx="8534400" cy="1219200"/>
          </a:xfrm>
          <a:ln/>
        </p:spPr>
        <p:txBody>
          <a:bodyPr vert="horz" wrap="square" lIns="91440" tIns="45720" rIns="91440" bIns="45720" anchor="ctr" anchorCtr="0"/>
          <a:p>
            <a:pPr eaLnBrk="1" hangingPunct="1"/>
            <a:r>
              <a:rPr lang="en-US" altLang="en-US" dirty="0"/>
              <a:t>EMF Induced in a Moving Conductor</a:t>
            </a:r>
            <a:endParaRPr lang="en-US" altLang="en-US" dirty="0"/>
          </a:p>
        </p:txBody>
      </p:sp>
      <p:sp>
        <p:nvSpPr>
          <p:cNvPr id="31749" name="Rectangle 8"/>
          <p:cNvSpPr/>
          <p:nvPr/>
        </p:nvSpPr>
        <p:spPr>
          <a:xfrm>
            <a:off x="4271963" y="6200775"/>
            <a:ext cx="600075" cy="487363"/>
          </a:xfrm>
          <a:prstGeom prst="rect">
            <a:avLst/>
          </a:prstGeom>
          <a:solidFill>
            <a:schemeClr val="bg1"/>
          </a:solidFill>
          <a:ln w="9525">
            <a:noFill/>
          </a:ln>
        </p:spPr>
        <p:txBody>
          <a:bodyPr wrap="none" anchor="ctr" anchorCtr="0"/>
          <a:p>
            <a:pPr eaLnBrk="1" hangingPunct="1"/>
            <a:endParaRPr lang="en-US" altLang="en-US"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ext Box 4"/>
          <p:cNvSpPr txBox="1"/>
          <p:nvPr/>
        </p:nvSpPr>
        <p:spPr>
          <a:xfrm>
            <a:off x="381000" y="1143000"/>
            <a:ext cx="8382000" cy="1373188"/>
          </a:xfrm>
          <a:prstGeom prst="rect">
            <a:avLst/>
          </a:prstGeom>
          <a:noFill/>
          <a:ln w="9525">
            <a:noFill/>
          </a:ln>
        </p:spPr>
        <p:txBody>
          <a:bodyPr>
            <a:spAutoFit/>
          </a:bodyPr>
          <a:p>
            <a:pPr eaLnBrk="1" hangingPunct="1">
              <a:spcBef>
                <a:spcPct val="50000"/>
              </a:spcBef>
            </a:pPr>
            <a:r>
              <a:rPr lang="en-US" altLang="en-US" dirty="0">
                <a:solidFill>
                  <a:schemeClr val="accent2"/>
                </a:solidFill>
                <a:latin typeface="Arial" panose="020B0604020202020204" pitchFamily="34" charset="0"/>
              </a:rPr>
              <a:t>The induced current is in a direction that tends to slow the moving bar – it will take an external force to keep it moving.</a:t>
            </a:r>
            <a:endParaRPr lang="en-US" altLang="en-US" dirty="0">
              <a:solidFill>
                <a:schemeClr val="accent2"/>
              </a:solidFill>
              <a:latin typeface="Arial" panose="020B0604020202020204" pitchFamily="34" charset="0"/>
            </a:endParaRPr>
          </a:p>
        </p:txBody>
      </p:sp>
      <p:sp>
        <p:nvSpPr>
          <p:cNvPr id="33795" name="Rectangle 6"/>
          <p:cNvSpPr>
            <a:spLocks noGrp="1"/>
          </p:cNvSpPr>
          <p:nvPr>
            <p:ph type="title"/>
          </p:nvPr>
        </p:nvSpPr>
        <p:spPr>
          <a:xfrm>
            <a:off x="419100" y="0"/>
            <a:ext cx="8305800" cy="1219200"/>
          </a:xfrm>
          <a:ln/>
        </p:spPr>
        <p:txBody>
          <a:bodyPr vert="horz" wrap="square" lIns="91440" tIns="45720" rIns="91440" bIns="45720" anchor="ctr" anchorCtr="0"/>
          <a:p>
            <a:pPr eaLnBrk="1" hangingPunct="1"/>
            <a:r>
              <a:rPr lang="en-US" altLang="en-US" dirty="0"/>
              <a:t>EMF Induced in a Moving Conductor</a:t>
            </a:r>
            <a:endParaRPr lang="en-US" altLang="en-US" dirty="0"/>
          </a:p>
        </p:txBody>
      </p:sp>
      <p:pic>
        <p:nvPicPr>
          <p:cNvPr id="33796" name="Picture 8"/>
          <p:cNvPicPr>
            <a:picLocks noChangeAspect="1"/>
          </p:cNvPicPr>
          <p:nvPr/>
        </p:nvPicPr>
        <p:blipFill>
          <a:blip r:embed="rId1"/>
          <a:srcRect b="12613"/>
          <a:stretch>
            <a:fillRect/>
          </a:stretch>
        </p:blipFill>
        <p:spPr>
          <a:xfrm>
            <a:off x="1673225" y="2641600"/>
            <a:ext cx="5794375" cy="3684588"/>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3"/>
          <p:cNvSpPr txBox="1"/>
          <p:nvPr/>
        </p:nvSpPr>
        <p:spPr>
          <a:xfrm>
            <a:off x="495300" y="1219200"/>
            <a:ext cx="8153400" cy="519113"/>
          </a:xfrm>
          <a:prstGeom prst="rect">
            <a:avLst/>
          </a:prstGeom>
          <a:noFill/>
          <a:ln w="9525">
            <a:noFill/>
          </a:ln>
        </p:spPr>
        <p:txBody>
          <a:bodyPr>
            <a:spAutoFit/>
          </a:bodyPr>
          <a:p>
            <a:pPr eaLnBrk="1" hangingPunct="1">
              <a:spcBef>
                <a:spcPct val="50000"/>
              </a:spcBef>
            </a:pPr>
            <a:r>
              <a:rPr lang="en-US" altLang="en-US" dirty="0">
                <a:solidFill>
                  <a:schemeClr val="accent2"/>
                </a:solidFill>
                <a:latin typeface="Arial" panose="020B0604020202020204" pitchFamily="34" charset="0"/>
              </a:rPr>
              <a:t>The induced emf has magnitude</a:t>
            </a:r>
            <a:endParaRPr lang="en-US" altLang="en-US" dirty="0">
              <a:solidFill>
                <a:schemeClr val="accent2"/>
              </a:solidFill>
              <a:latin typeface="Arial" panose="020B0604020202020204" pitchFamily="34" charset="0"/>
            </a:endParaRPr>
          </a:p>
        </p:txBody>
      </p:sp>
      <p:sp>
        <p:nvSpPr>
          <p:cNvPr id="35843" name="Rectangle 8"/>
          <p:cNvSpPr>
            <a:spLocks noGrp="1"/>
          </p:cNvSpPr>
          <p:nvPr>
            <p:ph type="title"/>
          </p:nvPr>
        </p:nvSpPr>
        <p:spPr>
          <a:xfrm>
            <a:off x="457200" y="0"/>
            <a:ext cx="8229600" cy="1295400"/>
          </a:xfrm>
          <a:ln/>
        </p:spPr>
        <p:txBody>
          <a:bodyPr vert="horz" wrap="square" lIns="91440" tIns="45720" rIns="91440" bIns="45720" anchor="ctr" anchorCtr="0"/>
          <a:p>
            <a:pPr eaLnBrk="1" hangingPunct="1"/>
            <a:r>
              <a:rPr lang="en-US" altLang="en-US" dirty="0"/>
              <a:t>EMF Induced in a Moving Conductor</a:t>
            </a:r>
            <a:endParaRPr lang="en-US" altLang="en-US" dirty="0"/>
          </a:p>
        </p:txBody>
      </p:sp>
      <p:sp>
        <p:nvSpPr>
          <p:cNvPr id="35844" name="Text Box 10"/>
          <p:cNvSpPr txBox="1"/>
          <p:nvPr/>
        </p:nvSpPr>
        <p:spPr>
          <a:xfrm>
            <a:off x="762000" y="3657600"/>
            <a:ext cx="7315200" cy="1373188"/>
          </a:xfrm>
          <a:prstGeom prst="rect">
            <a:avLst/>
          </a:prstGeom>
          <a:noFill/>
          <a:ln w="9525">
            <a:noFill/>
          </a:ln>
        </p:spPr>
        <p:txBody>
          <a:bodyPr>
            <a:spAutoFit/>
          </a:bodyPr>
          <a:p>
            <a:pPr eaLnBrk="1" hangingPunct="1">
              <a:spcBef>
                <a:spcPct val="50000"/>
              </a:spcBef>
            </a:pPr>
            <a:r>
              <a:rPr lang="en-US" altLang="en-US" dirty="0">
                <a:solidFill>
                  <a:schemeClr val="accent2"/>
                </a:solidFill>
                <a:latin typeface="Arial" panose="020B0604020202020204" pitchFamily="34" charset="0"/>
              </a:rPr>
              <a:t>This equation is valid as long as </a:t>
            </a:r>
            <a:r>
              <a:rPr lang="en-US" altLang="en-US" i="1" dirty="0">
                <a:solidFill>
                  <a:schemeClr val="accent2"/>
                </a:solidFill>
                <a:latin typeface="Times New Roman" panose="02020603050405020304" pitchFamily="18" charset="0"/>
              </a:rPr>
              <a:t>B</a:t>
            </a:r>
            <a:r>
              <a:rPr lang="en-US" altLang="en-US" dirty="0">
                <a:solidFill>
                  <a:schemeClr val="accent2"/>
                </a:solidFill>
                <a:latin typeface="Arial" panose="020B0604020202020204" pitchFamily="34" charset="0"/>
              </a:rPr>
              <a:t>, </a:t>
            </a:r>
            <a:r>
              <a:rPr lang="en-US" altLang="en-US" i="1" dirty="0">
                <a:solidFill>
                  <a:schemeClr val="bg1"/>
                </a:solidFill>
                <a:latin typeface="Times New Roman" panose="02020603050405020304" pitchFamily="18" charset="0"/>
              </a:rPr>
              <a:t>l</a:t>
            </a:r>
            <a:r>
              <a:rPr lang="en-US" altLang="en-US" dirty="0">
                <a:solidFill>
                  <a:schemeClr val="accent2"/>
                </a:solidFill>
                <a:latin typeface="Arial" panose="020B0604020202020204" pitchFamily="34" charset="0"/>
              </a:rPr>
              <a:t>, and </a:t>
            </a:r>
            <a:r>
              <a:rPr lang="en-US" altLang="en-US" i="1" dirty="0">
                <a:solidFill>
                  <a:schemeClr val="accent2"/>
                </a:solidFill>
                <a:latin typeface="Times New Roman" panose="02020603050405020304" pitchFamily="18" charset="0"/>
              </a:rPr>
              <a:t>v</a:t>
            </a:r>
            <a:r>
              <a:rPr lang="en-US" altLang="en-US" dirty="0">
                <a:solidFill>
                  <a:schemeClr val="accent2"/>
                </a:solidFill>
                <a:latin typeface="Arial" panose="020B0604020202020204" pitchFamily="34" charset="0"/>
              </a:rPr>
              <a:t> are mutually perpendicular (if not, it is true for their perpendicular components).</a:t>
            </a:r>
            <a:endParaRPr lang="en-US" altLang="en-US" dirty="0">
              <a:solidFill>
                <a:schemeClr val="accent2"/>
              </a:solidFill>
              <a:latin typeface="Arial" panose="020B0604020202020204" pitchFamily="34" charset="0"/>
            </a:endParaRPr>
          </a:p>
        </p:txBody>
      </p:sp>
      <p:graphicFrame>
        <p:nvGraphicFramePr>
          <p:cNvPr id="35845" name="Object 13"/>
          <p:cNvGraphicFramePr>
            <a:graphicFrameLocks noChangeAspect="1"/>
          </p:cNvGraphicFramePr>
          <p:nvPr/>
        </p:nvGraphicFramePr>
        <p:xfrm>
          <a:off x="6789738" y="3763963"/>
          <a:ext cx="203200" cy="317500"/>
        </p:xfrm>
        <a:graphic>
          <a:graphicData uri="http://schemas.openxmlformats.org/presentationml/2006/ole">
            <mc:AlternateContent xmlns:mc="http://schemas.openxmlformats.org/markup-compatibility/2006">
              <mc:Choice xmlns:v="urn:schemas-microsoft-com:vml" Requires="v">
                <p:oleObj spid="_x0000_s3088" name="" r:id="rId1" imgW="203200" imgH="317500" progId="Equation.DSMT4">
                  <p:embed/>
                </p:oleObj>
              </mc:Choice>
              <mc:Fallback>
                <p:oleObj name="" r:id="rId1" imgW="203200" imgH="317500" progId="Equation.DSMT4">
                  <p:embed/>
                  <p:pic>
                    <p:nvPicPr>
                      <p:cNvPr id="0" name="Picture 3087"/>
                      <p:cNvPicPr/>
                      <p:nvPr/>
                    </p:nvPicPr>
                    <p:blipFill>
                      <a:blip r:embed="rId2"/>
                      <a:stretch>
                        <a:fillRect/>
                      </a:stretch>
                    </p:blipFill>
                    <p:spPr>
                      <a:xfrm>
                        <a:off x="6789738" y="3763963"/>
                        <a:ext cx="203200" cy="317500"/>
                      </a:xfrm>
                      <a:prstGeom prst="rect">
                        <a:avLst/>
                      </a:prstGeom>
                      <a:noFill/>
                      <a:ln w="38100">
                        <a:noFill/>
                        <a:miter/>
                      </a:ln>
                    </p:spPr>
                  </p:pic>
                </p:oleObj>
              </mc:Fallback>
            </mc:AlternateContent>
          </a:graphicData>
        </a:graphic>
      </p:graphicFrame>
      <p:pic>
        <p:nvPicPr>
          <p:cNvPr id="35846" name="Picture 14"/>
          <p:cNvPicPr>
            <a:picLocks noChangeAspect="1"/>
          </p:cNvPicPr>
          <p:nvPr/>
        </p:nvPicPr>
        <p:blipFill>
          <a:blip r:embed="rId3"/>
          <a:srcRect r="38777"/>
          <a:stretch>
            <a:fillRect/>
          </a:stretch>
        </p:blipFill>
        <p:spPr>
          <a:xfrm>
            <a:off x="1304925" y="2097088"/>
            <a:ext cx="6448425" cy="100012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890" name="Picture 7"/>
          <p:cNvPicPr>
            <a:picLocks noChangeAspect="1"/>
          </p:cNvPicPr>
          <p:nvPr/>
        </p:nvPicPr>
        <p:blipFill>
          <a:blip r:embed="rId1"/>
          <a:srcRect b="6383"/>
          <a:stretch>
            <a:fillRect/>
          </a:stretch>
        </p:blipFill>
        <p:spPr>
          <a:xfrm>
            <a:off x="2362200" y="3965575"/>
            <a:ext cx="4419600" cy="2654300"/>
          </a:xfrm>
          <a:prstGeom prst="rect">
            <a:avLst/>
          </a:prstGeom>
          <a:noFill/>
          <a:ln w="9525">
            <a:noFill/>
          </a:ln>
        </p:spPr>
      </p:pic>
      <p:sp>
        <p:nvSpPr>
          <p:cNvPr id="37891" name="Rectangle 4"/>
          <p:cNvSpPr>
            <a:spLocks noGrp="1"/>
          </p:cNvSpPr>
          <p:nvPr>
            <p:ph type="title"/>
          </p:nvPr>
        </p:nvSpPr>
        <p:spPr>
          <a:xfrm>
            <a:off x="457200" y="0"/>
            <a:ext cx="8229600" cy="1295400"/>
          </a:xfrm>
          <a:ln/>
        </p:spPr>
        <p:txBody>
          <a:bodyPr vert="horz" wrap="square" lIns="91440" tIns="45720" rIns="91440" bIns="45720" anchor="ctr" anchorCtr="0"/>
          <a:p>
            <a:pPr eaLnBrk="1" hangingPunct="1"/>
            <a:r>
              <a:rPr lang="en-US" altLang="en-US" dirty="0"/>
              <a:t>EMF Induced in a Moving Conductor</a:t>
            </a:r>
            <a:endParaRPr lang="en-US" altLang="en-US" dirty="0"/>
          </a:p>
        </p:txBody>
      </p:sp>
      <p:sp>
        <p:nvSpPr>
          <p:cNvPr id="37892" name="Text Box 5"/>
          <p:cNvSpPr txBox="1"/>
          <p:nvPr/>
        </p:nvSpPr>
        <p:spPr>
          <a:xfrm>
            <a:off x="419100" y="1219200"/>
            <a:ext cx="8305800" cy="2671763"/>
          </a:xfrm>
          <a:prstGeom prst="rect">
            <a:avLst/>
          </a:prstGeom>
          <a:noFill/>
          <a:ln w="9525">
            <a:noFill/>
          </a:ln>
        </p:spPr>
        <p:txBody>
          <a:bodyPr>
            <a:spAutoFit/>
          </a:bodyPr>
          <a:p>
            <a:pPr eaLnBrk="1" hangingPunct="1">
              <a:spcBef>
                <a:spcPct val="50000"/>
              </a:spcBef>
            </a:pPr>
            <a:r>
              <a:rPr lang="en-US" altLang="en-US" sz="2600" dirty="0">
                <a:solidFill>
                  <a:schemeClr val="accent2"/>
                </a:solidFill>
                <a:latin typeface="Arial" panose="020B0604020202020204" pitchFamily="34" charset="0"/>
              </a:rPr>
              <a:t>Example : Does a moving airplane develop a large emf?</a:t>
            </a:r>
            <a:endParaRPr lang="en-US" altLang="en-US" sz="2600" dirty="0">
              <a:solidFill>
                <a:schemeClr val="accent2"/>
              </a:solidFill>
              <a:latin typeface="Arial" panose="020B0604020202020204" pitchFamily="34" charset="0"/>
            </a:endParaRPr>
          </a:p>
          <a:p>
            <a:pPr eaLnBrk="1" hangingPunct="1">
              <a:spcBef>
                <a:spcPct val="50000"/>
              </a:spcBef>
            </a:pPr>
            <a:r>
              <a:rPr lang="en-US" altLang="en-US" sz="2600" dirty="0">
                <a:solidFill>
                  <a:schemeClr val="accent2"/>
                </a:solidFill>
                <a:latin typeface="Arial" panose="020B0604020202020204" pitchFamily="34" charset="0"/>
              </a:rPr>
              <a:t>An airplane travels 1000 km/h in a region where the Earth’s magnetic field is about 5 x 10</a:t>
            </a:r>
            <a:r>
              <a:rPr lang="en-US" altLang="en-US" sz="2600" baseline="30000" dirty="0">
                <a:solidFill>
                  <a:schemeClr val="accent2"/>
                </a:solidFill>
                <a:latin typeface="Arial" panose="020B0604020202020204" pitchFamily="34" charset="0"/>
              </a:rPr>
              <a:t>-5</a:t>
            </a:r>
            <a:r>
              <a:rPr lang="en-US" altLang="en-US" sz="2600" dirty="0">
                <a:solidFill>
                  <a:schemeClr val="accent2"/>
                </a:solidFill>
                <a:latin typeface="Arial" panose="020B0604020202020204" pitchFamily="34" charset="0"/>
              </a:rPr>
              <a:t> T and is nearly vertical. What is the potential difference induced between the wing tips that are 70 m apart?</a:t>
            </a:r>
            <a:endParaRPr lang="en-US" altLang="en-US" sz="2600" dirty="0">
              <a:solidFill>
                <a:schemeClr val="accent2"/>
              </a:solidFill>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Slide Number Placeholder 3"/>
          <p:cNvSpPr txBox="1">
            <a:spLocks noGrp="1"/>
          </p:cNvSpPr>
          <p:nvPr>
            <p:ph type="sldNum" sz="quarter" idx="4294967295"/>
          </p:nvPr>
        </p:nvSpPr>
        <p:spPr>
          <a:xfrm>
            <a:off x="6553200" y="6245225"/>
            <a:ext cx="21336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fld>
            <a:endParaRPr lang="en-US" altLang="en-US" sz="1400" dirty="0"/>
          </a:p>
        </p:txBody>
      </p:sp>
      <p:grpSp>
        <p:nvGrpSpPr>
          <p:cNvPr id="39939" name="Group 2"/>
          <p:cNvGrpSpPr/>
          <p:nvPr/>
        </p:nvGrpSpPr>
        <p:grpSpPr>
          <a:xfrm>
            <a:off x="5930900" y="2209800"/>
            <a:ext cx="2832100" cy="2362200"/>
            <a:chOff x="3736" y="1008"/>
            <a:chExt cx="1784" cy="1488"/>
          </a:xfrm>
        </p:grpSpPr>
        <p:sp>
          <p:nvSpPr>
            <p:cNvPr id="39941" name="Rectangle 3"/>
            <p:cNvSpPr/>
            <p:nvPr/>
          </p:nvSpPr>
          <p:spPr>
            <a:xfrm>
              <a:off x="3736" y="148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42" name="Rectangle 4"/>
            <p:cNvSpPr/>
            <p:nvPr/>
          </p:nvSpPr>
          <p:spPr>
            <a:xfrm>
              <a:off x="3736" y="172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43" name="Rectangle 5"/>
            <p:cNvSpPr/>
            <p:nvPr/>
          </p:nvSpPr>
          <p:spPr>
            <a:xfrm>
              <a:off x="3736" y="124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44" name="Rectangle 6"/>
            <p:cNvSpPr/>
            <p:nvPr/>
          </p:nvSpPr>
          <p:spPr>
            <a:xfrm>
              <a:off x="3736" y="196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45" name="Rectangle 7"/>
            <p:cNvSpPr/>
            <p:nvPr/>
          </p:nvSpPr>
          <p:spPr>
            <a:xfrm>
              <a:off x="3736" y="22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46" name="Rectangle 8"/>
            <p:cNvSpPr/>
            <p:nvPr/>
          </p:nvSpPr>
          <p:spPr>
            <a:xfrm>
              <a:off x="3976" y="148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47" name="Rectangle 9"/>
            <p:cNvSpPr/>
            <p:nvPr/>
          </p:nvSpPr>
          <p:spPr>
            <a:xfrm>
              <a:off x="3976" y="172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48" name="Rectangle 10"/>
            <p:cNvSpPr/>
            <p:nvPr/>
          </p:nvSpPr>
          <p:spPr>
            <a:xfrm>
              <a:off x="3976" y="124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49" name="Rectangle 11"/>
            <p:cNvSpPr/>
            <p:nvPr/>
          </p:nvSpPr>
          <p:spPr>
            <a:xfrm>
              <a:off x="3976" y="196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50" name="Rectangle 12"/>
            <p:cNvSpPr/>
            <p:nvPr/>
          </p:nvSpPr>
          <p:spPr>
            <a:xfrm>
              <a:off x="3976" y="22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51" name="Rectangle 13"/>
            <p:cNvSpPr/>
            <p:nvPr/>
          </p:nvSpPr>
          <p:spPr>
            <a:xfrm>
              <a:off x="4216" y="148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52" name="Rectangle 14"/>
            <p:cNvSpPr/>
            <p:nvPr/>
          </p:nvSpPr>
          <p:spPr>
            <a:xfrm>
              <a:off x="4216" y="172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53" name="Rectangle 15"/>
            <p:cNvSpPr/>
            <p:nvPr/>
          </p:nvSpPr>
          <p:spPr>
            <a:xfrm>
              <a:off x="4216" y="124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54" name="Rectangle 16"/>
            <p:cNvSpPr/>
            <p:nvPr/>
          </p:nvSpPr>
          <p:spPr>
            <a:xfrm>
              <a:off x="4216" y="196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55" name="Rectangle 17"/>
            <p:cNvSpPr/>
            <p:nvPr/>
          </p:nvSpPr>
          <p:spPr>
            <a:xfrm>
              <a:off x="4216" y="22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56" name="Rectangle 18"/>
            <p:cNvSpPr/>
            <p:nvPr/>
          </p:nvSpPr>
          <p:spPr>
            <a:xfrm>
              <a:off x="4456" y="148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57" name="Rectangle 19"/>
            <p:cNvSpPr/>
            <p:nvPr/>
          </p:nvSpPr>
          <p:spPr>
            <a:xfrm>
              <a:off x="4456" y="172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58" name="Rectangle 20"/>
            <p:cNvSpPr/>
            <p:nvPr/>
          </p:nvSpPr>
          <p:spPr>
            <a:xfrm>
              <a:off x="4456" y="124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59" name="Rectangle 21"/>
            <p:cNvSpPr/>
            <p:nvPr/>
          </p:nvSpPr>
          <p:spPr>
            <a:xfrm>
              <a:off x="4456" y="196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60" name="Rectangle 22"/>
            <p:cNvSpPr/>
            <p:nvPr/>
          </p:nvSpPr>
          <p:spPr>
            <a:xfrm>
              <a:off x="4456" y="22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61" name="Rectangle 23"/>
            <p:cNvSpPr/>
            <p:nvPr/>
          </p:nvSpPr>
          <p:spPr>
            <a:xfrm>
              <a:off x="4696" y="148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62" name="Rectangle 24"/>
            <p:cNvSpPr/>
            <p:nvPr/>
          </p:nvSpPr>
          <p:spPr>
            <a:xfrm>
              <a:off x="4696" y="172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63" name="Rectangle 25"/>
            <p:cNvSpPr/>
            <p:nvPr/>
          </p:nvSpPr>
          <p:spPr>
            <a:xfrm>
              <a:off x="4696" y="124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64" name="Rectangle 26"/>
            <p:cNvSpPr/>
            <p:nvPr/>
          </p:nvSpPr>
          <p:spPr>
            <a:xfrm>
              <a:off x="4696" y="196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65" name="Rectangle 27"/>
            <p:cNvSpPr/>
            <p:nvPr/>
          </p:nvSpPr>
          <p:spPr>
            <a:xfrm>
              <a:off x="4696" y="22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66" name="Rectangle 28"/>
            <p:cNvSpPr/>
            <p:nvPr/>
          </p:nvSpPr>
          <p:spPr>
            <a:xfrm>
              <a:off x="4936" y="148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67" name="Rectangle 29"/>
            <p:cNvSpPr/>
            <p:nvPr/>
          </p:nvSpPr>
          <p:spPr>
            <a:xfrm>
              <a:off x="4936" y="172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68" name="Rectangle 30"/>
            <p:cNvSpPr/>
            <p:nvPr/>
          </p:nvSpPr>
          <p:spPr>
            <a:xfrm>
              <a:off x="4936" y="124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69" name="Rectangle 31"/>
            <p:cNvSpPr/>
            <p:nvPr/>
          </p:nvSpPr>
          <p:spPr>
            <a:xfrm>
              <a:off x="4936" y="196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70" name="Rectangle 32"/>
            <p:cNvSpPr/>
            <p:nvPr/>
          </p:nvSpPr>
          <p:spPr>
            <a:xfrm>
              <a:off x="4936" y="22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71" name="Rectangle 33"/>
            <p:cNvSpPr/>
            <p:nvPr/>
          </p:nvSpPr>
          <p:spPr>
            <a:xfrm>
              <a:off x="3745" y="10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72" name="Rectangle 34"/>
            <p:cNvSpPr/>
            <p:nvPr/>
          </p:nvSpPr>
          <p:spPr>
            <a:xfrm>
              <a:off x="3985" y="10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73" name="Rectangle 35"/>
            <p:cNvSpPr/>
            <p:nvPr/>
          </p:nvSpPr>
          <p:spPr>
            <a:xfrm>
              <a:off x="4225" y="10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74" name="Rectangle 36"/>
            <p:cNvSpPr/>
            <p:nvPr/>
          </p:nvSpPr>
          <p:spPr>
            <a:xfrm>
              <a:off x="4465" y="10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75" name="Rectangle 37"/>
            <p:cNvSpPr/>
            <p:nvPr/>
          </p:nvSpPr>
          <p:spPr>
            <a:xfrm>
              <a:off x="4705" y="10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39976" name="Rectangle 38"/>
            <p:cNvSpPr/>
            <p:nvPr/>
          </p:nvSpPr>
          <p:spPr>
            <a:xfrm>
              <a:off x="4945" y="1008"/>
              <a:ext cx="287" cy="288"/>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pic>
          <p:nvPicPr>
            <p:cNvPr id="39977" name="Picture 39" descr="jet1"/>
            <p:cNvPicPr>
              <a:picLocks noChangeAspect="1"/>
            </p:cNvPicPr>
            <p:nvPr/>
          </p:nvPicPr>
          <p:blipFill>
            <a:blip r:embed="rId1"/>
            <a:stretch>
              <a:fillRect/>
            </a:stretch>
          </p:blipFill>
          <p:spPr>
            <a:xfrm>
              <a:off x="4089" y="1308"/>
              <a:ext cx="852" cy="852"/>
            </a:xfrm>
            <a:prstGeom prst="rect">
              <a:avLst/>
            </a:prstGeom>
            <a:noFill/>
            <a:ln w="9525">
              <a:noFill/>
            </a:ln>
          </p:spPr>
        </p:pic>
        <p:sp>
          <p:nvSpPr>
            <p:cNvPr id="39978" name="Line 40"/>
            <p:cNvSpPr/>
            <p:nvPr/>
          </p:nvSpPr>
          <p:spPr>
            <a:xfrm>
              <a:off x="4800" y="1752"/>
              <a:ext cx="720" cy="0"/>
            </a:xfrm>
            <a:prstGeom prst="line">
              <a:avLst/>
            </a:prstGeom>
            <a:ln w="38100" cap="flat" cmpd="sng">
              <a:solidFill>
                <a:srgbClr val="FF0000"/>
              </a:solidFill>
              <a:prstDash val="solid"/>
              <a:headEnd type="none" w="med" len="med"/>
              <a:tailEnd type="triangle" w="med" len="lg"/>
            </a:ln>
          </p:spPr>
        </p:sp>
        <p:sp>
          <p:nvSpPr>
            <p:cNvPr id="39979" name="Text Box 41"/>
            <p:cNvSpPr txBox="1"/>
            <p:nvPr/>
          </p:nvSpPr>
          <p:spPr>
            <a:xfrm>
              <a:off x="5168" y="1704"/>
              <a:ext cx="223" cy="288"/>
            </a:xfrm>
            <a:prstGeom prst="rect">
              <a:avLst/>
            </a:prstGeom>
            <a:noFill/>
            <a:ln w="9525">
              <a:noFill/>
            </a:ln>
          </p:spPr>
          <p:txBody>
            <a:bodyPr wrap="none">
              <a:spAutoFit/>
            </a:bodyPr>
            <a:p>
              <a:pPr eaLnBrk="1" hangingPunct="1"/>
              <a:r>
                <a:rPr lang="en-US" altLang="en-US" sz="2400" dirty="0">
                  <a:latin typeface="Arial" panose="020B0604020202020204" pitchFamily="34" charset="0"/>
                </a:rPr>
                <a:t>v</a:t>
              </a:r>
              <a:endParaRPr lang="en-US" altLang="en-US" sz="2400" dirty="0">
                <a:latin typeface="Arial" panose="020B0604020202020204" pitchFamily="34" charset="0"/>
              </a:endParaRPr>
            </a:p>
          </p:txBody>
        </p:sp>
      </p:grpSp>
      <p:sp>
        <p:nvSpPr>
          <p:cNvPr id="39940" name="Text Box 42"/>
          <p:cNvSpPr txBox="1"/>
          <p:nvPr/>
        </p:nvSpPr>
        <p:spPr>
          <a:xfrm>
            <a:off x="174625" y="298450"/>
            <a:ext cx="8740775" cy="1225550"/>
          </a:xfrm>
          <a:prstGeom prst="rect">
            <a:avLst/>
          </a:prstGeom>
          <a:solidFill>
            <a:srgbClr val="339933"/>
          </a:solidFill>
          <a:ln w="38100" cap="flat" cmpd="sng">
            <a:solidFill>
              <a:srgbClr val="006600"/>
            </a:solidFill>
            <a:prstDash val="solid"/>
            <a:miter/>
            <a:headEnd type="none" w="med" len="med"/>
            <a:tailEnd type="none" w="med" len="med"/>
          </a:ln>
        </p:spPr>
        <p:txBody>
          <a:bodyPr>
            <a:spAutoFit/>
          </a:bodyPr>
          <a:p>
            <a:pPr eaLnBrk="1" hangingPunct="1"/>
            <a:r>
              <a:rPr lang="en-US" altLang="en-US" sz="2400" dirty="0">
                <a:solidFill>
                  <a:schemeClr val="bg1"/>
                </a:solidFill>
                <a:latin typeface="Tahoma" panose="020B0604030504040204" pitchFamily="34" charset="0"/>
              </a:rPr>
              <a:t>Example: An airplane travels 1000 km/h in a region where the earth’s field is 5x10</a:t>
            </a:r>
            <a:r>
              <a:rPr lang="en-US" altLang="en-US" sz="2400" baseline="30000" dirty="0">
                <a:solidFill>
                  <a:schemeClr val="bg1"/>
                </a:solidFill>
                <a:latin typeface="Tahoma" panose="020B0604030504040204" pitchFamily="34" charset="0"/>
              </a:rPr>
              <a:t>-5</a:t>
            </a:r>
            <a:r>
              <a:rPr lang="en-US" altLang="en-US" sz="2400" dirty="0">
                <a:solidFill>
                  <a:schemeClr val="bg1"/>
                </a:solidFill>
                <a:latin typeface="Tahoma" panose="020B0604030504040204" pitchFamily="34" charset="0"/>
              </a:rPr>
              <a:t> T and is vertical.  What is the potential difference induced between the wing tips that are 70 m apart? </a:t>
            </a:r>
            <a:endParaRPr lang="en-US" altLang="en-US" sz="2400" dirty="0">
              <a:solidFill>
                <a:schemeClr val="bg1"/>
              </a:solidFill>
              <a:latin typeface="Tahoma" panose="020B0604030504040204" pitchFamily="34" charset="0"/>
            </a:endParaRPr>
          </a:p>
        </p:txBody>
      </p:sp>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Slide Number Placeholder 3"/>
          <p:cNvSpPr txBox="1">
            <a:spLocks noGrp="1"/>
          </p:cNvSpPr>
          <p:nvPr>
            <p:ph type="sldNum" sz="quarter" idx="4294967295"/>
          </p:nvPr>
        </p:nvSpPr>
        <p:spPr>
          <a:xfrm>
            <a:off x="6553200" y="6245225"/>
            <a:ext cx="21336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fld>
            <a:endParaRPr lang="en-US" altLang="en-US" sz="1400" dirty="0"/>
          </a:p>
        </p:txBody>
      </p:sp>
      <p:sp>
        <p:nvSpPr>
          <p:cNvPr id="40963" name="Text Box 2"/>
          <p:cNvSpPr txBox="1"/>
          <p:nvPr/>
        </p:nvSpPr>
        <p:spPr>
          <a:xfrm>
            <a:off x="212725" y="228600"/>
            <a:ext cx="8626475" cy="822325"/>
          </a:xfrm>
          <a:prstGeom prst="rect">
            <a:avLst/>
          </a:prstGeom>
          <a:noFill/>
          <a:ln w="9525">
            <a:noFill/>
          </a:ln>
        </p:spPr>
        <p:txBody>
          <a:bodyPr>
            <a:spAutoFit/>
          </a:bodyPr>
          <a:p>
            <a:pPr eaLnBrk="1" hangingPunct="1"/>
            <a:r>
              <a:rPr lang="en-US" altLang="en-US" sz="2400" dirty="0">
                <a:latin typeface="Tahoma" panose="020B0604030504040204" pitchFamily="34" charset="0"/>
              </a:rPr>
              <a:t>The electrons “pile up” on the left hand wing of the plane, leaving an excess of + charge on the right hand wing.</a:t>
            </a:r>
            <a:endParaRPr lang="en-US" altLang="en-US" sz="2400" dirty="0">
              <a:latin typeface="Tahoma" panose="020B0604030504040204" pitchFamily="34" charset="0"/>
            </a:endParaRPr>
          </a:p>
        </p:txBody>
      </p:sp>
      <p:sp>
        <p:nvSpPr>
          <p:cNvPr id="40964" name="Rectangle 3"/>
          <p:cNvSpPr/>
          <p:nvPr/>
        </p:nvSpPr>
        <p:spPr>
          <a:xfrm>
            <a:off x="5930900" y="2965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65" name="Rectangle 4"/>
          <p:cNvSpPr/>
          <p:nvPr/>
        </p:nvSpPr>
        <p:spPr>
          <a:xfrm>
            <a:off x="5930900" y="3346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66" name="Rectangle 5"/>
          <p:cNvSpPr/>
          <p:nvPr/>
        </p:nvSpPr>
        <p:spPr>
          <a:xfrm>
            <a:off x="5930900" y="2584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67" name="Rectangle 6"/>
          <p:cNvSpPr/>
          <p:nvPr/>
        </p:nvSpPr>
        <p:spPr>
          <a:xfrm>
            <a:off x="5930900" y="3727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68" name="Rectangle 7"/>
          <p:cNvSpPr/>
          <p:nvPr/>
        </p:nvSpPr>
        <p:spPr>
          <a:xfrm>
            <a:off x="5930900" y="4108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69" name="Rectangle 8"/>
          <p:cNvSpPr/>
          <p:nvPr/>
        </p:nvSpPr>
        <p:spPr>
          <a:xfrm>
            <a:off x="6311900" y="2965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70" name="Rectangle 9"/>
          <p:cNvSpPr/>
          <p:nvPr/>
        </p:nvSpPr>
        <p:spPr>
          <a:xfrm>
            <a:off x="6311900" y="3346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71" name="Rectangle 10"/>
          <p:cNvSpPr/>
          <p:nvPr/>
        </p:nvSpPr>
        <p:spPr>
          <a:xfrm>
            <a:off x="6311900" y="2584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72" name="Rectangle 11"/>
          <p:cNvSpPr/>
          <p:nvPr/>
        </p:nvSpPr>
        <p:spPr>
          <a:xfrm>
            <a:off x="6311900" y="3727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73" name="Rectangle 12"/>
          <p:cNvSpPr/>
          <p:nvPr/>
        </p:nvSpPr>
        <p:spPr>
          <a:xfrm>
            <a:off x="6311900" y="4108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74" name="Rectangle 13"/>
          <p:cNvSpPr/>
          <p:nvPr/>
        </p:nvSpPr>
        <p:spPr>
          <a:xfrm>
            <a:off x="6692900" y="2965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75" name="Rectangle 14"/>
          <p:cNvSpPr/>
          <p:nvPr/>
        </p:nvSpPr>
        <p:spPr>
          <a:xfrm>
            <a:off x="6692900" y="3346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76" name="Rectangle 15"/>
          <p:cNvSpPr/>
          <p:nvPr/>
        </p:nvSpPr>
        <p:spPr>
          <a:xfrm>
            <a:off x="6692900" y="2584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77" name="Rectangle 16"/>
          <p:cNvSpPr/>
          <p:nvPr/>
        </p:nvSpPr>
        <p:spPr>
          <a:xfrm>
            <a:off x="6692900" y="3727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78" name="Rectangle 17"/>
          <p:cNvSpPr/>
          <p:nvPr/>
        </p:nvSpPr>
        <p:spPr>
          <a:xfrm>
            <a:off x="6692900" y="4108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79" name="Rectangle 18"/>
          <p:cNvSpPr/>
          <p:nvPr/>
        </p:nvSpPr>
        <p:spPr>
          <a:xfrm>
            <a:off x="7073900" y="2965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80" name="Rectangle 19"/>
          <p:cNvSpPr/>
          <p:nvPr/>
        </p:nvSpPr>
        <p:spPr>
          <a:xfrm>
            <a:off x="7073900" y="3346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81" name="Rectangle 20"/>
          <p:cNvSpPr/>
          <p:nvPr/>
        </p:nvSpPr>
        <p:spPr>
          <a:xfrm>
            <a:off x="7073900" y="2584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82" name="Rectangle 21"/>
          <p:cNvSpPr/>
          <p:nvPr/>
        </p:nvSpPr>
        <p:spPr>
          <a:xfrm>
            <a:off x="7073900" y="3727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83" name="Rectangle 22"/>
          <p:cNvSpPr/>
          <p:nvPr/>
        </p:nvSpPr>
        <p:spPr>
          <a:xfrm>
            <a:off x="7073900" y="4108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84" name="Rectangle 23"/>
          <p:cNvSpPr/>
          <p:nvPr/>
        </p:nvSpPr>
        <p:spPr>
          <a:xfrm>
            <a:off x="7454900" y="2965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85" name="Rectangle 24"/>
          <p:cNvSpPr/>
          <p:nvPr/>
        </p:nvSpPr>
        <p:spPr>
          <a:xfrm>
            <a:off x="7454900" y="3346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86" name="Rectangle 25"/>
          <p:cNvSpPr/>
          <p:nvPr/>
        </p:nvSpPr>
        <p:spPr>
          <a:xfrm>
            <a:off x="7454900" y="2584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87" name="Rectangle 26"/>
          <p:cNvSpPr/>
          <p:nvPr/>
        </p:nvSpPr>
        <p:spPr>
          <a:xfrm>
            <a:off x="7454900" y="3727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88" name="Rectangle 27"/>
          <p:cNvSpPr/>
          <p:nvPr/>
        </p:nvSpPr>
        <p:spPr>
          <a:xfrm>
            <a:off x="7454900" y="4108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89" name="Rectangle 28"/>
          <p:cNvSpPr/>
          <p:nvPr/>
        </p:nvSpPr>
        <p:spPr>
          <a:xfrm>
            <a:off x="7835900" y="2965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90" name="Rectangle 29"/>
          <p:cNvSpPr/>
          <p:nvPr/>
        </p:nvSpPr>
        <p:spPr>
          <a:xfrm>
            <a:off x="7835900" y="3346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91" name="Rectangle 30"/>
          <p:cNvSpPr/>
          <p:nvPr/>
        </p:nvSpPr>
        <p:spPr>
          <a:xfrm>
            <a:off x="7835900" y="2584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92" name="Rectangle 31"/>
          <p:cNvSpPr/>
          <p:nvPr/>
        </p:nvSpPr>
        <p:spPr>
          <a:xfrm>
            <a:off x="7835900" y="3727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93" name="Rectangle 32"/>
          <p:cNvSpPr/>
          <p:nvPr/>
        </p:nvSpPr>
        <p:spPr>
          <a:xfrm>
            <a:off x="7835900" y="4108450"/>
            <a:ext cx="455613"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94" name="Rectangle 33"/>
          <p:cNvSpPr/>
          <p:nvPr/>
        </p:nvSpPr>
        <p:spPr>
          <a:xfrm>
            <a:off x="5945188" y="2203450"/>
            <a:ext cx="455612"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95" name="Rectangle 34"/>
          <p:cNvSpPr/>
          <p:nvPr/>
        </p:nvSpPr>
        <p:spPr>
          <a:xfrm>
            <a:off x="6326188" y="2203450"/>
            <a:ext cx="455612"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96" name="Rectangle 35"/>
          <p:cNvSpPr/>
          <p:nvPr/>
        </p:nvSpPr>
        <p:spPr>
          <a:xfrm>
            <a:off x="6707188" y="2203450"/>
            <a:ext cx="455612"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97" name="Rectangle 36"/>
          <p:cNvSpPr/>
          <p:nvPr/>
        </p:nvSpPr>
        <p:spPr>
          <a:xfrm>
            <a:off x="7088188" y="2203450"/>
            <a:ext cx="455612"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98" name="Rectangle 37"/>
          <p:cNvSpPr/>
          <p:nvPr/>
        </p:nvSpPr>
        <p:spPr>
          <a:xfrm>
            <a:off x="7469188" y="2203450"/>
            <a:ext cx="455612"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sp>
        <p:nvSpPr>
          <p:cNvPr id="40999" name="Rectangle 38"/>
          <p:cNvSpPr/>
          <p:nvPr/>
        </p:nvSpPr>
        <p:spPr>
          <a:xfrm>
            <a:off x="7850188" y="2203450"/>
            <a:ext cx="455612" cy="457200"/>
          </a:xfrm>
          <a:prstGeom prst="rect">
            <a:avLst/>
          </a:prstGeom>
          <a:noFill/>
          <a:ln w="9525">
            <a:noFill/>
          </a:ln>
        </p:spPr>
        <p:txBody>
          <a:bodyPr wrap="none">
            <a:spAutoFit/>
          </a:bodyPr>
          <a:p>
            <a:pPr eaLnBrk="1" hangingPunct="1"/>
            <a:r>
              <a:rPr lang="en-US" altLang="en-US" sz="2400" dirty="0">
                <a:latin typeface="Times New Roman" panose="02020603050405020304" pitchFamily="18" charset="0"/>
                <a:sym typeface="Wingdings 2" panose="05020102010507070707" pitchFamily="18" charset="2"/>
              </a:rPr>
              <a:t></a:t>
            </a:r>
            <a:endParaRPr lang="en-US" altLang="en-US" sz="2400" dirty="0">
              <a:latin typeface="Times New Roman" panose="02020603050405020304" pitchFamily="18" charset="0"/>
              <a:sym typeface="Wingdings 2" panose="05020102010507070707" pitchFamily="18" charset="2"/>
            </a:endParaRPr>
          </a:p>
        </p:txBody>
      </p:sp>
      <p:pic>
        <p:nvPicPr>
          <p:cNvPr id="41000" name="Picture 39" descr="jet1"/>
          <p:cNvPicPr>
            <a:picLocks noChangeAspect="1"/>
          </p:cNvPicPr>
          <p:nvPr/>
        </p:nvPicPr>
        <p:blipFill>
          <a:blip r:embed="rId1"/>
          <a:stretch>
            <a:fillRect/>
          </a:stretch>
        </p:blipFill>
        <p:spPr>
          <a:xfrm>
            <a:off x="6491288" y="2679700"/>
            <a:ext cx="1352550" cy="1352550"/>
          </a:xfrm>
          <a:prstGeom prst="rect">
            <a:avLst/>
          </a:prstGeom>
          <a:noFill/>
          <a:ln w="9525">
            <a:noFill/>
          </a:ln>
        </p:spPr>
      </p:pic>
      <p:sp>
        <p:nvSpPr>
          <p:cNvPr id="41001" name="Line 40"/>
          <p:cNvSpPr/>
          <p:nvPr/>
        </p:nvSpPr>
        <p:spPr>
          <a:xfrm>
            <a:off x="7620000" y="3384550"/>
            <a:ext cx="1143000" cy="0"/>
          </a:xfrm>
          <a:prstGeom prst="line">
            <a:avLst/>
          </a:prstGeom>
          <a:ln w="38100" cap="flat" cmpd="sng">
            <a:solidFill>
              <a:srgbClr val="FF0000"/>
            </a:solidFill>
            <a:prstDash val="solid"/>
            <a:headEnd type="none" w="med" len="med"/>
            <a:tailEnd type="triangle" w="med" len="lg"/>
          </a:ln>
        </p:spPr>
      </p:sp>
      <p:sp>
        <p:nvSpPr>
          <p:cNvPr id="41002" name="Text Box 41"/>
          <p:cNvSpPr txBox="1"/>
          <p:nvPr/>
        </p:nvSpPr>
        <p:spPr>
          <a:xfrm>
            <a:off x="8204200" y="3308350"/>
            <a:ext cx="354013" cy="457200"/>
          </a:xfrm>
          <a:prstGeom prst="rect">
            <a:avLst/>
          </a:prstGeom>
          <a:noFill/>
          <a:ln w="9525">
            <a:noFill/>
          </a:ln>
        </p:spPr>
        <p:txBody>
          <a:bodyPr wrap="none">
            <a:spAutoFit/>
          </a:bodyPr>
          <a:p>
            <a:pPr eaLnBrk="1" hangingPunct="1"/>
            <a:r>
              <a:rPr lang="en-US" altLang="en-US" sz="2400" dirty="0">
                <a:latin typeface="Arial" panose="020B0604020202020204" pitchFamily="34" charset="0"/>
              </a:rPr>
              <a:t>v</a:t>
            </a:r>
            <a:endParaRPr lang="en-US" altLang="en-US" sz="2400" dirty="0">
              <a:latin typeface="Arial" panose="020B0604020202020204" pitchFamily="34" charset="0"/>
            </a:endParaRPr>
          </a:p>
        </p:txBody>
      </p:sp>
      <p:sp>
        <p:nvSpPr>
          <p:cNvPr id="631850" name="Oval 42"/>
          <p:cNvSpPr>
            <a:spLocks noChangeAspect="1"/>
          </p:cNvSpPr>
          <p:nvPr/>
        </p:nvSpPr>
        <p:spPr>
          <a:xfrm>
            <a:off x="6934200" y="2813050"/>
            <a:ext cx="119063" cy="119063"/>
          </a:xfrm>
          <a:prstGeom prst="ellipse">
            <a:avLst/>
          </a:prstGeom>
          <a:gradFill rotWithShape="1">
            <a:gsLst>
              <a:gs pos="0">
                <a:srgbClr val="FF0000"/>
              </a:gs>
              <a:gs pos="100000">
                <a:srgbClr val="760000"/>
              </a:gs>
            </a:gsLst>
            <a:lin ang="2700000" scaled="1"/>
            <a:tileRect/>
          </a:gradFill>
          <a:ln w="9525">
            <a:noFill/>
          </a:ln>
        </p:spPr>
        <p:txBody>
          <a:bodyPr anchor="ctr" anchorCtr="0">
            <a:spAutoFit/>
          </a:bodyPr>
          <a:p>
            <a:pPr eaLnBrk="1" hangingPunct="1"/>
            <a:endParaRPr lang="en-US" altLang="en-US" sz="2400" dirty="0">
              <a:latin typeface="Tahoma" panose="020B0604030504040204" pitchFamily="34" charset="0"/>
            </a:endParaRPr>
          </a:p>
        </p:txBody>
      </p:sp>
      <p:sp>
        <p:nvSpPr>
          <p:cNvPr id="631851" name="Text Box 43"/>
          <p:cNvSpPr txBox="1"/>
          <p:nvPr/>
        </p:nvSpPr>
        <p:spPr>
          <a:xfrm>
            <a:off x="6859588" y="1771650"/>
            <a:ext cx="303212" cy="519113"/>
          </a:xfrm>
          <a:prstGeom prst="rect">
            <a:avLst/>
          </a:prstGeom>
          <a:noFill/>
          <a:ln w="9525">
            <a:noFill/>
          </a:ln>
        </p:spPr>
        <p:txBody>
          <a:bodyPr wrap="none">
            <a:spAutoFit/>
          </a:bodyPr>
          <a:p>
            <a:pPr eaLnBrk="1" hangingPunct="1"/>
            <a:r>
              <a:rPr lang="en-US" altLang="en-US" dirty="0">
                <a:solidFill>
                  <a:srgbClr val="FF0000"/>
                </a:solidFill>
                <a:latin typeface="Arial" panose="020B0604020202020204" pitchFamily="34" charset="0"/>
              </a:rPr>
              <a:t>-</a:t>
            </a:r>
            <a:endParaRPr lang="en-US" altLang="en-US" dirty="0">
              <a:solidFill>
                <a:srgbClr val="FF0000"/>
              </a:solidFill>
              <a:latin typeface="Arial" panose="020B0604020202020204" pitchFamily="34" charset="0"/>
            </a:endParaRPr>
          </a:p>
        </p:txBody>
      </p:sp>
      <p:sp>
        <p:nvSpPr>
          <p:cNvPr id="631852" name="Text Box 44"/>
          <p:cNvSpPr txBox="1"/>
          <p:nvPr/>
        </p:nvSpPr>
        <p:spPr>
          <a:xfrm>
            <a:off x="6846888" y="4413250"/>
            <a:ext cx="392112" cy="519113"/>
          </a:xfrm>
          <a:prstGeom prst="rect">
            <a:avLst/>
          </a:prstGeom>
          <a:noFill/>
          <a:ln w="9525">
            <a:noFill/>
          </a:ln>
        </p:spPr>
        <p:txBody>
          <a:bodyPr wrap="none">
            <a:spAutoFit/>
          </a:bodyPr>
          <a:p>
            <a:pPr eaLnBrk="1" hangingPunct="1"/>
            <a:r>
              <a:rPr lang="en-US" altLang="en-US" dirty="0">
                <a:solidFill>
                  <a:srgbClr val="0000CC"/>
                </a:solidFill>
                <a:latin typeface="Arial" panose="020B0604020202020204" pitchFamily="34" charset="0"/>
              </a:rPr>
              <a:t>+</a:t>
            </a:r>
            <a:endParaRPr lang="en-US" altLang="en-US" dirty="0">
              <a:solidFill>
                <a:srgbClr val="0000CC"/>
              </a:solidFill>
              <a:latin typeface="Arial" panose="020B0604020202020204" pitchFamily="34" charset="0"/>
            </a:endParaRPr>
          </a:p>
        </p:txBody>
      </p:sp>
      <p:sp>
        <p:nvSpPr>
          <p:cNvPr id="631853" name="Freeform 45"/>
          <p:cNvSpPr/>
          <p:nvPr/>
        </p:nvSpPr>
        <p:spPr>
          <a:xfrm>
            <a:off x="7010400" y="1936750"/>
            <a:ext cx="330200" cy="800100"/>
          </a:xfrm>
          <a:custGeom>
            <a:avLst/>
            <a:gdLst>
              <a:gd name="txL" fmla="*/ 0 w 208"/>
              <a:gd name="txT" fmla="*/ 0 h 504"/>
              <a:gd name="txR" fmla="*/ 208 w 208"/>
              <a:gd name="txB" fmla="*/ 504 h 504"/>
            </a:gdLst>
            <a:ahLst/>
            <a:cxnLst>
              <a:cxn ang="0">
                <a:pos x="2147483646" y="2147483646"/>
              </a:cxn>
              <a:cxn ang="0">
                <a:pos x="2147483646" y="2147483646"/>
              </a:cxn>
              <a:cxn ang="0">
                <a:pos x="0" y="2147483646"/>
              </a:cxn>
            </a:cxnLst>
            <a:rect l="txL" t="txT" r="txR" b="txB"/>
            <a:pathLst>
              <a:path w="208" h="504">
                <a:moveTo>
                  <a:pt x="96" y="72"/>
                </a:moveTo>
                <a:cubicBezTo>
                  <a:pt x="152" y="36"/>
                  <a:pt x="208" y="0"/>
                  <a:pt x="192" y="72"/>
                </a:cubicBezTo>
                <a:cubicBezTo>
                  <a:pt x="176" y="144"/>
                  <a:pt x="88" y="324"/>
                  <a:pt x="0" y="504"/>
                </a:cubicBezTo>
              </a:path>
            </a:pathLst>
          </a:custGeom>
          <a:noFill/>
          <a:ln w="38100" cap="flat" cmpd="sng">
            <a:solidFill>
              <a:srgbClr val="FF0000">
                <a:alpha val="100000"/>
              </a:srgbClr>
            </a:solidFill>
            <a:prstDash val="solid"/>
            <a:round/>
            <a:headEnd type="none" w="med" len="med"/>
            <a:tailEnd type="triangle" w="med" len="med"/>
          </a:ln>
        </p:spPr>
        <p:txBody>
          <a:bodyPr/>
          <a:p>
            <a:endParaRPr lang="en-US"/>
          </a:p>
        </p:txBody>
      </p:sp>
      <p:sp>
        <p:nvSpPr>
          <p:cNvPr id="631854" name="Freeform 46"/>
          <p:cNvSpPr/>
          <p:nvPr/>
        </p:nvSpPr>
        <p:spPr>
          <a:xfrm flipV="1">
            <a:off x="7015163" y="3994150"/>
            <a:ext cx="330200" cy="800100"/>
          </a:xfrm>
          <a:custGeom>
            <a:avLst/>
            <a:gdLst>
              <a:gd name="txL" fmla="*/ 0 w 208"/>
              <a:gd name="txT" fmla="*/ 0 h 504"/>
              <a:gd name="txR" fmla="*/ 208 w 208"/>
              <a:gd name="txB" fmla="*/ 504 h 504"/>
            </a:gdLst>
            <a:ahLst/>
            <a:cxnLst>
              <a:cxn ang="0">
                <a:pos x="2147483646" y="2147483646"/>
              </a:cxn>
              <a:cxn ang="0">
                <a:pos x="2147483646" y="2147483646"/>
              </a:cxn>
              <a:cxn ang="0">
                <a:pos x="0" y="2147483646"/>
              </a:cxn>
            </a:cxnLst>
            <a:rect l="txL" t="txT" r="txR" b="txB"/>
            <a:pathLst>
              <a:path w="208" h="504">
                <a:moveTo>
                  <a:pt x="96" y="72"/>
                </a:moveTo>
                <a:cubicBezTo>
                  <a:pt x="152" y="36"/>
                  <a:pt x="208" y="0"/>
                  <a:pt x="192" y="72"/>
                </a:cubicBezTo>
                <a:cubicBezTo>
                  <a:pt x="176" y="144"/>
                  <a:pt x="88" y="324"/>
                  <a:pt x="0" y="504"/>
                </a:cubicBezTo>
              </a:path>
            </a:pathLst>
          </a:custGeom>
          <a:noFill/>
          <a:ln w="38100" cap="flat" cmpd="sng">
            <a:solidFill>
              <a:schemeClr val="accent2">
                <a:alpha val="100000"/>
              </a:schemeClr>
            </a:solidFill>
            <a:prstDash val="solid"/>
            <a:round/>
            <a:headEnd type="none" w="med" len="med"/>
            <a:tailEnd type="triangle" w="med" len="med"/>
          </a:ln>
        </p:spPr>
        <p:txBody>
          <a:bodyPr/>
          <a:p>
            <a:endParaRPr lang="en-US"/>
          </a:p>
        </p:txBody>
      </p:sp>
      <p:sp>
        <p:nvSpPr>
          <p:cNvPr id="631855" name="Text Box 47"/>
          <p:cNvSpPr txBox="1"/>
          <p:nvPr/>
        </p:nvSpPr>
        <p:spPr>
          <a:xfrm>
            <a:off x="228600" y="1219200"/>
            <a:ext cx="5486400" cy="1187450"/>
          </a:xfrm>
          <a:prstGeom prst="rect">
            <a:avLst/>
          </a:prstGeom>
          <a:noFill/>
          <a:ln w="9525">
            <a:noFill/>
          </a:ln>
        </p:spPr>
        <p:txBody>
          <a:bodyPr>
            <a:spAutoFit/>
          </a:bodyPr>
          <a:p>
            <a:pPr eaLnBrk="1" hangingPunct="1"/>
            <a:r>
              <a:rPr lang="en-US" altLang="en-US" sz="2400" dirty="0">
                <a:latin typeface="Tahoma" panose="020B0604030504040204" pitchFamily="34" charset="0"/>
              </a:rPr>
              <a:t>The equation for </a:t>
            </a:r>
            <a:r>
              <a:rPr lang="en-US" altLang="en-US" sz="2400" dirty="0">
                <a:latin typeface="Tahoma" panose="020B0604030504040204" pitchFamily="34" charset="0"/>
                <a:sym typeface="Symbol" panose="05050102010706020507" pitchFamily="18" charset="2"/>
              </a:rPr>
              <a:t> at the bottom of slide 10 gives the potential difference.</a:t>
            </a:r>
            <a:r>
              <a:rPr lang="en-US" altLang="en-US" sz="2400" dirty="0">
                <a:latin typeface="Tahoma" panose="020B0604030504040204" pitchFamily="34" charset="0"/>
              </a:rPr>
              <a:t> (You’d have to derive this on a test.)</a:t>
            </a:r>
            <a:endParaRPr lang="en-US" altLang="en-US" sz="2400" dirty="0">
              <a:latin typeface="Tahoma" panose="020B0604030504040204" pitchFamily="34" charset="0"/>
            </a:endParaRPr>
          </a:p>
        </p:txBody>
      </p:sp>
      <p:graphicFrame>
        <p:nvGraphicFramePr>
          <p:cNvPr id="631856" name="Object 48"/>
          <p:cNvGraphicFramePr>
            <a:graphicFrameLocks noChangeAspect="1"/>
          </p:cNvGraphicFramePr>
          <p:nvPr/>
        </p:nvGraphicFramePr>
        <p:xfrm>
          <a:off x="1803400" y="2689225"/>
          <a:ext cx="1608138" cy="511175"/>
        </p:xfrm>
        <a:graphic>
          <a:graphicData uri="http://schemas.openxmlformats.org/presentationml/2006/ole">
            <mc:AlternateContent xmlns:mc="http://schemas.openxmlformats.org/markup-compatibility/2006">
              <mc:Choice xmlns:v="urn:schemas-microsoft-com:vml" Requires="v">
                <p:oleObj spid="_x0000_s3090" name="" r:id="rId2" imgW="799465" imgH="254000" progId="Equation.DSMT4">
                  <p:embed/>
                </p:oleObj>
              </mc:Choice>
              <mc:Fallback>
                <p:oleObj name="" r:id="rId2" imgW="799465" imgH="254000" progId="Equation.DSMT4">
                  <p:embed/>
                  <p:pic>
                    <p:nvPicPr>
                      <p:cNvPr id="0" name="Picture 3089"/>
                      <p:cNvPicPr/>
                      <p:nvPr/>
                    </p:nvPicPr>
                    <p:blipFill>
                      <a:blip r:embed="rId3"/>
                      <a:stretch>
                        <a:fillRect/>
                      </a:stretch>
                    </p:blipFill>
                    <p:spPr>
                      <a:xfrm>
                        <a:off x="1803400" y="2689225"/>
                        <a:ext cx="1608138" cy="511175"/>
                      </a:xfrm>
                      <a:prstGeom prst="rect">
                        <a:avLst/>
                      </a:prstGeom>
                      <a:noFill/>
                      <a:ln w="38100">
                        <a:noFill/>
                        <a:miter/>
                      </a:ln>
                    </p:spPr>
                  </p:pic>
                </p:oleObj>
              </mc:Fallback>
            </mc:AlternateContent>
          </a:graphicData>
        </a:graphic>
      </p:graphicFrame>
      <p:graphicFrame>
        <p:nvGraphicFramePr>
          <p:cNvPr id="631857" name="Object 49"/>
          <p:cNvGraphicFramePr>
            <a:graphicFrameLocks noChangeAspect="1"/>
          </p:cNvGraphicFramePr>
          <p:nvPr/>
        </p:nvGraphicFramePr>
        <p:xfrm>
          <a:off x="342900" y="3400425"/>
          <a:ext cx="4772025" cy="561975"/>
        </p:xfrm>
        <a:graphic>
          <a:graphicData uri="http://schemas.openxmlformats.org/presentationml/2006/ole">
            <mc:AlternateContent xmlns:mc="http://schemas.openxmlformats.org/markup-compatibility/2006">
              <mc:Choice xmlns:v="urn:schemas-microsoft-com:vml" Requires="v">
                <p:oleObj spid="_x0000_s3089" name="" r:id="rId4" imgW="2374900" imgH="279400" progId="Equation.DSMT4">
                  <p:embed/>
                </p:oleObj>
              </mc:Choice>
              <mc:Fallback>
                <p:oleObj name="" r:id="rId4" imgW="2374900" imgH="279400" progId="Equation.DSMT4">
                  <p:embed/>
                  <p:pic>
                    <p:nvPicPr>
                      <p:cNvPr id="0" name="Picture 3088"/>
                      <p:cNvPicPr/>
                      <p:nvPr/>
                    </p:nvPicPr>
                    <p:blipFill>
                      <a:blip r:embed="rId5"/>
                      <a:stretch>
                        <a:fillRect/>
                      </a:stretch>
                    </p:blipFill>
                    <p:spPr>
                      <a:xfrm>
                        <a:off x="342900" y="3400425"/>
                        <a:ext cx="4772025" cy="561975"/>
                      </a:xfrm>
                      <a:prstGeom prst="rect">
                        <a:avLst/>
                      </a:prstGeom>
                      <a:noFill/>
                      <a:ln w="38100">
                        <a:noFill/>
                        <a:miter/>
                      </a:ln>
                    </p:spPr>
                  </p:pic>
                </p:oleObj>
              </mc:Fallback>
            </mc:AlternateContent>
          </a:graphicData>
        </a:graphic>
      </p:graphicFrame>
      <p:graphicFrame>
        <p:nvGraphicFramePr>
          <p:cNvPr id="631858" name="Object 50"/>
          <p:cNvGraphicFramePr>
            <a:graphicFrameLocks noChangeAspect="1"/>
          </p:cNvGraphicFramePr>
          <p:nvPr/>
        </p:nvGraphicFramePr>
        <p:xfrm>
          <a:off x="1727200" y="4060825"/>
          <a:ext cx="1379538" cy="511175"/>
        </p:xfrm>
        <a:graphic>
          <a:graphicData uri="http://schemas.openxmlformats.org/presentationml/2006/ole">
            <mc:AlternateContent xmlns:mc="http://schemas.openxmlformats.org/markup-compatibility/2006">
              <mc:Choice xmlns:v="urn:schemas-microsoft-com:vml" Requires="v">
                <p:oleObj spid="_x0000_s3091" name="" r:id="rId6" imgW="685800" imgH="254000" progId="Equation.DSMT4">
                  <p:embed/>
                </p:oleObj>
              </mc:Choice>
              <mc:Fallback>
                <p:oleObj name="" r:id="rId6" imgW="685800" imgH="254000" progId="Equation.DSMT4">
                  <p:embed/>
                  <p:pic>
                    <p:nvPicPr>
                      <p:cNvPr id="0" name="Picture 3090"/>
                      <p:cNvPicPr/>
                      <p:nvPr/>
                    </p:nvPicPr>
                    <p:blipFill>
                      <a:blip r:embed="rId7"/>
                      <a:stretch>
                        <a:fillRect/>
                      </a:stretch>
                    </p:blipFill>
                    <p:spPr>
                      <a:xfrm>
                        <a:off x="1727200" y="4060825"/>
                        <a:ext cx="1379538" cy="511175"/>
                      </a:xfrm>
                      <a:prstGeom prst="rect">
                        <a:avLst/>
                      </a:prstGeom>
                      <a:noFill/>
                      <a:ln w="38100">
                        <a:noFill/>
                        <a:miter/>
                      </a:ln>
                    </p:spPr>
                  </p:pic>
                </p:oleObj>
              </mc:Fallback>
            </mc:AlternateContent>
          </a:graphicData>
        </a:graphic>
      </p:graphicFrame>
      <p:sp>
        <p:nvSpPr>
          <p:cNvPr id="631859" name="Text Box 51"/>
          <p:cNvSpPr txBox="1"/>
          <p:nvPr/>
        </p:nvSpPr>
        <p:spPr>
          <a:xfrm>
            <a:off x="228600" y="5426075"/>
            <a:ext cx="8610600" cy="822325"/>
          </a:xfrm>
          <a:prstGeom prst="rect">
            <a:avLst/>
          </a:prstGeom>
          <a:noFill/>
          <a:ln w="9525">
            <a:noFill/>
          </a:ln>
        </p:spPr>
        <p:txBody>
          <a:bodyPr>
            <a:spAutoFit/>
          </a:bodyPr>
          <a:p>
            <a:pPr eaLnBrk="1" hangingPunct="1"/>
            <a:r>
              <a:rPr lang="en-US" altLang="en-US" sz="2400" dirty="0">
                <a:latin typeface="Tahoma" panose="020B0604030504040204" pitchFamily="34" charset="0"/>
              </a:rPr>
              <a:t>No danger to passengers!  (But I would want my airplane designers to be aware of this.) </a:t>
            </a:r>
            <a:endParaRPr lang="en-US" altLang="en-US" sz="2400" dirty="0">
              <a:latin typeface="Tahoma" panose="020B0604030504040204" pitchFamily="34" charset="0"/>
            </a:endParaRPr>
          </a:p>
        </p:txBody>
      </p:sp>
      <p:sp>
        <p:nvSpPr>
          <p:cNvPr id="631860" name="Oval 52"/>
          <p:cNvSpPr>
            <a:spLocks noChangeAspect="1"/>
          </p:cNvSpPr>
          <p:nvPr/>
        </p:nvSpPr>
        <p:spPr>
          <a:xfrm>
            <a:off x="6934200" y="3832225"/>
            <a:ext cx="119063" cy="119063"/>
          </a:xfrm>
          <a:prstGeom prst="ellipse">
            <a:avLst/>
          </a:prstGeom>
          <a:gradFill rotWithShape="1">
            <a:gsLst>
              <a:gs pos="0">
                <a:srgbClr val="3333FF"/>
              </a:gs>
              <a:gs pos="100000">
                <a:srgbClr val="181876"/>
              </a:gs>
            </a:gsLst>
            <a:lin ang="2700000" scaled="1"/>
            <a:tileRect/>
          </a:gradFill>
          <a:ln w="9525">
            <a:noFill/>
          </a:ln>
        </p:spPr>
        <p:txBody>
          <a:bodyPr anchor="ctr" anchorCtr="0">
            <a:spAutoFit/>
          </a:bodyPr>
          <a:p>
            <a:pPr eaLnBrk="1" hangingPunct="1"/>
            <a:endParaRPr lang="en-US" altLang="en-US" sz="2400" dirty="0">
              <a:latin typeface="Tahoma" panose="020B0604030504040204" pitchFamily="34" charset="0"/>
            </a:endParaRPr>
          </a:p>
        </p:txBody>
      </p:sp>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31850"/>
                                        </p:tgtEl>
                                        <p:attrNameLst>
                                          <p:attrName>style.visibility</p:attrName>
                                        </p:attrNameLst>
                                      </p:cBhvr>
                                      <p:to>
                                        <p:strVal val="visible"/>
                                      </p:to>
                                    </p:set>
                                    <p:anim calcmode="lin" valueType="num">
                                      <p:cBhvr>
                                        <p:cTn id="7" dur="500" fill="hold"/>
                                        <p:tgtEl>
                                          <p:spTgt spid="631850"/>
                                        </p:tgtEl>
                                        <p:attrNameLst>
                                          <p:attrName>ppt_w</p:attrName>
                                        </p:attrNameLst>
                                      </p:cBhvr>
                                      <p:tavLst>
                                        <p:tav tm="0">
                                          <p:val>
                                            <p:fltVal val="0.000000"/>
                                          </p:val>
                                        </p:tav>
                                        <p:tav tm="100000">
                                          <p:val>
                                            <p:strVal val="#ppt_w"/>
                                          </p:val>
                                        </p:tav>
                                      </p:tavLst>
                                    </p:anim>
                                    <p:anim calcmode="lin" valueType="num">
                                      <p:cBhvr>
                                        <p:cTn id="8" dur="500" fill="hold"/>
                                        <p:tgtEl>
                                          <p:spTgt spid="631850"/>
                                        </p:tgtEl>
                                        <p:attrNameLst>
                                          <p:attrName>ppt_h</p:attrName>
                                        </p:attrNameLst>
                                      </p:cBhvr>
                                      <p:tavLst>
                                        <p:tav tm="0">
                                          <p:val>
                                            <p:fltVal val="0.00000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631853"/>
                                        </p:tgtEl>
                                        <p:attrNameLst>
                                          <p:attrName>style.visibility</p:attrName>
                                        </p:attrNameLst>
                                      </p:cBhvr>
                                      <p:to>
                                        <p:strVal val="visible"/>
                                      </p:to>
                                    </p:set>
                                    <p:anim calcmode="lin" valueType="num">
                                      <p:cBhvr>
                                        <p:cTn id="11" dur="500" fill="hold"/>
                                        <p:tgtEl>
                                          <p:spTgt spid="631853"/>
                                        </p:tgtEl>
                                        <p:attrNameLst>
                                          <p:attrName>ppt_w</p:attrName>
                                        </p:attrNameLst>
                                      </p:cBhvr>
                                      <p:tavLst>
                                        <p:tav tm="0">
                                          <p:val>
                                            <p:fltVal val="0.000000"/>
                                          </p:val>
                                        </p:tav>
                                        <p:tav tm="100000">
                                          <p:val>
                                            <p:strVal val="#ppt_w"/>
                                          </p:val>
                                        </p:tav>
                                      </p:tavLst>
                                    </p:anim>
                                    <p:anim calcmode="lin" valueType="num">
                                      <p:cBhvr>
                                        <p:cTn id="12" dur="500" fill="hold"/>
                                        <p:tgtEl>
                                          <p:spTgt spid="631853"/>
                                        </p:tgtEl>
                                        <p:attrNameLst>
                                          <p:attrName>ppt_h</p:attrName>
                                        </p:attrNameLst>
                                      </p:cBhvr>
                                      <p:tavLst>
                                        <p:tav tm="0">
                                          <p:val>
                                            <p:fltVal val="0.00000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631851"/>
                                        </p:tgtEl>
                                        <p:attrNameLst>
                                          <p:attrName>style.visibility</p:attrName>
                                        </p:attrNameLst>
                                      </p:cBhvr>
                                      <p:to>
                                        <p:strVal val="visible"/>
                                      </p:to>
                                    </p:set>
                                    <p:anim calcmode="lin" valueType="num">
                                      <p:cBhvr>
                                        <p:cTn id="15" dur="500" fill="hold"/>
                                        <p:tgtEl>
                                          <p:spTgt spid="631851"/>
                                        </p:tgtEl>
                                        <p:attrNameLst>
                                          <p:attrName>ppt_w</p:attrName>
                                        </p:attrNameLst>
                                      </p:cBhvr>
                                      <p:tavLst>
                                        <p:tav tm="0">
                                          <p:val>
                                            <p:fltVal val="0.000000"/>
                                          </p:val>
                                        </p:tav>
                                        <p:tav tm="100000">
                                          <p:val>
                                            <p:strVal val="#ppt_w"/>
                                          </p:val>
                                        </p:tav>
                                      </p:tavLst>
                                    </p:anim>
                                    <p:anim calcmode="lin" valueType="num">
                                      <p:cBhvr>
                                        <p:cTn id="16" dur="500" fill="hold"/>
                                        <p:tgtEl>
                                          <p:spTgt spid="631851"/>
                                        </p:tgtEl>
                                        <p:attrNameLst>
                                          <p:attrName>ppt_h</p:attrName>
                                        </p:attrNameLst>
                                      </p:cBhvr>
                                      <p:tavLst>
                                        <p:tav tm="0">
                                          <p:val>
                                            <p:fltVal val="0.00000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631860"/>
                                        </p:tgtEl>
                                        <p:attrNameLst>
                                          <p:attrName>style.visibility</p:attrName>
                                        </p:attrNameLst>
                                      </p:cBhvr>
                                      <p:to>
                                        <p:strVal val="visible"/>
                                      </p:to>
                                    </p:set>
                                    <p:anim calcmode="lin" valueType="num">
                                      <p:cBhvr>
                                        <p:cTn id="19" dur="500" fill="hold"/>
                                        <p:tgtEl>
                                          <p:spTgt spid="631860"/>
                                        </p:tgtEl>
                                        <p:attrNameLst>
                                          <p:attrName>ppt_w</p:attrName>
                                        </p:attrNameLst>
                                      </p:cBhvr>
                                      <p:tavLst>
                                        <p:tav tm="0">
                                          <p:val>
                                            <p:fltVal val="0.000000"/>
                                          </p:val>
                                        </p:tav>
                                        <p:tav tm="100000">
                                          <p:val>
                                            <p:strVal val="#ppt_w"/>
                                          </p:val>
                                        </p:tav>
                                      </p:tavLst>
                                    </p:anim>
                                    <p:anim calcmode="lin" valueType="num">
                                      <p:cBhvr>
                                        <p:cTn id="20" dur="500" fill="hold"/>
                                        <p:tgtEl>
                                          <p:spTgt spid="631860"/>
                                        </p:tgtEl>
                                        <p:attrNameLst>
                                          <p:attrName>ppt_h</p:attrName>
                                        </p:attrNameLst>
                                      </p:cBhvr>
                                      <p:tavLst>
                                        <p:tav tm="0">
                                          <p:val>
                                            <p:fltVal val="0.000000"/>
                                          </p:val>
                                        </p:tav>
                                        <p:tav tm="100000">
                                          <p:val>
                                            <p:strVal val="#ppt_h"/>
                                          </p:val>
                                        </p:tav>
                                      </p:tavLst>
                                    </p:anim>
                                  </p:childTnLst>
                                </p:cTn>
                              </p:par>
                              <p:par>
                                <p:cTn id="21" presetID="23" presetClass="entr" presetSubtype="16" fill="hold" nodeType="withEffect">
                                  <p:stCondLst>
                                    <p:cond delay="0"/>
                                  </p:stCondLst>
                                  <p:childTnLst>
                                    <p:set>
                                      <p:cBhvr>
                                        <p:cTn id="22" dur="1" fill="hold">
                                          <p:stCondLst>
                                            <p:cond delay="0"/>
                                          </p:stCondLst>
                                        </p:cTn>
                                        <p:tgtEl>
                                          <p:spTgt spid="631854"/>
                                        </p:tgtEl>
                                        <p:attrNameLst>
                                          <p:attrName>style.visibility</p:attrName>
                                        </p:attrNameLst>
                                      </p:cBhvr>
                                      <p:to>
                                        <p:strVal val="visible"/>
                                      </p:to>
                                    </p:set>
                                    <p:anim calcmode="lin" valueType="num">
                                      <p:cBhvr>
                                        <p:cTn id="23" dur="500" fill="hold"/>
                                        <p:tgtEl>
                                          <p:spTgt spid="631854"/>
                                        </p:tgtEl>
                                        <p:attrNameLst>
                                          <p:attrName>ppt_w</p:attrName>
                                        </p:attrNameLst>
                                      </p:cBhvr>
                                      <p:tavLst>
                                        <p:tav tm="0">
                                          <p:val>
                                            <p:fltVal val="0.000000"/>
                                          </p:val>
                                        </p:tav>
                                        <p:tav tm="100000">
                                          <p:val>
                                            <p:strVal val="#ppt_w"/>
                                          </p:val>
                                        </p:tav>
                                      </p:tavLst>
                                    </p:anim>
                                    <p:anim calcmode="lin" valueType="num">
                                      <p:cBhvr>
                                        <p:cTn id="24" dur="500" fill="hold"/>
                                        <p:tgtEl>
                                          <p:spTgt spid="631854"/>
                                        </p:tgtEl>
                                        <p:attrNameLst>
                                          <p:attrName>ppt_h</p:attrName>
                                        </p:attrNameLst>
                                      </p:cBhvr>
                                      <p:tavLst>
                                        <p:tav tm="0">
                                          <p:val>
                                            <p:fltVal val="0.000000"/>
                                          </p:val>
                                        </p:tav>
                                        <p:tav tm="100000">
                                          <p:val>
                                            <p:strVal val="#ppt_h"/>
                                          </p:val>
                                        </p:tav>
                                      </p:tavLst>
                                    </p:anim>
                                  </p:childTnLst>
                                </p:cTn>
                              </p:par>
                              <p:par>
                                <p:cTn id="25" presetID="23" presetClass="entr" presetSubtype="16" fill="hold" grpId="0" nodeType="withEffect">
                                  <p:stCondLst>
                                    <p:cond delay="0"/>
                                  </p:stCondLst>
                                  <p:childTnLst>
                                    <p:set>
                                      <p:cBhvr>
                                        <p:cTn id="26" dur="1" fill="hold">
                                          <p:stCondLst>
                                            <p:cond delay="0"/>
                                          </p:stCondLst>
                                        </p:cTn>
                                        <p:tgtEl>
                                          <p:spTgt spid="631852"/>
                                        </p:tgtEl>
                                        <p:attrNameLst>
                                          <p:attrName>style.visibility</p:attrName>
                                        </p:attrNameLst>
                                      </p:cBhvr>
                                      <p:to>
                                        <p:strVal val="visible"/>
                                      </p:to>
                                    </p:set>
                                    <p:anim calcmode="lin" valueType="num">
                                      <p:cBhvr>
                                        <p:cTn id="27" dur="500" fill="hold"/>
                                        <p:tgtEl>
                                          <p:spTgt spid="631852"/>
                                        </p:tgtEl>
                                        <p:attrNameLst>
                                          <p:attrName>ppt_w</p:attrName>
                                        </p:attrNameLst>
                                      </p:cBhvr>
                                      <p:tavLst>
                                        <p:tav tm="0">
                                          <p:val>
                                            <p:fltVal val="0.000000"/>
                                          </p:val>
                                        </p:tav>
                                        <p:tav tm="100000">
                                          <p:val>
                                            <p:strVal val="#ppt_w"/>
                                          </p:val>
                                        </p:tav>
                                      </p:tavLst>
                                    </p:anim>
                                    <p:anim calcmode="lin" valueType="num">
                                      <p:cBhvr>
                                        <p:cTn id="28" dur="500" fill="hold"/>
                                        <p:tgtEl>
                                          <p:spTgt spid="631852"/>
                                        </p:tgtEl>
                                        <p:attrNameLst>
                                          <p:attrName>ppt_h</p:attrName>
                                        </p:attrNameLst>
                                      </p:cBhvr>
                                      <p:tavLst>
                                        <p:tav tm="0">
                                          <p:val>
                                            <p:fltVal val="0.00000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18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3185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3185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3185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318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1850" grpId="0" animBg="1"/>
      <p:bldP spid="631851" grpId="0"/>
      <p:bldP spid="631852" grpId="0"/>
      <p:bldP spid="631855" grpId="0"/>
      <p:bldP spid="631859" grpId="0"/>
      <p:bldP spid="63186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Slide Number Placeholder 3"/>
          <p:cNvSpPr txBox="1">
            <a:spLocks noGrp="1"/>
          </p:cNvSpPr>
          <p:nvPr>
            <p:ph type="sldNum" sz="quarter" idx="4294967295"/>
          </p:nvPr>
        </p:nvSpPr>
        <p:spPr>
          <a:xfrm>
            <a:off x="6553200" y="6245225"/>
            <a:ext cx="21336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fld>
            <a:endParaRPr lang="en-US" altLang="en-US" sz="1400" dirty="0"/>
          </a:p>
        </p:txBody>
      </p:sp>
      <p:sp>
        <p:nvSpPr>
          <p:cNvPr id="41987" name="Text Box 2"/>
          <p:cNvSpPr txBox="1"/>
          <p:nvPr/>
        </p:nvSpPr>
        <p:spPr>
          <a:xfrm>
            <a:off x="228600" y="2362200"/>
            <a:ext cx="8626475" cy="457200"/>
          </a:xfrm>
          <a:prstGeom prst="rect">
            <a:avLst/>
          </a:prstGeom>
          <a:noFill/>
          <a:ln w="9525">
            <a:noFill/>
          </a:ln>
        </p:spPr>
        <p:txBody>
          <a:bodyPr>
            <a:spAutoFit/>
          </a:bodyPr>
          <a:p>
            <a:pPr eaLnBrk="1" hangingPunct="1"/>
            <a:r>
              <a:rPr lang="en-US" altLang="en-US" sz="2400" dirty="0">
                <a:latin typeface="Tahoma" panose="020B0604030504040204" pitchFamily="34" charset="0"/>
                <a:sym typeface="Symbol" panose="05050102010706020507" pitchFamily="18" charset="2"/>
              </a:rPr>
              <a:t> = B</a:t>
            </a:r>
            <a:r>
              <a:rPr lang="en-US" altLang="en-US" sz="2400" dirty="0">
                <a:latin typeface="Tahoma" panose="020B0604030504040204" pitchFamily="34" charset="0"/>
                <a:cs typeface="Times New Roman" panose="02020603050405020304" pitchFamily="18" charset="0"/>
                <a:sym typeface="Symbol" panose="05050102010706020507" pitchFamily="18" charset="2"/>
              </a:rPr>
              <a:t> </a:t>
            </a:r>
            <a:r>
              <a:rPr lang="en-US" altLang="en-US" sz="2400" dirty="0">
                <a:latin typeface="Tahoma" panose="020B0604030504040204" pitchFamily="34" charset="0"/>
                <a:sym typeface="Symbol" panose="05050102010706020507" pitchFamily="18" charset="2"/>
              </a:rPr>
              <a:t>ℓ v</a:t>
            </a:r>
            <a:endParaRPr lang="en-US" altLang="en-US" sz="2400" baseline="-25000" dirty="0">
              <a:latin typeface="Tahoma" panose="020B0604030504040204" pitchFamily="34" charset="0"/>
              <a:ea typeface="Times New Roman" panose="02020603050405020304" pitchFamily="18" charset="0"/>
              <a:sym typeface="Symbol" panose="05050102010706020507" pitchFamily="18" charset="2"/>
            </a:endParaRPr>
          </a:p>
        </p:txBody>
      </p:sp>
      <p:sp>
        <p:nvSpPr>
          <p:cNvPr id="41988" name="Text Box 3"/>
          <p:cNvSpPr txBox="1"/>
          <p:nvPr/>
        </p:nvSpPr>
        <p:spPr>
          <a:xfrm>
            <a:off x="228600" y="3048000"/>
            <a:ext cx="8626475" cy="457200"/>
          </a:xfrm>
          <a:prstGeom prst="rect">
            <a:avLst/>
          </a:prstGeom>
          <a:noFill/>
          <a:ln w="9525">
            <a:noFill/>
          </a:ln>
        </p:spPr>
        <p:txBody>
          <a:bodyPr>
            <a:spAutoFit/>
          </a:bodyPr>
          <a:p>
            <a:pPr eaLnBrk="1" hangingPunct="1"/>
            <a:r>
              <a:rPr lang="en-US" altLang="en-US" sz="2400" dirty="0">
                <a:latin typeface="Tahoma" panose="020B0604030504040204" pitchFamily="34" charset="0"/>
              </a:rPr>
              <a:t>v = </a:t>
            </a:r>
            <a:r>
              <a:rPr lang="en-US" altLang="en-US" sz="2400" dirty="0">
                <a:latin typeface="Tahoma" panose="020B0604030504040204" pitchFamily="34" charset="0"/>
                <a:sym typeface="Symbol" panose="05050102010706020507" pitchFamily="18" charset="2"/>
              </a:rPr>
              <a:t> / (B</a:t>
            </a:r>
            <a:r>
              <a:rPr lang="en-US" altLang="en-US" sz="2400" dirty="0">
                <a:latin typeface="Tahoma" panose="020B0604030504040204" pitchFamily="34" charset="0"/>
                <a:cs typeface="Times New Roman" panose="02020603050405020304" pitchFamily="18" charset="0"/>
                <a:sym typeface="Symbol" panose="05050102010706020507" pitchFamily="18" charset="2"/>
              </a:rPr>
              <a:t> </a:t>
            </a:r>
            <a:r>
              <a:rPr lang="en-US" altLang="en-US" sz="2400" dirty="0">
                <a:latin typeface="Tahoma" panose="020B0604030504040204" pitchFamily="34" charset="0"/>
                <a:sym typeface="Symbol" panose="05050102010706020507" pitchFamily="18" charset="2"/>
              </a:rPr>
              <a:t>ℓ)</a:t>
            </a:r>
            <a:endParaRPr lang="en-US" altLang="en-US" sz="2400" baseline="-25000" dirty="0">
              <a:latin typeface="Tahoma" panose="020B0604030504040204" pitchFamily="34" charset="0"/>
              <a:ea typeface="Times New Roman" panose="02020603050405020304" pitchFamily="18" charset="0"/>
              <a:sym typeface="Symbol" panose="05050102010706020507" pitchFamily="18" charset="2"/>
            </a:endParaRPr>
          </a:p>
        </p:txBody>
      </p:sp>
      <p:sp>
        <p:nvSpPr>
          <p:cNvPr id="41989" name="Text Box 4"/>
          <p:cNvSpPr txBox="1"/>
          <p:nvPr/>
        </p:nvSpPr>
        <p:spPr>
          <a:xfrm>
            <a:off x="228600" y="3733800"/>
            <a:ext cx="8626475" cy="1614488"/>
          </a:xfrm>
          <a:prstGeom prst="rect">
            <a:avLst/>
          </a:prstGeom>
          <a:noFill/>
          <a:ln w="9525">
            <a:noFill/>
          </a:ln>
        </p:spPr>
        <p:txBody>
          <a:bodyPr>
            <a:spAutoFit/>
          </a:bodyPr>
          <a:p>
            <a:pPr eaLnBrk="1" hangingPunct="1"/>
            <a:r>
              <a:rPr lang="en-US" altLang="en-US" sz="2400" dirty="0">
                <a:latin typeface="Tahoma" panose="020B0604030504040204" pitchFamily="34" charset="0"/>
              </a:rPr>
              <a:t>If B is applied </a:t>
            </a:r>
            <a:r>
              <a:rPr lang="en-US" altLang="en-US" sz="2400" dirty="0">
                <a:latin typeface="Tahoma" panose="020B0604030504040204" pitchFamily="34" charset="0"/>
                <a:cs typeface="Times New Roman" panose="02020603050405020304" pitchFamily="18" charset="0"/>
                <a:sym typeface="Symbol" panose="05050102010706020507" pitchFamily="18" charset="2"/>
              </a:rPr>
              <a:t> to the blood vessel, then B is  to v.  The ions flow along the blood vessel, but the emf is induced across the blood vessel, so </a:t>
            </a:r>
            <a:r>
              <a:rPr lang="en-US" altLang="en-US" dirty="0">
                <a:latin typeface="Tahoma" panose="020B0604030504040204" pitchFamily="34" charset="0"/>
                <a:sym typeface="Symbol" panose="05050102010706020507" pitchFamily="18" charset="2"/>
              </a:rPr>
              <a:t>ℓ</a:t>
            </a:r>
            <a:r>
              <a:rPr lang="en-US" altLang="en-US" sz="2400" dirty="0">
                <a:latin typeface="Tahoma" panose="020B0604030504040204" pitchFamily="34" charset="0"/>
                <a:sym typeface="Symbol" panose="05050102010706020507" pitchFamily="18" charset="2"/>
              </a:rPr>
              <a:t> is the diameter of the blood vessel.</a:t>
            </a:r>
            <a:endParaRPr lang="en-US" altLang="en-US" sz="2400" dirty="0">
              <a:latin typeface="Tahoma" panose="020B0604030504040204" pitchFamily="34" charset="0"/>
              <a:sym typeface="Symbol" panose="05050102010706020507" pitchFamily="18" charset="2"/>
            </a:endParaRPr>
          </a:p>
        </p:txBody>
      </p:sp>
      <p:sp>
        <p:nvSpPr>
          <p:cNvPr id="41990" name="Text Box 5"/>
          <p:cNvSpPr txBox="1"/>
          <p:nvPr/>
        </p:nvSpPr>
        <p:spPr>
          <a:xfrm>
            <a:off x="228600" y="5257800"/>
            <a:ext cx="8626475" cy="457200"/>
          </a:xfrm>
          <a:prstGeom prst="rect">
            <a:avLst/>
          </a:prstGeom>
          <a:noFill/>
          <a:ln w="9525">
            <a:noFill/>
          </a:ln>
        </p:spPr>
        <p:txBody>
          <a:bodyPr>
            <a:spAutoFit/>
          </a:bodyPr>
          <a:p>
            <a:pPr eaLnBrk="1" hangingPunct="1"/>
            <a:r>
              <a:rPr lang="en-US" altLang="en-US" sz="2400" dirty="0">
                <a:latin typeface="Tahoma" panose="020B0604030504040204" pitchFamily="34" charset="0"/>
              </a:rPr>
              <a:t>v = </a:t>
            </a:r>
            <a:r>
              <a:rPr lang="en-US" altLang="en-US" sz="2400" dirty="0">
                <a:latin typeface="Tahoma" panose="020B0604030504040204" pitchFamily="34" charset="0"/>
                <a:sym typeface="Symbol" panose="05050102010706020507" pitchFamily="18" charset="2"/>
              </a:rPr>
              <a:t>(0.1x10</a:t>
            </a:r>
            <a:r>
              <a:rPr lang="en-US" altLang="en-US" sz="2400" baseline="30000" dirty="0">
                <a:latin typeface="Tahoma" panose="020B0604030504040204" pitchFamily="34" charset="0"/>
                <a:sym typeface="Symbol" panose="05050102010706020507" pitchFamily="18" charset="2"/>
              </a:rPr>
              <a:t>-3</a:t>
            </a:r>
            <a:r>
              <a:rPr lang="en-US" altLang="en-US" sz="2400" dirty="0">
                <a:latin typeface="Tahoma" panose="020B0604030504040204" pitchFamily="34" charset="0"/>
                <a:sym typeface="Symbol" panose="05050102010706020507" pitchFamily="18" charset="2"/>
              </a:rPr>
              <a:t> V) / ( (0.08 T)(</a:t>
            </a:r>
            <a:r>
              <a:rPr lang="en-US" altLang="en-US" sz="2400" dirty="0">
                <a:latin typeface="Tahoma" panose="020B0604030504040204" pitchFamily="34" charset="0"/>
                <a:cs typeface="Times New Roman" panose="02020603050405020304" pitchFamily="18" charset="0"/>
                <a:sym typeface="Symbol" panose="05050102010706020507" pitchFamily="18" charset="2"/>
              </a:rPr>
              <a:t>0.2x10</a:t>
            </a:r>
            <a:r>
              <a:rPr lang="en-US" altLang="en-US" sz="2400" baseline="30000" dirty="0">
                <a:latin typeface="Tahoma" panose="020B0604030504040204" pitchFamily="34" charset="0"/>
                <a:cs typeface="Times New Roman" panose="02020603050405020304" pitchFamily="18" charset="0"/>
                <a:sym typeface="Symbol" panose="05050102010706020507" pitchFamily="18" charset="2"/>
              </a:rPr>
              <a:t>-3</a:t>
            </a:r>
            <a:r>
              <a:rPr lang="en-US" altLang="en-US" sz="2400" dirty="0">
                <a:latin typeface="Tahoma" panose="020B0604030504040204" pitchFamily="34" charset="0"/>
                <a:cs typeface="Times New Roman" panose="02020603050405020304" pitchFamily="18" charset="0"/>
                <a:sym typeface="Symbol" panose="05050102010706020507" pitchFamily="18" charset="2"/>
              </a:rPr>
              <a:t> m</a:t>
            </a:r>
            <a:r>
              <a:rPr lang="en-US" altLang="en-US" sz="2400" dirty="0">
                <a:latin typeface="Tahoma" panose="020B0604030504040204" pitchFamily="34" charset="0"/>
                <a:sym typeface="Symbol" panose="05050102010706020507" pitchFamily="18" charset="2"/>
              </a:rPr>
              <a:t>) )</a:t>
            </a:r>
            <a:endParaRPr lang="en-US" altLang="en-US" sz="2400" baseline="-25000" dirty="0">
              <a:latin typeface="Tahoma" panose="020B0604030504040204" pitchFamily="34" charset="0"/>
              <a:ea typeface="Times New Roman" panose="02020603050405020304" pitchFamily="18" charset="0"/>
              <a:sym typeface="Symbol" panose="05050102010706020507" pitchFamily="18" charset="2"/>
            </a:endParaRPr>
          </a:p>
        </p:txBody>
      </p:sp>
      <p:sp>
        <p:nvSpPr>
          <p:cNvPr id="41991" name="Text Box 6"/>
          <p:cNvSpPr txBox="1"/>
          <p:nvPr/>
        </p:nvSpPr>
        <p:spPr>
          <a:xfrm>
            <a:off x="228600" y="5867400"/>
            <a:ext cx="8626475" cy="457200"/>
          </a:xfrm>
          <a:prstGeom prst="rect">
            <a:avLst/>
          </a:prstGeom>
          <a:noFill/>
          <a:ln w="9525">
            <a:noFill/>
          </a:ln>
        </p:spPr>
        <p:txBody>
          <a:bodyPr>
            <a:spAutoFit/>
          </a:bodyPr>
          <a:p>
            <a:pPr eaLnBrk="1" hangingPunct="1"/>
            <a:r>
              <a:rPr lang="en-US" altLang="en-US" sz="2400" dirty="0">
                <a:latin typeface="Tahoma" panose="020B0604030504040204" pitchFamily="34" charset="0"/>
              </a:rPr>
              <a:t>v = </a:t>
            </a:r>
            <a:r>
              <a:rPr lang="en-US" altLang="en-US" sz="2400" dirty="0">
                <a:latin typeface="Tahoma" panose="020B0604030504040204" pitchFamily="34" charset="0"/>
                <a:sym typeface="Symbol" panose="05050102010706020507" pitchFamily="18" charset="2"/>
              </a:rPr>
              <a:t>0.63 m/s</a:t>
            </a:r>
            <a:endParaRPr lang="en-US" altLang="en-US" sz="2400" baseline="-25000" dirty="0">
              <a:latin typeface="Tahoma" panose="020B0604030504040204" pitchFamily="34" charset="0"/>
              <a:ea typeface="Times New Roman" panose="02020603050405020304" pitchFamily="18" charset="0"/>
              <a:sym typeface="Symbol" panose="05050102010706020507" pitchFamily="18" charset="2"/>
            </a:endParaRPr>
          </a:p>
        </p:txBody>
      </p:sp>
      <p:sp>
        <p:nvSpPr>
          <p:cNvPr id="41992" name="Line 7"/>
          <p:cNvSpPr/>
          <p:nvPr/>
        </p:nvSpPr>
        <p:spPr>
          <a:xfrm>
            <a:off x="6477000" y="3810000"/>
            <a:ext cx="228600" cy="0"/>
          </a:xfrm>
          <a:prstGeom prst="line">
            <a:avLst/>
          </a:prstGeom>
          <a:ln w="28575" cap="flat" cmpd="sng">
            <a:solidFill>
              <a:schemeClr val="bg1"/>
            </a:solidFill>
            <a:prstDash val="solid"/>
            <a:headEnd type="none" w="med" len="med"/>
            <a:tailEnd type="triangle" w="med" len="med"/>
          </a:ln>
        </p:spPr>
      </p:sp>
      <p:sp>
        <p:nvSpPr>
          <p:cNvPr id="41993" name="Line 8"/>
          <p:cNvSpPr/>
          <p:nvPr/>
        </p:nvSpPr>
        <p:spPr>
          <a:xfrm>
            <a:off x="3059113" y="4179888"/>
            <a:ext cx="228600" cy="0"/>
          </a:xfrm>
          <a:prstGeom prst="line">
            <a:avLst/>
          </a:prstGeom>
          <a:ln w="28575" cap="flat" cmpd="sng">
            <a:solidFill>
              <a:schemeClr val="bg1"/>
            </a:solidFill>
            <a:prstDash val="solid"/>
            <a:headEnd type="none" w="med" len="med"/>
            <a:tailEnd type="triangle" w="med" len="med"/>
          </a:ln>
        </p:spPr>
      </p:sp>
      <p:sp>
        <p:nvSpPr>
          <p:cNvPr id="41994" name="Line 9"/>
          <p:cNvSpPr/>
          <p:nvPr/>
        </p:nvSpPr>
        <p:spPr>
          <a:xfrm>
            <a:off x="4289425" y="4233863"/>
            <a:ext cx="228600" cy="0"/>
          </a:xfrm>
          <a:prstGeom prst="line">
            <a:avLst/>
          </a:prstGeom>
          <a:ln w="28575" cap="flat" cmpd="sng">
            <a:solidFill>
              <a:schemeClr val="bg1"/>
            </a:solidFill>
            <a:prstDash val="solid"/>
            <a:headEnd type="none" w="med" len="med"/>
            <a:tailEnd type="triangle" w="med" len="med"/>
          </a:ln>
        </p:spPr>
      </p:sp>
      <p:sp>
        <p:nvSpPr>
          <p:cNvPr id="41995" name="Text Box 10"/>
          <p:cNvSpPr txBox="1"/>
          <p:nvPr/>
        </p:nvSpPr>
        <p:spPr>
          <a:xfrm>
            <a:off x="174625" y="228600"/>
            <a:ext cx="8740775" cy="1955800"/>
          </a:xfrm>
          <a:prstGeom prst="rect">
            <a:avLst/>
          </a:prstGeom>
          <a:solidFill>
            <a:srgbClr val="339933"/>
          </a:solidFill>
          <a:ln w="38100" cap="flat" cmpd="sng">
            <a:solidFill>
              <a:srgbClr val="006600"/>
            </a:solidFill>
            <a:prstDash val="solid"/>
            <a:miter/>
            <a:headEnd type="none" w="med" len="med"/>
            <a:tailEnd type="none" w="med" len="med"/>
          </a:ln>
        </p:spPr>
        <p:txBody>
          <a:bodyPr>
            <a:spAutoFit/>
          </a:bodyPr>
          <a:p>
            <a:pPr eaLnBrk="1" hangingPunct="1"/>
            <a:r>
              <a:rPr lang="en-US" altLang="en-US" sz="2400" dirty="0">
                <a:solidFill>
                  <a:schemeClr val="bg1"/>
                </a:solidFill>
                <a:latin typeface="Tahoma" panose="020B0604030504040204" pitchFamily="34" charset="0"/>
              </a:rPr>
              <a:t>Example: Blood contains charged ions, so blood flow can be measured by applying a magnetic field and measuring the induced emf.  If a blood vessel is 2 mm in diameter and a 0.08 T magnetic field causes an induced emf of 0.1 mv, what is the flow velocity of the blood? </a:t>
            </a:r>
            <a:endParaRPr lang="en-US" altLang="en-US" sz="2400" dirty="0">
              <a:solidFill>
                <a:schemeClr val="bg1"/>
              </a:solidFill>
              <a:latin typeface="Tahoma" panose="020B0604030504040204" pitchFamily="34" charset="0"/>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3010" name="Picture 2"/>
          <p:cNvPicPr>
            <a:picLocks noChangeAspect="1"/>
          </p:cNvPicPr>
          <p:nvPr/>
        </p:nvPicPr>
        <p:blipFill>
          <a:blip r:embed="rId1"/>
          <a:srcRect r="2602"/>
          <a:stretch>
            <a:fillRect/>
          </a:stretch>
        </p:blipFill>
        <p:spPr>
          <a:xfrm>
            <a:off x="1042988" y="906463"/>
            <a:ext cx="7570787" cy="555625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4034" name="Picture 2"/>
          <p:cNvPicPr>
            <a:picLocks noChangeAspect="1"/>
          </p:cNvPicPr>
          <p:nvPr/>
        </p:nvPicPr>
        <p:blipFill>
          <a:blip r:embed="rId1"/>
          <a:srcRect r="5299"/>
          <a:stretch>
            <a:fillRect/>
          </a:stretch>
        </p:blipFill>
        <p:spPr>
          <a:xfrm>
            <a:off x="374650" y="533400"/>
            <a:ext cx="7761288" cy="579120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8" name="Picture 2"/>
          <p:cNvPicPr>
            <a:picLocks noChangeAspect="1"/>
          </p:cNvPicPr>
          <p:nvPr/>
        </p:nvPicPr>
        <p:blipFill>
          <a:blip r:embed="rId1"/>
          <a:srcRect r="5807"/>
          <a:stretch>
            <a:fillRect/>
          </a:stretch>
        </p:blipFill>
        <p:spPr>
          <a:xfrm>
            <a:off x="139700" y="184150"/>
            <a:ext cx="8350250" cy="6113463"/>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2" name="Picture 2"/>
          <p:cNvPicPr>
            <a:picLocks noChangeAspect="1"/>
          </p:cNvPicPr>
          <p:nvPr/>
        </p:nvPicPr>
        <p:blipFill>
          <a:blip r:embed="rId1"/>
          <a:stretch>
            <a:fillRect/>
          </a:stretch>
        </p:blipFill>
        <p:spPr>
          <a:xfrm>
            <a:off x="0" y="709613"/>
            <a:ext cx="9386888" cy="5438775"/>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6" name="Picture 2"/>
          <p:cNvPicPr>
            <a:picLocks noChangeAspect="1"/>
          </p:cNvPicPr>
          <p:nvPr/>
        </p:nvPicPr>
        <p:blipFill>
          <a:blip r:embed="rId1"/>
          <a:srcRect l="15681" r="16933" b="7582"/>
          <a:stretch>
            <a:fillRect/>
          </a:stretch>
        </p:blipFill>
        <p:spPr>
          <a:xfrm>
            <a:off x="566738" y="282575"/>
            <a:ext cx="8156575" cy="6292850"/>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8130" name="Picture 2" descr="mutual inductance"/>
          <p:cNvPicPr>
            <a:picLocks noChangeAspect="1"/>
          </p:cNvPicPr>
          <p:nvPr/>
        </p:nvPicPr>
        <p:blipFill>
          <a:blip r:embed="rId1"/>
          <a:stretch>
            <a:fillRect/>
          </a:stretch>
        </p:blipFill>
        <p:spPr>
          <a:xfrm>
            <a:off x="2390775" y="679450"/>
            <a:ext cx="5383213" cy="5060950"/>
          </a:xfrm>
          <a:prstGeom prst="rect">
            <a:avLst/>
          </a:prstGeom>
          <a:noFill/>
          <a:ln w="9525">
            <a:noFill/>
          </a:ln>
        </p:spPr>
      </p:pic>
      <p:pic>
        <p:nvPicPr>
          <p:cNvPr id="48131" name="Picture 4" descr="mutual inductance between coils"/>
          <p:cNvPicPr>
            <a:picLocks noChangeAspect="1"/>
          </p:cNvPicPr>
          <p:nvPr/>
        </p:nvPicPr>
        <p:blipFill>
          <a:blip r:embed="rId2"/>
          <a:stretch>
            <a:fillRect/>
          </a:stretch>
        </p:blipFill>
        <p:spPr>
          <a:xfrm>
            <a:off x="469900" y="560388"/>
            <a:ext cx="2386013" cy="800100"/>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9154" name="Picture 2" descr="self inductance of first coil"/>
          <p:cNvPicPr>
            <a:picLocks noChangeAspect="1"/>
          </p:cNvPicPr>
          <p:nvPr/>
        </p:nvPicPr>
        <p:blipFill>
          <a:blip r:embed="rId1"/>
          <a:stretch>
            <a:fillRect/>
          </a:stretch>
        </p:blipFill>
        <p:spPr>
          <a:xfrm>
            <a:off x="2449513" y="922338"/>
            <a:ext cx="3995737" cy="1571625"/>
          </a:xfrm>
          <a:prstGeom prst="rect">
            <a:avLst/>
          </a:prstGeom>
          <a:noFill/>
          <a:ln w="9525">
            <a:noFill/>
          </a:ln>
        </p:spPr>
      </p:pic>
      <p:pic>
        <p:nvPicPr>
          <p:cNvPr id="49155" name="Picture 4" descr="self inductance of second coil"/>
          <p:cNvPicPr>
            <a:picLocks noChangeAspect="1"/>
          </p:cNvPicPr>
          <p:nvPr/>
        </p:nvPicPr>
        <p:blipFill>
          <a:blip r:embed="rId2"/>
          <a:stretch>
            <a:fillRect/>
          </a:stretch>
        </p:blipFill>
        <p:spPr>
          <a:xfrm>
            <a:off x="2449513" y="3178175"/>
            <a:ext cx="4629150" cy="1778000"/>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02" name="Picture 2" descr="mutual inductance equation"/>
          <p:cNvPicPr>
            <a:picLocks noChangeAspect="1"/>
          </p:cNvPicPr>
          <p:nvPr/>
        </p:nvPicPr>
        <p:blipFill>
          <a:blip r:embed="rId1"/>
          <a:stretch>
            <a:fillRect/>
          </a:stretch>
        </p:blipFill>
        <p:spPr>
          <a:xfrm>
            <a:off x="1663700" y="1524000"/>
            <a:ext cx="5441950" cy="1582738"/>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2226" name="Picture 2" descr="coefficient of coupling factor"/>
          <p:cNvPicPr>
            <a:picLocks noChangeAspect="1"/>
          </p:cNvPicPr>
          <p:nvPr/>
        </p:nvPicPr>
        <p:blipFill>
          <a:blip r:embed="rId1"/>
          <a:stretch>
            <a:fillRect/>
          </a:stretch>
        </p:blipFill>
        <p:spPr>
          <a:xfrm>
            <a:off x="1979613" y="2749550"/>
            <a:ext cx="4291012" cy="2144713"/>
          </a:xfrm>
          <a:prstGeom prst="rect">
            <a:avLst/>
          </a:prstGeom>
          <a:noFill/>
          <a:ln w="9525">
            <a:noFill/>
          </a:ln>
        </p:spPr>
      </p:pic>
      <p:sp>
        <p:nvSpPr>
          <p:cNvPr id="52227" name="TextBox 3"/>
          <p:cNvSpPr txBox="1"/>
          <p:nvPr/>
        </p:nvSpPr>
        <p:spPr>
          <a:xfrm>
            <a:off x="1506538" y="1746250"/>
            <a:ext cx="5591175" cy="523875"/>
          </a:xfrm>
          <a:prstGeom prst="rect">
            <a:avLst/>
          </a:prstGeom>
          <a:noFill/>
          <a:ln w="9525">
            <a:noFill/>
          </a:ln>
        </p:spPr>
        <p:txBody>
          <a:bodyPr>
            <a:spAutoFit/>
          </a:bodyPr>
          <a:p>
            <a:pPr>
              <a:buNone/>
            </a:pPr>
            <a:r>
              <a:rPr dirty="0">
                <a:solidFill>
                  <a:srgbClr val="404041"/>
                </a:solidFill>
                <a:latin typeface="Lato"/>
              </a:rPr>
              <a:t>Coupling Factor Between Coils</a:t>
            </a:r>
            <a:endParaRPr dirty="0">
              <a:solidFill>
                <a:srgbClr val="404041"/>
              </a:solidFill>
              <a:latin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250" name="Picture 2" descr="mutual inductance example"/>
          <p:cNvPicPr>
            <a:picLocks noChangeAspect="1"/>
          </p:cNvPicPr>
          <p:nvPr/>
        </p:nvPicPr>
        <p:blipFill>
          <a:blip r:embed="rId1"/>
          <a:stretch>
            <a:fillRect/>
          </a:stretch>
        </p:blipFill>
        <p:spPr>
          <a:xfrm>
            <a:off x="690563" y="3429000"/>
            <a:ext cx="8170862" cy="2033588"/>
          </a:xfrm>
          <a:prstGeom prst="rect">
            <a:avLst/>
          </a:prstGeom>
          <a:noFill/>
          <a:ln w="9525">
            <a:noFill/>
          </a:ln>
        </p:spPr>
      </p:pic>
      <p:sp>
        <p:nvSpPr>
          <p:cNvPr id="53251" name="TextBox 3"/>
          <p:cNvSpPr txBox="1"/>
          <p:nvPr/>
        </p:nvSpPr>
        <p:spPr>
          <a:xfrm>
            <a:off x="539750" y="255588"/>
            <a:ext cx="8604250" cy="3108325"/>
          </a:xfrm>
          <a:prstGeom prst="rect">
            <a:avLst/>
          </a:prstGeom>
          <a:noFill/>
          <a:ln w="9525">
            <a:noFill/>
          </a:ln>
        </p:spPr>
        <p:txBody>
          <a:bodyPr>
            <a:spAutoFit/>
          </a:bodyPr>
          <a:p>
            <a:pPr>
              <a:buNone/>
            </a:pPr>
            <a:r>
              <a:rPr dirty="0">
                <a:solidFill>
                  <a:srgbClr val="404041"/>
                </a:solidFill>
                <a:latin typeface="Lato"/>
              </a:rPr>
              <a:t>Mutual Inductance Example No1</a:t>
            </a:r>
            <a:endParaRPr dirty="0">
              <a:solidFill>
                <a:srgbClr val="404041"/>
              </a:solidFill>
              <a:latin typeface="Lato"/>
            </a:endParaRPr>
          </a:p>
          <a:p>
            <a:pPr>
              <a:buNone/>
            </a:pPr>
            <a:r>
              <a:rPr b="0" dirty="0">
                <a:solidFill>
                  <a:srgbClr val="414042"/>
                </a:solidFill>
                <a:latin typeface="Lato"/>
              </a:rPr>
              <a:t>Two inductors whose self-inductances are given as 75mH and 55mH respectively, are positioned next to each other on a common magnetic core so that 75% of the lines of flux from the first coil are cutting the second coil. Calculate the total mutual inductance that exists between the two coils.</a:t>
            </a:r>
            <a:endParaRPr b="0" dirty="0">
              <a:solidFill>
                <a:srgbClr val="414042"/>
              </a:solidFill>
              <a:latin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TextBox 2"/>
          <p:cNvSpPr txBox="1"/>
          <p:nvPr/>
        </p:nvSpPr>
        <p:spPr>
          <a:xfrm>
            <a:off x="176213" y="817563"/>
            <a:ext cx="8718550" cy="2678112"/>
          </a:xfrm>
          <a:prstGeom prst="rect">
            <a:avLst/>
          </a:prstGeom>
          <a:noFill/>
          <a:ln w="9525">
            <a:noFill/>
          </a:ln>
        </p:spPr>
        <p:txBody>
          <a:bodyPr>
            <a:spAutoFit/>
          </a:bodyPr>
          <a:p>
            <a:pPr>
              <a:buNone/>
            </a:pPr>
            <a:r>
              <a:rPr dirty="0">
                <a:solidFill>
                  <a:srgbClr val="404041"/>
                </a:solidFill>
                <a:latin typeface="Lato"/>
              </a:rPr>
              <a:t>Mutual Inductance Example No2</a:t>
            </a:r>
            <a:endParaRPr dirty="0">
              <a:solidFill>
                <a:srgbClr val="404041"/>
              </a:solidFill>
              <a:latin typeface="Lato"/>
            </a:endParaRPr>
          </a:p>
          <a:p>
            <a:pPr>
              <a:buNone/>
            </a:pPr>
            <a:r>
              <a:rPr b="0" dirty="0">
                <a:solidFill>
                  <a:srgbClr val="414042"/>
                </a:solidFill>
                <a:latin typeface="Lato"/>
              </a:rPr>
              <a:t>When two coils having inductances of 5H and 4H respectively were wound uniformly onto a non-magnetic core, it was found that their mutual inductance was 1.5H. Calculate the coupling coefficient that exists between.</a:t>
            </a:r>
            <a:endParaRPr b="0" dirty="0">
              <a:solidFill>
                <a:srgbClr val="414042"/>
              </a:solidFill>
              <a:latin typeface="Lato"/>
            </a:endParaRPr>
          </a:p>
        </p:txBody>
      </p:sp>
      <p:pic>
        <p:nvPicPr>
          <p:cNvPr id="54275" name="Picture 2" descr="coefficient of coupling"/>
          <p:cNvPicPr>
            <a:picLocks noChangeAspect="1"/>
          </p:cNvPicPr>
          <p:nvPr/>
        </p:nvPicPr>
        <p:blipFill>
          <a:blip r:embed="rId1"/>
          <a:stretch>
            <a:fillRect/>
          </a:stretch>
        </p:blipFill>
        <p:spPr>
          <a:xfrm>
            <a:off x="382588" y="4319588"/>
            <a:ext cx="7662862" cy="1260475"/>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Table 1"/>
          <p:cNvGraphicFramePr>
            <a:graphicFrameLocks noGrp="1"/>
          </p:cNvGraphicFramePr>
          <p:nvPr/>
        </p:nvGraphicFramePr>
        <p:xfrm>
          <a:off x="623888" y="903288"/>
          <a:ext cx="5341938" cy="5540375"/>
        </p:xfrm>
        <a:graphic>
          <a:graphicData uri="http://schemas.openxmlformats.org/drawingml/2006/table">
            <a:tbl>
              <a:tblPr/>
              <a:tblGrid>
                <a:gridCol w="2670969"/>
                <a:gridCol w="2670969"/>
              </a:tblGrid>
              <a:tr h="528084">
                <a:tc>
                  <a:txBody>
                    <a:bodyPr/>
                    <a:lstStyle/>
                    <a:p>
                      <a:pPr algn="ctr" fontAlgn="base"/>
                      <a:r>
                        <a:rPr lang="en-US" sz="1800" b="1">
                          <a:effectLst/>
                        </a:rPr>
                        <a:t>Ideal Transformer</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c>
                  <a:txBody>
                    <a:bodyPr/>
                    <a:lstStyle/>
                    <a:p>
                      <a:pPr algn="ctr" fontAlgn="base"/>
                      <a:r>
                        <a:rPr lang="en-US" sz="1800" b="1">
                          <a:effectLst/>
                        </a:rPr>
                        <a:t>Practical Transformer</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r>
              <a:tr h="619542">
                <a:tc>
                  <a:txBody>
                    <a:bodyPr/>
                    <a:lstStyle/>
                    <a:p>
                      <a:pPr algn="l" fontAlgn="base"/>
                      <a:r>
                        <a:rPr lang="en-US" sz="1800">
                          <a:effectLst/>
                        </a:rPr>
                        <a:t>It has 100% efficiency.</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c>
                  <a:txBody>
                    <a:bodyPr/>
                    <a:lstStyle/>
                    <a:p>
                      <a:pPr algn="l" fontAlgn="base"/>
                      <a:r>
                        <a:rPr lang="en-US" sz="1800">
                          <a:effectLst/>
                        </a:rPr>
                        <a:t>It has 100% below efficiency.</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r>
              <a:tr h="345193">
                <a:tc>
                  <a:txBody>
                    <a:bodyPr/>
                    <a:lstStyle/>
                    <a:p>
                      <a:pPr algn="l" fontAlgn="base"/>
                      <a:r>
                        <a:rPr lang="en-US" sz="1800">
                          <a:effectLst/>
                        </a:rPr>
                        <a:t>It has no losses.</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c>
                  <a:txBody>
                    <a:bodyPr/>
                    <a:lstStyle/>
                    <a:p>
                      <a:pPr algn="l" fontAlgn="base"/>
                      <a:r>
                        <a:rPr lang="en-US" sz="1800">
                          <a:effectLst/>
                        </a:rPr>
                        <a:t>It has no losses.</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r>
              <a:tr h="749285">
                <a:tc>
                  <a:txBody>
                    <a:bodyPr/>
                    <a:lstStyle/>
                    <a:p>
                      <a:pPr algn="l" fontAlgn="base"/>
                      <a:r>
                        <a:rPr lang="en-US" sz="1800">
                          <a:effectLst/>
                        </a:rPr>
                        <a:t>Purely inductive material is used.</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c>
                  <a:txBody>
                    <a:bodyPr/>
                    <a:lstStyle/>
                    <a:p>
                      <a:pPr algn="l" fontAlgn="base"/>
                      <a:r>
                        <a:rPr lang="en-US" sz="1800">
                          <a:effectLst/>
                        </a:rPr>
                        <a:t>It is two purely inductive material used.</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r>
              <a:tr h="528084">
                <a:tc>
                  <a:txBody>
                    <a:bodyPr/>
                    <a:lstStyle/>
                    <a:p>
                      <a:pPr algn="l" fontAlgn="base"/>
                      <a:r>
                        <a:rPr lang="en-US" sz="1800">
                          <a:effectLst/>
                        </a:rPr>
                        <a:t>It has no I</a:t>
                      </a:r>
                      <a:r>
                        <a:rPr lang="en-US" sz="1800" baseline="30000">
                          <a:effectLst/>
                        </a:rPr>
                        <a:t>2</a:t>
                      </a:r>
                      <a:r>
                        <a:rPr lang="en-US" sz="1800">
                          <a:effectLst/>
                        </a:rPr>
                        <a:t>R losses.</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c>
                  <a:txBody>
                    <a:bodyPr/>
                    <a:lstStyle/>
                    <a:p>
                      <a:pPr algn="l" fontAlgn="base"/>
                      <a:r>
                        <a:rPr lang="en-US" sz="1800">
                          <a:effectLst/>
                        </a:rPr>
                        <a:t>It has I</a:t>
                      </a:r>
                      <a:r>
                        <a:rPr lang="en-US" sz="1800" baseline="30000">
                          <a:effectLst/>
                        </a:rPr>
                        <a:t>2</a:t>
                      </a:r>
                      <a:r>
                        <a:rPr lang="en-US" sz="1800">
                          <a:effectLst/>
                        </a:rPr>
                        <a:t>R losses.</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r>
              <a:tr h="345193">
                <a:tc>
                  <a:txBody>
                    <a:bodyPr/>
                    <a:lstStyle/>
                    <a:p>
                      <a:pPr algn="l" fontAlgn="base"/>
                      <a:r>
                        <a:rPr lang="en-US" sz="1800">
                          <a:effectLst/>
                        </a:rPr>
                        <a:t>It has no iron loss.</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c>
                  <a:txBody>
                    <a:bodyPr/>
                    <a:lstStyle/>
                    <a:p>
                      <a:pPr algn="l" fontAlgn="base"/>
                      <a:r>
                        <a:rPr lang="en-US" sz="1800">
                          <a:effectLst/>
                        </a:rPr>
                        <a:t>It has iron loss.</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r>
              <a:tr h="619542">
                <a:tc>
                  <a:txBody>
                    <a:bodyPr/>
                    <a:lstStyle/>
                    <a:p>
                      <a:pPr algn="l" fontAlgn="base"/>
                      <a:r>
                        <a:rPr lang="en-US" sz="1800">
                          <a:effectLst/>
                        </a:rPr>
                        <a:t>There is no ohmic resistance drop.</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c>
                  <a:txBody>
                    <a:bodyPr/>
                    <a:lstStyle/>
                    <a:p>
                      <a:pPr algn="l" fontAlgn="base"/>
                      <a:r>
                        <a:rPr lang="en-US" sz="1800">
                          <a:effectLst/>
                        </a:rPr>
                        <a:t>There is ohmic resistance drop.</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r>
              <a:tr h="528084">
                <a:tc>
                  <a:txBody>
                    <a:bodyPr/>
                    <a:lstStyle/>
                    <a:p>
                      <a:pPr algn="l" fontAlgn="base"/>
                      <a:r>
                        <a:rPr lang="en-US" sz="1800">
                          <a:effectLst/>
                        </a:rPr>
                        <a:t>It has no leakage drop.</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c>
                  <a:txBody>
                    <a:bodyPr/>
                    <a:lstStyle/>
                    <a:p>
                      <a:pPr algn="l" fontAlgn="base"/>
                      <a:r>
                        <a:rPr lang="en-US" sz="1800">
                          <a:effectLst/>
                        </a:rPr>
                        <a:t>It has leakage drop.</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r>
              <a:tr h="528084">
                <a:tc>
                  <a:txBody>
                    <a:bodyPr/>
                    <a:lstStyle/>
                    <a:p>
                      <a:pPr algn="l" fontAlgn="base"/>
                      <a:r>
                        <a:rPr lang="en-US" sz="1800">
                          <a:effectLst/>
                        </a:rPr>
                        <a:t>In it ideal condition.</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c>
                  <a:txBody>
                    <a:bodyPr/>
                    <a:lstStyle/>
                    <a:p>
                      <a:pPr algn="l" fontAlgn="base"/>
                      <a:r>
                        <a:rPr lang="en-US" sz="1800" dirty="0">
                          <a:effectLst/>
                        </a:rPr>
                        <a:t>In it practical condition.</a:t>
                      </a:r>
                      <a:endParaRPr lang="en-US" sz="1800" dirty="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r>
              <a:tr h="749285">
                <a:tc>
                  <a:txBody>
                    <a:bodyPr/>
                    <a:lstStyle/>
                    <a:p>
                      <a:pPr algn="l" fontAlgn="base"/>
                      <a:r>
                        <a:rPr lang="en-US" sz="1800">
                          <a:effectLst/>
                        </a:rPr>
                        <a:t>It is not used in practical condition.</a:t>
                      </a:r>
                      <a:endParaRPr lang="en-US" sz="180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c>
                  <a:txBody>
                    <a:bodyPr/>
                    <a:lstStyle/>
                    <a:p>
                      <a:pPr algn="l" fontAlgn="base"/>
                      <a:r>
                        <a:rPr lang="en-US" sz="1800" dirty="0">
                          <a:effectLst/>
                        </a:rPr>
                        <a:t>It is used in practical condition.</a:t>
                      </a:r>
                      <a:endParaRPr lang="en-US" sz="1800" dirty="0">
                        <a:effectLst/>
                      </a:endParaRPr>
                    </a:p>
                  </a:txBody>
                  <a:tcPr marL="75880" marR="75880" marT="35422" marB="35422">
                    <a:lnL w="7620" cap="flat" cmpd="sng" algn="ctr">
                      <a:solidFill>
                        <a:srgbClr val="CACACA"/>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CACACA"/>
                      </a:solidFill>
                      <a:prstDash val="solid"/>
                      <a:round/>
                      <a:headEnd type="none" w="med" len="med"/>
                      <a:tailEnd type="none" w="med" len="med"/>
                    </a:lnT>
                    <a:lnB w="7620" cap="flat" cmpd="sng" algn="ctr">
                      <a:solidFill>
                        <a:srgbClr val="CACACA"/>
                      </a:solidFill>
                      <a:prstDash val="solid"/>
                      <a:round/>
                      <a:headEnd type="none" w="med" len="med"/>
                      <a:tailEnd type="none" w="med" len="med"/>
                    </a:lnB>
                    <a:solidFill>
                      <a:srgbClr val="FFFFFF"/>
                    </a:solidFill>
                  </a:tcPr>
                </a:tc>
              </a:tr>
            </a:tbl>
          </a:graphicData>
        </a:graphic>
      </p:graphicFrame>
      <p:pic>
        <p:nvPicPr>
          <p:cNvPr id="55333" name="Picture 2" descr="Ideal transformer">
            <a:hlinkClick r:id="rId1"/>
          </p:cNvPr>
          <p:cNvPicPr>
            <a:picLocks noChangeAspect="1"/>
          </p:cNvPicPr>
          <p:nvPr/>
        </p:nvPicPr>
        <p:blipFill>
          <a:blip r:embed="rId2"/>
          <a:stretch>
            <a:fillRect/>
          </a:stretch>
        </p:blipFill>
        <p:spPr>
          <a:xfrm>
            <a:off x="6161088" y="3208338"/>
            <a:ext cx="3065462" cy="2738437"/>
          </a:xfrm>
          <a:prstGeom prst="rect">
            <a:avLst/>
          </a:prstGeom>
          <a:noFill/>
          <a:ln w="9525">
            <a:noFill/>
          </a:ln>
        </p:spPr>
      </p:pic>
    </p:spTree>
  </p:cSld>
  <p:clrMapOvr>
    <a:masterClrMapping/>
  </p:clrMapOvr>
</p:sld>
</file>

<file path=ppt/tags/tag1.xml><?xml version="1.0" encoding="utf-8"?>
<p:tagLst xmlns:p="http://schemas.openxmlformats.org/presentationml/2006/main">
  <p:tag name="NOPREFERENCE" val="False"/>
</p:tagLst>
</file>

<file path=ppt/tags/tag2.xml><?xml version="1.0" encoding="utf-8"?>
<p:tagLst xmlns:p="http://schemas.openxmlformats.org/presentationml/2006/main">
  <p:tag name="NOPREFERENCE" val="False"/>
</p:tagLst>
</file>

<file path=ppt/tags/tag3.xml><?xml version="1.0" encoding="utf-8"?>
<p:tagLst xmlns:p="http://schemas.openxmlformats.org/presentationml/2006/main">
  <p:tag name="NOPREFERENCE" val="False"/>
</p:tagLst>
</file>

<file path=ppt/tags/tag4.xml><?xml version="1.0" encoding="utf-8"?>
<p:tagLst xmlns:p="http://schemas.openxmlformats.org/presentationml/2006/main">
  <p:tag name="NOPREFERENCE" val="False"/>
</p:tagLst>
</file>

<file path=ppt/tags/tag5.xml><?xml version="1.0" encoding="utf-8"?>
<p:tagLst xmlns:p="http://schemas.openxmlformats.org/presentationml/2006/main">
  <p:tag name="NOPREFERENCE" val="False"/>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en-US" sz="28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en-US" sz="28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8340</Words>
  <Application>WPS Presentation</Application>
  <PresentationFormat/>
  <Paragraphs>396</Paragraphs>
  <Slides>41</Slides>
  <Notes>11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20</vt:i4>
      </vt:variant>
      <vt:variant>
        <vt:lpstr>幻灯片标题</vt:lpstr>
      </vt:variant>
      <vt:variant>
        <vt:i4>41</vt:i4>
      </vt:variant>
    </vt:vector>
  </HeadingPairs>
  <TitlesOfParts>
    <vt:vector size="76" baseType="lpstr">
      <vt:lpstr>Arial</vt:lpstr>
      <vt:lpstr>SimSun</vt:lpstr>
      <vt:lpstr>Wingdings</vt:lpstr>
      <vt:lpstr>MS PGothic</vt:lpstr>
      <vt:lpstr>Times New Roman</vt:lpstr>
      <vt:lpstr>Tahoma</vt:lpstr>
      <vt:lpstr>Symbol</vt:lpstr>
      <vt:lpstr>PMingLiU</vt:lpstr>
      <vt:lpstr>MingLiU-ExtB</vt:lpstr>
      <vt:lpstr>Wingdings 2</vt:lpstr>
      <vt:lpstr>Lato</vt:lpstr>
      <vt:lpstr>Segoe Print</vt:lpstr>
      <vt:lpstr>Microsoft YaHei</vt:lpstr>
      <vt:lpstr>Arial Unicode MS</vt:lpstr>
      <vt:lpstr>Default Design</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Equation.3</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Suzanne Willis</dc:creator>
  <cp:lastModifiedBy>ishri</cp:lastModifiedBy>
  <cp:revision>34</cp:revision>
  <dcterms:created xsi:type="dcterms:W3CDTF">2004-09-22T18:58:14Z</dcterms:created>
  <dcterms:modified xsi:type="dcterms:W3CDTF">2023-11-23T02:01:38Z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95BBC5CEDDA741089DDCF9863BE43500_13</vt:lpwstr>
  </property>
  <property fmtid="{D5CDD505-2E9C-101B-9397-08002B2CF9AE}" pid="3" name="KSOProductBuildVer">
    <vt:lpwstr>1033-12.2.0.13306</vt:lpwstr>
  </property>
</Properties>
</file>